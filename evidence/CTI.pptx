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9" r:id="rId3"/>
    <p:sldId id="268" r:id="rId4"/>
    <p:sldId id="257" r:id="rId5"/>
    <p:sldId id="258" r:id="rId6"/>
    <p:sldId id="259" r:id="rId7"/>
    <p:sldId id="260" r:id="rId8"/>
    <p:sldId id="267" r:id="rId9"/>
    <p:sldId id="270" r:id="rId10"/>
    <p:sldId id="261" r:id="rId11"/>
    <p:sldId id="262" r:id="rId12"/>
    <p:sldId id="271" r:id="rId13"/>
    <p:sldId id="273" r:id="rId14"/>
  </p:sldIdLst>
  <p:sldSz cx="18288000" cy="10287000"/>
  <p:notesSz cx="6858000" cy="9144000"/>
  <p:embeddedFontLst>
    <p:embeddedFont>
      <p:font typeface="RQND Pro Wide" panose="020B0604020202020204" charset="0"/>
      <p:regular r:id="rId15"/>
    </p:embeddedFont>
    <p:embeddedFont>
      <p:font typeface="Telegraf" panose="020B0604020202020204" charset="0"/>
      <p:regular r:id="rId16"/>
    </p:embeddedFont>
    <p:embeddedFont>
      <p:font typeface="Telegraf Medium" panose="020B0604020202020204" charset="0"/>
      <p:regular r:id="rId17"/>
    </p:embeddedFont>
    <p:embeddedFont>
      <p:font typeface="Work Sans"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3587"/>
    <a:srgbClr val="8E52F5"/>
    <a:srgbClr val="600DB5"/>
    <a:srgbClr val="5A7592"/>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3" d="100"/>
          <a:sy n="73" d="100"/>
        </p:scale>
        <p:origin x="86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4_3#1">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2">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5#1">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2">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4#1">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57827D-5BA4-4ED5-A617-6C8360B0D117}" type="doc">
      <dgm:prSet loTypeId="urn:microsoft.com/office/officeart/2005/8/layout/bProcess3" loCatId="process" qsTypeId="urn:microsoft.com/office/officeart/2005/8/quickstyle/3d2#1" qsCatId="3D" csTypeId="urn:microsoft.com/office/officeart/2005/8/colors/accent4_3#1" csCatId="accent4" phldr="1"/>
      <dgm:spPr/>
      <dgm:t>
        <a:bodyPr/>
        <a:lstStyle/>
        <a:p>
          <a:endParaRPr lang="en-US"/>
        </a:p>
      </dgm:t>
    </dgm:pt>
    <dgm:pt modelId="{B5C04919-6AB5-483F-9223-8DAEF6FBEEA6}">
      <dgm:prSet phldrT="[Text]" phldr="0"/>
      <dgm:spPr/>
      <dgm:t>
        <a:bodyPr/>
        <a:lstStyle/>
        <a:p>
          <a:r>
            <a:rPr lang="en-US" dirty="0"/>
            <a:t>Open Browser Search IP</a:t>
          </a:r>
        </a:p>
      </dgm:t>
    </dgm:pt>
    <dgm:pt modelId="{D9828F74-8C01-4822-A87F-6DB1AC0741DF}" type="parTrans" cxnId="{379FD844-8757-488B-AE3C-398099BFD5C1}">
      <dgm:prSet/>
      <dgm:spPr/>
      <dgm:t>
        <a:bodyPr/>
        <a:lstStyle/>
        <a:p>
          <a:endParaRPr lang="en-US"/>
        </a:p>
      </dgm:t>
    </dgm:pt>
    <dgm:pt modelId="{B20051E0-2E21-4F95-8EA1-49342AC67FFD}" type="sibTrans" cxnId="{379FD844-8757-488B-AE3C-398099BFD5C1}">
      <dgm:prSet/>
      <dgm:spPr/>
      <dgm:t>
        <a:bodyPr/>
        <a:lstStyle/>
        <a:p>
          <a:endParaRPr lang="en-US"/>
        </a:p>
      </dgm:t>
    </dgm:pt>
    <dgm:pt modelId="{B5AFFE46-6BF7-4A63-AC15-8A4B86A228D7}">
      <dgm:prSet phldrT="[Text]" phldr="0"/>
      <dgm:spPr/>
      <dgm:t>
        <a:bodyPr/>
        <a:lstStyle/>
        <a:p>
          <a:r>
            <a:rPr lang="en-US" dirty="0"/>
            <a:t>Pivot to Sandbox reports</a:t>
          </a:r>
        </a:p>
      </dgm:t>
    </dgm:pt>
    <dgm:pt modelId="{630460DB-644C-4D0D-9D8E-86E0D7D692C8}" type="parTrans" cxnId="{919EEE5E-3F83-4DF0-8F58-95A2D3F46DDF}">
      <dgm:prSet/>
      <dgm:spPr/>
      <dgm:t>
        <a:bodyPr/>
        <a:lstStyle/>
        <a:p>
          <a:endParaRPr lang="en-US"/>
        </a:p>
      </dgm:t>
    </dgm:pt>
    <dgm:pt modelId="{55411832-CA45-4153-AEF6-3B63DF335C52}" type="sibTrans" cxnId="{919EEE5E-3F83-4DF0-8F58-95A2D3F46DDF}">
      <dgm:prSet/>
      <dgm:spPr/>
      <dgm:t>
        <a:bodyPr/>
        <a:lstStyle/>
        <a:p>
          <a:endParaRPr lang="en-US"/>
        </a:p>
      </dgm:t>
    </dgm:pt>
    <dgm:pt modelId="{3638B5CA-3446-4190-BED3-928D5F701671}">
      <dgm:prSet phldrT="[Text]" phldr="0"/>
      <dgm:spPr/>
      <dgm:t>
        <a:bodyPr/>
        <a:lstStyle/>
        <a:p>
          <a:r>
            <a:rPr lang="en-US" b="1" dirty="0"/>
            <a:t>45 minutes later: still uncertain</a:t>
          </a:r>
        </a:p>
      </dgm:t>
    </dgm:pt>
    <dgm:pt modelId="{2B661FFD-388D-4F7E-BF8D-253FB09776DE}" type="parTrans" cxnId="{CE826FF7-E2C9-4120-AD80-3943C46D07B9}">
      <dgm:prSet/>
      <dgm:spPr/>
      <dgm:t>
        <a:bodyPr/>
        <a:lstStyle/>
        <a:p>
          <a:endParaRPr lang="en-US"/>
        </a:p>
      </dgm:t>
    </dgm:pt>
    <dgm:pt modelId="{8C936E02-187E-404D-A045-43BB9BE54DCB}" type="sibTrans" cxnId="{CE826FF7-E2C9-4120-AD80-3943C46D07B9}">
      <dgm:prSet/>
      <dgm:spPr/>
      <dgm:t>
        <a:bodyPr/>
        <a:lstStyle/>
        <a:p>
          <a:endParaRPr lang="en-US"/>
        </a:p>
      </dgm:t>
    </dgm:pt>
    <dgm:pt modelId="{8E35CD3B-B929-4DAE-BF2C-F8CD262A90D0}">
      <dgm:prSet phldrT="[Text]" phldr="0"/>
      <dgm:spPr/>
      <dgm:t>
        <a:bodyPr/>
        <a:lstStyle/>
        <a:p>
          <a:r>
            <a:rPr lang="en-US" dirty="0"/>
            <a:t>Try find campaign context</a:t>
          </a:r>
        </a:p>
      </dgm:t>
    </dgm:pt>
    <dgm:pt modelId="{719F5050-D609-4309-9C99-427F01CECA03}" type="parTrans" cxnId="{E6A91ACD-7464-4C2C-9CED-652BD2A3192B}">
      <dgm:prSet/>
      <dgm:spPr/>
      <dgm:t>
        <a:bodyPr/>
        <a:lstStyle/>
        <a:p>
          <a:endParaRPr lang="en-US"/>
        </a:p>
      </dgm:t>
    </dgm:pt>
    <dgm:pt modelId="{ADCD61BE-1986-4152-89A9-7EE3C00B216F}" type="sibTrans" cxnId="{E6A91ACD-7464-4C2C-9CED-652BD2A3192B}">
      <dgm:prSet/>
      <dgm:spPr/>
      <dgm:t>
        <a:bodyPr/>
        <a:lstStyle/>
        <a:p>
          <a:endParaRPr lang="en-US"/>
        </a:p>
      </dgm:t>
    </dgm:pt>
    <dgm:pt modelId="{A6760DCB-D9C2-4870-952E-CF3C03830B79}">
      <dgm:prSet phldrT="[Text]" phldr="0"/>
      <dgm:spPr/>
      <dgm:t>
        <a:bodyPr/>
        <a:lstStyle/>
        <a:p>
          <a:r>
            <a:rPr lang="en-US" dirty="0"/>
            <a:t>VirusTotal Lookup</a:t>
          </a:r>
        </a:p>
      </dgm:t>
    </dgm:pt>
    <dgm:pt modelId="{80C6C382-2A9D-4C41-AD94-858C990094F9}" type="parTrans" cxnId="{48105D1B-9681-4BB4-9364-A38644A30DDE}">
      <dgm:prSet/>
      <dgm:spPr/>
      <dgm:t>
        <a:bodyPr/>
        <a:lstStyle/>
        <a:p>
          <a:endParaRPr lang="en-US"/>
        </a:p>
      </dgm:t>
    </dgm:pt>
    <dgm:pt modelId="{31E4CF4E-EE5D-4A92-B152-7377E97EA6A0}" type="sibTrans" cxnId="{48105D1B-9681-4BB4-9364-A38644A30DDE}">
      <dgm:prSet/>
      <dgm:spPr/>
      <dgm:t>
        <a:bodyPr/>
        <a:lstStyle/>
        <a:p>
          <a:endParaRPr lang="en-US"/>
        </a:p>
      </dgm:t>
    </dgm:pt>
    <dgm:pt modelId="{511C83EA-AE36-4391-9EBE-3665E6E5C42D}">
      <dgm:prSet phldrT="[Text]" phldr="0"/>
      <dgm:spPr/>
      <dgm:t>
        <a:bodyPr/>
        <a:lstStyle/>
        <a:p>
          <a:r>
            <a:rPr lang="en-US"/>
            <a:t>WHOIS lookup</a:t>
          </a:r>
          <a:endParaRPr lang="en-US" dirty="0"/>
        </a:p>
      </dgm:t>
    </dgm:pt>
    <dgm:pt modelId="{716935BF-55C0-4767-9290-9B465B46E336}" type="parTrans" cxnId="{DED7A315-C00F-4B21-918C-120C7095CE3C}">
      <dgm:prSet/>
      <dgm:spPr/>
      <dgm:t>
        <a:bodyPr/>
        <a:lstStyle/>
        <a:p>
          <a:endParaRPr lang="en-US"/>
        </a:p>
      </dgm:t>
    </dgm:pt>
    <dgm:pt modelId="{9C0DE51C-5C56-4D5A-908F-9A3E85F51338}" type="sibTrans" cxnId="{DED7A315-C00F-4B21-918C-120C7095CE3C}">
      <dgm:prSet/>
      <dgm:spPr/>
      <dgm:t>
        <a:bodyPr/>
        <a:lstStyle/>
        <a:p>
          <a:endParaRPr lang="en-US"/>
        </a:p>
      </dgm:t>
    </dgm:pt>
    <dgm:pt modelId="{678A13FF-1D00-4294-9F4E-3C08BF638EB6}">
      <dgm:prSet phldrT="[Text]" phldr="0"/>
      <dgm:spPr/>
      <dgm:t>
        <a:bodyPr/>
        <a:lstStyle/>
        <a:p>
          <a:r>
            <a:rPr lang="en-US"/>
            <a:t>Check passive DNS </a:t>
          </a:r>
          <a:endParaRPr lang="en-US" dirty="0"/>
        </a:p>
      </dgm:t>
    </dgm:pt>
    <dgm:pt modelId="{0A3147D7-7401-4AB4-ADAB-333EFFA99A63}" type="parTrans" cxnId="{8353C260-A01B-4141-9284-AA21F684A71C}">
      <dgm:prSet/>
      <dgm:spPr/>
      <dgm:t>
        <a:bodyPr/>
        <a:lstStyle/>
        <a:p>
          <a:endParaRPr lang="en-US"/>
        </a:p>
      </dgm:t>
    </dgm:pt>
    <dgm:pt modelId="{D0CC40C9-5E7F-458B-8AAA-8EB9E1313465}" type="sibTrans" cxnId="{8353C260-A01B-4141-9284-AA21F684A71C}">
      <dgm:prSet/>
      <dgm:spPr/>
      <dgm:t>
        <a:bodyPr/>
        <a:lstStyle/>
        <a:p>
          <a:endParaRPr lang="en-US"/>
        </a:p>
      </dgm:t>
    </dgm:pt>
    <dgm:pt modelId="{A6D36EA4-64BA-4739-BBA1-22EAB4D039BD}">
      <dgm:prSet phldrT="[Text]" phldr="0"/>
      <dgm:spPr/>
      <dgm:t>
        <a:bodyPr/>
        <a:lstStyle/>
        <a:p>
          <a:r>
            <a:rPr lang="en-US" dirty="0"/>
            <a:t>Escalate – no context</a:t>
          </a:r>
        </a:p>
      </dgm:t>
    </dgm:pt>
    <dgm:pt modelId="{FA880D15-C2E4-4238-95D7-5335676A413B}" type="parTrans" cxnId="{33E252FD-87C0-4689-AE30-5EDAC5496A00}">
      <dgm:prSet/>
      <dgm:spPr/>
      <dgm:t>
        <a:bodyPr/>
        <a:lstStyle/>
        <a:p>
          <a:endParaRPr lang="en-US"/>
        </a:p>
      </dgm:t>
    </dgm:pt>
    <dgm:pt modelId="{5001AFDC-EDB4-44D1-BB8F-ACC55B206CAB}" type="sibTrans" cxnId="{33E252FD-87C0-4689-AE30-5EDAC5496A00}">
      <dgm:prSet/>
      <dgm:spPr/>
      <dgm:t>
        <a:bodyPr/>
        <a:lstStyle/>
        <a:p>
          <a:endParaRPr lang="en-US"/>
        </a:p>
      </dgm:t>
    </dgm:pt>
    <dgm:pt modelId="{E44F88A9-9226-4D98-8304-E966F0D8654F}">
      <dgm:prSet phldrT="[Text]" phldr="0"/>
      <dgm:spPr/>
      <dgm:t>
        <a:bodyPr/>
        <a:lstStyle/>
        <a:p>
          <a:r>
            <a:rPr lang="en-US"/>
            <a:t>Google the Domain</a:t>
          </a:r>
          <a:endParaRPr lang="en-US" dirty="0"/>
        </a:p>
      </dgm:t>
    </dgm:pt>
    <dgm:pt modelId="{1F84EEF1-ED3A-4D6C-8A8C-26D2F71804BB}" type="parTrans" cxnId="{AF00D32F-E1B3-43BF-A5AE-8CF72BAAF8A5}">
      <dgm:prSet/>
      <dgm:spPr/>
      <dgm:t>
        <a:bodyPr/>
        <a:lstStyle/>
        <a:p>
          <a:endParaRPr lang="en-US"/>
        </a:p>
      </dgm:t>
    </dgm:pt>
    <dgm:pt modelId="{3F9B7265-E770-4B91-BD24-1E5397AD702E}" type="sibTrans" cxnId="{AF00D32F-E1B3-43BF-A5AE-8CF72BAAF8A5}">
      <dgm:prSet/>
      <dgm:spPr/>
      <dgm:t>
        <a:bodyPr/>
        <a:lstStyle/>
        <a:p>
          <a:endParaRPr lang="en-US"/>
        </a:p>
      </dgm:t>
    </dgm:pt>
    <dgm:pt modelId="{0C7C7935-21A9-47F2-9316-95074DABEF33}" type="pres">
      <dgm:prSet presAssocID="{8E57827D-5BA4-4ED5-A617-6C8360B0D117}" presName="Name0" presStyleCnt="0">
        <dgm:presLayoutVars>
          <dgm:dir/>
          <dgm:resizeHandles val="exact"/>
        </dgm:presLayoutVars>
      </dgm:prSet>
      <dgm:spPr/>
    </dgm:pt>
    <dgm:pt modelId="{46BBB1CF-3BF4-4204-9058-1FA3B14DF81D}" type="pres">
      <dgm:prSet presAssocID="{B5C04919-6AB5-483F-9223-8DAEF6FBEEA6}" presName="node" presStyleLbl="node1" presStyleIdx="0" presStyleCnt="9">
        <dgm:presLayoutVars>
          <dgm:bulletEnabled val="1"/>
        </dgm:presLayoutVars>
      </dgm:prSet>
      <dgm:spPr/>
    </dgm:pt>
    <dgm:pt modelId="{2A055B7A-4378-4F79-AEB3-44629EA494F0}" type="pres">
      <dgm:prSet presAssocID="{B20051E0-2E21-4F95-8EA1-49342AC67FFD}" presName="sibTrans" presStyleLbl="sibTrans1D1" presStyleIdx="0" presStyleCnt="8"/>
      <dgm:spPr/>
    </dgm:pt>
    <dgm:pt modelId="{90D4AF9A-FC05-4180-9553-409241972B23}" type="pres">
      <dgm:prSet presAssocID="{B20051E0-2E21-4F95-8EA1-49342AC67FFD}" presName="connectorText" presStyleLbl="sibTrans1D1" presStyleIdx="0" presStyleCnt="8"/>
      <dgm:spPr/>
    </dgm:pt>
    <dgm:pt modelId="{34C39139-9C02-4B14-9E4B-FD02B1EA5186}" type="pres">
      <dgm:prSet presAssocID="{A6760DCB-D9C2-4870-952E-CF3C03830B79}" presName="node" presStyleLbl="node1" presStyleIdx="1" presStyleCnt="9">
        <dgm:presLayoutVars>
          <dgm:bulletEnabled val="1"/>
        </dgm:presLayoutVars>
      </dgm:prSet>
      <dgm:spPr/>
    </dgm:pt>
    <dgm:pt modelId="{D8C9F722-9EC0-45B1-958A-BA5A4825F66A}" type="pres">
      <dgm:prSet presAssocID="{31E4CF4E-EE5D-4A92-B152-7377E97EA6A0}" presName="sibTrans" presStyleLbl="sibTrans1D1" presStyleIdx="1" presStyleCnt="8"/>
      <dgm:spPr/>
    </dgm:pt>
    <dgm:pt modelId="{F5D612B0-DDFE-4A22-ABAD-E61C2381C373}" type="pres">
      <dgm:prSet presAssocID="{31E4CF4E-EE5D-4A92-B152-7377E97EA6A0}" presName="connectorText" presStyleLbl="sibTrans1D1" presStyleIdx="1" presStyleCnt="8"/>
      <dgm:spPr/>
    </dgm:pt>
    <dgm:pt modelId="{0532401B-5D3C-4191-B549-9A5795D732D9}" type="pres">
      <dgm:prSet presAssocID="{511C83EA-AE36-4391-9EBE-3665E6E5C42D}" presName="node" presStyleLbl="node1" presStyleIdx="2" presStyleCnt="9">
        <dgm:presLayoutVars>
          <dgm:bulletEnabled val="1"/>
        </dgm:presLayoutVars>
      </dgm:prSet>
      <dgm:spPr/>
    </dgm:pt>
    <dgm:pt modelId="{D004365D-1F04-4C4A-BEBC-007D3808EBA1}" type="pres">
      <dgm:prSet presAssocID="{9C0DE51C-5C56-4D5A-908F-9A3E85F51338}" presName="sibTrans" presStyleLbl="sibTrans1D1" presStyleIdx="2" presStyleCnt="8"/>
      <dgm:spPr/>
    </dgm:pt>
    <dgm:pt modelId="{973A2974-C465-4775-9865-3398D8EB0FB7}" type="pres">
      <dgm:prSet presAssocID="{9C0DE51C-5C56-4D5A-908F-9A3E85F51338}" presName="connectorText" presStyleLbl="sibTrans1D1" presStyleIdx="2" presStyleCnt="8"/>
      <dgm:spPr/>
    </dgm:pt>
    <dgm:pt modelId="{F3097572-F708-40A4-A4EE-76D3805BA1A7}" type="pres">
      <dgm:prSet presAssocID="{678A13FF-1D00-4294-9F4E-3C08BF638EB6}" presName="node" presStyleLbl="node1" presStyleIdx="3" presStyleCnt="9">
        <dgm:presLayoutVars>
          <dgm:bulletEnabled val="1"/>
        </dgm:presLayoutVars>
      </dgm:prSet>
      <dgm:spPr/>
    </dgm:pt>
    <dgm:pt modelId="{3BC05B54-7514-4657-B33D-BA663437A155}" type="pres">
      <dgm:prSet presAssocID="{D0CC40C9-5E7F-458B-8AAA-8EB9E1313465}" presName="sibTrans" presStyleLbl="sibTrans1D1" presStyleIdx="3" presStyleCnt="8"/>
      <dgm:spPr/>
    </dgm:pt>
    <dgm:pt modelId="{9AFDE92E-9D41-4156-B389-EAB75ED17435}" type="pres">
      <dgm:prSet presAssocID="{D0CC40C9-5E7F-458B-8AAA-8EB9E1313465}" presName="connectorText" presStyleLbl="sibTrans1D1" presStyleIdx="3" presStyleCnt="8"/>
      <dgm:spPr/>
    </dgm:pt>
    <dgm:pt modelId="{EBA6C552-9A97-43AD-972A-19332440F388}" type="pres">
      <dgm:prSet presAssocID="{E44F88A9-9226-4D98-8304-E966F0D8654F}" presName="node" presStyleLbl="node1" presStyleIdx="4" presStyleCnt="9">
        <dgm:presLayoutVars>
          <dgm:bulletEnabled val="1"/>
        </dgm:presLayoutVars>
      </dgm:prSet>
      <dgm:spPr/>
    </dgm:pt>
    <dgm:pt modelId="{C87C69CD-FDD0-496F-94E6-05A490FAD43F}" type="pres">
      <dgm:prSet presAssocID="{3F9B7265-E770-4B91-BD24-1E5397AD702E}" presName="sibTrans" presStyleLbl="sibTrans1D1" presStyleIdx="4" presStyleCnt="8"/>
      <dgm:spPr/>
    </dgm:pt>
    <dgm:pt modelId="{C9FC01D1-DAF9-431A-A2BC-725B9BDA3264}" type="pres">
      <dgm:prSet presAssocID="{3F9B7265-E770-4B91-BD24-1E5397AD702E}" presName="connectorText" presStyleLbl="sibTrans1D1" presStyleIdx="4" presStyleCnt="8"/>
      <dgm:spPr/>
    </dgm:pt>
    <dgm:pt modelId="{134D9101-E52D-479E-AD0F-E3EEE67AC195}" type="pres">
      <dgm:prSet presAssocID="{8E35CD3B-B929-4DAE-BF2C-F8CD262A90D0}" presName="node" presStyleLbl="node1" presStyleIdx="5" presStyleCnt="9">
        <dgm:presLayoutVars>
          <dgm:bulletEnabled val="1"/>
        </dgm:presLayoutVars>
      </dgm:prSet>
      <dgm:spPr/>
    </dgm:pt>
    <dgm:pt modelId="{20EEE331-85F0-4B73-BE47-673D0FA0751A}" type="pres">
      <dgm:prSet presAssocID="{ADCD61BE-1986-4152-89A9-7EE3C00B216F}" presName="sibTrans" presStyleLbl="sibTrans1D1" presStyleIdx="5" presStyleCnt="8"/>
      <dgm:spPr/>
    </dgm:pt>
    <dgm:pt modelId="{69A61C51-414C-458A-A4F7-1EAE35712810}" type="pres">
      <dgm:prSet presAssocID="{ADCD61BE-1986-4152-89A9-7EE3C00B216F}" presName="connectorText" presStyleLbl="sibTrans1D1" presStyleIdx="5" presStyleCnt="8"/>
      <dgm:spPr/>
    </dgm:pt>
    <dgm:pt modelId="{7C5282DE-5787-4548-A7EE-76B502BAA1F9}" type="pres">
      <dgm:prSet presAssocID="{B5AFFE46-6BF7-4A63-AC15-8A4B86A228D7}" presName="node" presStyleLbl="node1" presStyleIdx="6" presStyleCnt="9">
        <dgm:presLayoutVars>
          <dgm:bulletEnabled val="1"/>
        </dgm:presLayoutVars>
      </dgm:prSet>
      <dgm:spPr/>
    </dgm:pt>
    <dgm:pt modelId="{088BAB1E-A234-47E5-8C13-2C16A6C47521}" type="pres">
      <dgm:prSet presAssocID="{55411832-CA45-4153-AEF6-3B63DF335C52}" presName="sibTrans" presStyleLbl="sibTrans1D1" presStyleIdx="6" presStyleCnt="8"/>
      <dgm:spPr/>
    </dgm:pt>
    <dgm:pt modelId="{74AE9E5F-5EF6-4AF8-9F7C-FE39C1E32AE9}" type="pres">
      <dgm:prSet presAssocID="{55411832-CA45-4153-AEF6-3B63DF335C52}" presName="connectorText" presStyleLbl="sibTrans1D1" presStyleIdx="6" presStyleCnt="8"/>
      <dgm:spPr/>
    </dgm:pt>
    <dgm:pt modelId="{6E799CD7-B316-485F-94B3-8A4D435D4ED2}" type="pres">
      <dgm:prSet presAssocID="{A6D36EA4-64BA-4739-BBA1-22EAB4D039BD}" presName="node" presStyleLbl="node1" presStyleIdx="7" presStyleCnt="9">
        <dgm:presLayoutVars>
          <dgm:bulletEnabled val="1"/>
        </dgm:presLayoutVars>
      </dgm:prSet>
      <dgm:spPr/>
    </dgm:pt>
    <dgm:pt modelId="{F431DE57-5761-4CE7-A8D4-8526513FCFA9}" type="pres">
      <dgm:prSet presAssocID="{5001AFDC-EDB4-44D1-BB8F-ACC55B206CAB}" presName="sibTrans" presStyleLbl="sibTrans1D1" presStyleIdx="7" presStyleCnt="8"/>
      <dgm:spPr/>
    </dgm:pt>
    <dgm:pt modelId="{1239BFB9-23A1-4A19-B431-7BBEE4570F1F}" type="pres">
      <dgm:prSet presAssocID="{5001AFDC-EDB4-44D1-BB8F-ACC55B206CAB}" presName="connectorText" presStyleLbl="sibTrans1D1" presStyleIdx="7" presStyleCnt="8"/>
      <dgm:spPr/>
    </dgm:pt>
    <dgm:pt modelId="{6DE9517B-3560-4853-ACAE-89D0ADEC0637}" type="pres">
      <dgm:prSet presAssocID="{3638B5CA-3446-4190-BED3-928D5F701671}" presName="node" presStyleLbl="node1" presStyleIdx="8" presStyleCnt="9">
        <dgm:presLayoutVars>
          <dgm:bulletEnabled val="1"/>
        </dgm:presLayoutVars>
      </dgm:prSet>
      <dgm:spPr/>
    </dgm:pt>
  </dgm:ptLst>
  <dgm:cxnLst>
    <dgm:cxn modelId="{A9AF730B-FE34-46AF-B3C1-7894DE67B484}" type="presOf" srcId="{3638B5CA-3446-4190-BED3-928D5F701671}" destId="{6DE9517B-3560-4853-ACAE-89D0ADEC0637}" srcOrd="0" destOrd="0" presId="urn:microsoft.com/office/officeart/2005/8/layout/bProcess3"/>
    <dgm:cxn modelId="{A0B3C113-8FA6-49FA-9117-60D29E5FF2A5}" type="presOf" srcId="{5001AFDC-EDB4-44D1-BB8F-ACC55B206CAB}" destId="{F431DE57-5761-4CE7-A8D4-8526513FCFA9}" srcOrd="0" destOrd="0" presId="urn:microsoft.com/office/officeart/2005/8/layout/bProcess3"/>
    <dgm:cxn modelId="{DED7A315-C00F-4B21-918C-120C7095CE3C}" srcId="{8E57827D-5BA4-4ED5-A617-6C8360B0D117}" destId="{511C83EA-AE36-4391-9EBE-3665E6E5C42D}" srcOrd="2" destOrd="0" parTransId="{716935BF-55C0-4767-9290-9B465B46E336}" sibTransId="{9C0DE51C-5C56-4D5A-908F-9A3E85F51338}"/>
    <dgm:cxn modelId="{FA1A691A-9F8B-4021-8098-F14D3D95B3C5}" type="presOf" srcId="{8E57827D-5BA4-4ED5-A617-6C8360B0D117}" destId="{0C7C7935-21A9-47F2-9316-95074DABEF33}" srcOrd="0" destOrd="0" presId="urn:microsoft.com/office/officeart/2005/8/layout/bProcess3"/>
    <dgm:cxn modelId="{48105D1B-9681-4BB4-9364-A38644A30DDE}" srcId="{8E57827D-5BA4-4ED5-A617-6C8360B0D117}" destId="{A6760DCB-D9C2-4870-952E-CF3C03830B79}" srcOrd="1" destOrd="0" parTransId="{80C6C382-2A9D-4C41-AD94-858C990094F9}" sibTransId="{31E4CF4E-EE5D-4A92-B152-7377E97EA6A0}"/>
    <dgm:cxn modelId="{F607ED24-D44F-4F2D-898F-3273D4C74BD7}" type="presOf" srcId="{B5AFFE46-6BF7-4A63-AC15-8A4B86A228D7}" destId="{7C5282DE-5787-4548-A7EE-76B502BAA1F9}" srcOrd="0" destOrd="0" presId="urn:microsoft.com/office/officeart/2005/8/layout/bProcess3"/>
    <dgm:cxn modelId="{60642526-7A0C-42D0-8594-BF3C783A121E}" type="presOf" srcId="{A6760DCB-D9C2-4870-952E-CF3C03830B79}" destId="{34C39139-9C02-4B14-9E4B-FD02B1EA5186}" srcOrd="0" destOrd="0" presId="urn:microsoft.com/office/officeart/2005/8/layout/bProcess3"/>
    <dgm:cxn modelId="{AF00D32F-E1B3-43BF-A5AE-8CF72BAAF8A5}" srcId="{8E57827D-5BA4-4ED5-A617-6C8360B0D117}" destId="{E44F88A9-9226-4D98-8304-E966F0D8654F}" srcOrd="4" destOrd="0" parTransId="{1F84EEF1-ED3A-4D6C-8A8C-26D2F71804BB}" sibTransId="{3F9B7265-E770-4B91-BD24-1E5397AD702E}"/>
    <dgm:cxn modelId="{413C3431-07E9-41F8-8BFA-E43B8E86E99F}" type="presOf" srcId="{9C0DE51C-5C56-4D5A-908F-9A3E85F51338}" destId="{973A2974-C465-4775-9865-3398D8EB0FB7}" srcOrd="1" destOrd="0" presId="urn:microsoft.com/office/officeart/2005/8/layout/bProcess3"/>
    <dgm:cxn modelId="{EDEFE531-FDE9-4435-9630-DD5DE04FDC7D}" type="presOf" srcId="{5001AFDC-EDB4-44D1-BB8F-ACC55B206CAB}" destId="{1239BFB9-23A1-4A19-B431-7BBEE4570F1F}" srcOrd="1" destOrd="0" presId="urn:microsoft.com/office/officeart/2005/8/layout/bProcess3"/>
    <dgm:cxn modelId="{5DF6A133-26E8-4500-A9FB-021422114D45}" type="presOf" srcId="{9C0DE51C-5C56-4D5A-908F-9A3E85F51338}" destId="{D004365D-1F04-4C4A-BEBC-007D3808EBA1}" srcOrd="0" destOrd="0" presId="urn:microsoft.com/office/officeart/2005/8/layout/bProcess3"/>
    <dgm:cxn modelId="{F38D273A-2F99-4449-9705-B20272CD8F81}" type="presOf" srcId="{B5C04919-6AB5-483F-9223-8DAEF6FBEEA6}" destId="{46BBB1CF-3BF4-4204-9058-1FA3B14DF81D}" srcOrd="0" destOrd="0" presId="urn:microsoft.com/office/officeart/2005/8/layout/bProcess3"/>
    <dgm:cxn modelId="{919EEE5E-3F83-4DF0-8F58-95A2D3F46DDF}" srcId="{8E57827D-5BA4-4ED5-A617-6C8360B0D117}" destId="{B5AFFE46-6BF7-4A63-AC15-8A4B86A228D7}" srcOrd="6" destOrd="0" parTransId="{630460DB-644C-4D0D-9D8E-86E0D7D692C8}" sibTransId="{55411832-CA45-4153-AEF6-3B63DF335C52}"/>
    <dgm:cxn modelId="{8353C260-A01B-4141-9284-AA21F684A71C}" srcId="{8E57827D-5BA4-4ED5-A617-6C8360B0D117}" destId="{678A13FF-1D00-4294-9F4E-3C08BF638EB6}" srcOrd="3" destOrd="0" parTransId="{0A3147D7-7401-4AB4-ADAB-333EFFA99A63}" sibTransId="{D0CC40C9-5E7F-458B-8AAA-8EB9E1313465}"/>
    <dgm:cxn modelId="{379FD844-8757-488B-AE3C-398099BFD5C1}" srcId="{8E57827D-5BA4-4ED5-A617-6C8360B0D117}" destId="{B5C04919-6AB5-483F-9223-8DAEF6FBEEA6}" srcOrd="0" destOrd="0" parTransId="{D9828F74-8C01-4822-A87F-6DB1AC0741DF}" sibTransId="{B20051E0-2E21-4F95-8EA1-49342AC67FFD}"/>
    <dgm:cxn modelId="{A129E448-CE06-4A67-B98F-87D433A8761D}" type="presOf" srcId="{3F9B7265-E770-4B91-BD24-1E5397AD702E}" destId="{C87C69CD-FDD0-496F-94E6-05A490FAD43F}" srcOrd="0" destOrd="0" presId="urn:microsoft.com/office/officeart/2005/8/layout/bProcess3"/>
    <dgm:cxn modelId="{23CE816C-6EE1-4930-8ABE-5E687200BD32}" type="presOf" srcId="{8E35CD3B-B929-4DAE-BF2C-F8CD262A90D0}" destId="{134D9101-E52D-479E-AD0F-E3EEE67AC195}" srcOrd="0" destOrd="0" presId="urn:microsoft.com/office/officeart/2005/8/layout/bProcess3"/>
    <dgm:cxn modelId="{188A034E-7E4F-4FCE-8EC8-91AA59456E03}" type="presOf" srcId="{B20051E0-2E21-4F95-8EA1-49342AC67FFD}" destId="{2A055B7A-4378-4F79-AEB3-44629EA494F0}" srcOrd="0" destOrd="0" presId="urn:microsoft.com/office/officeart/2005/8/layout/bProcess3"/>
    <dgm:cxn modelId="{1BED6871-B0E4-4855-AA79-D2153DB562DD}" type="presOf" srcId="{D0CC40C9-5E7F-458B-8AAA-8EB9E1313465}" destId="{9AFDE92E-9D41-4156-B389-EAB75ED17435}" srcOrd="1" destOrd="0" presId="urn:microsoft.com/office/officeart/2005/8/layout/bProcess3"/>
    <dgm:cxn modelId="{FC95D275-F46A-4104-B7E8-F907C55F07D9}" type="presOf" srcId="{55411832-CA45-4153-AEF6-3B63DF335C52}" destId="{74AE9E5F-5EF6-4AF8-9F7C-FE39C1E32AE9}" srcOrd="1" destOrd="0" presId="urn:microsoft.com/office/officeart/2005/8/layout/bProcess3"/>
    <dgm:cxn modelId="{C03EB37C-B2AA-4C46-B121-6A09C94B86E2}" type="presOf" srcId="{678A13FF-1D00-4294-9F4E-3C08BF638EB6}" destId="{F3097572-F708-40A4-A4EE-76D3805BA1A7}" srcOrd="0" destOrd="0" presId="urn:microsoft.com/office/officeart/2005/8/layout/bProcess3"/>
    <dgm:cxn modelId="{0AD5C67C-83DB-4D85-8CCF-758AD3048A13}" type="presOf" srcId="{A6D36EA4-64BA-4739-BBA1-22EAB4D039BD}" destId="{6E799CD7-B316-485F-94B3-8A4D435D4ED2}" srcOrd="0" destOrd="0" presId="urn:microsoft.com/office/officeart/2005/8/layout/bProcess3"/>
    <dgm:cxn modelId="{32A00783-6416-4A82-BEE4-6C8758E1C53C}" type="presOf" srcId="{D0CC40C9-5E7F-458B-8AAA-8EB9E1313465}" destId="{3BC05B54-7514-4657-B33D-BA663437A155}" srcOrd="0" destOrd="0" presId="urn:microsoft.com/office/officeart/2005/8/layout/bProcess3"/>
    <dgm:cxn modelId="{C4646284-AABD-4A40-890B-E0F3460BE2F3}" type="presOf" srcId="{511C83EA-AE36-4391-9EBE-3665E6E5C42D}" destId="{0532401B-5D3C-4191-B549-9A5795D732D9}" srcOrd="0" destOrd="0" presId="urn:microsoft.com/office/officeart/2005/8/layout/bProcess3"/>
    <dgm:cxn modelId="{B439D799-901F-43F1-9BA1-7163AB109107}" type="presOf" srcId="{ADCD61BE-1986-4152-89A9-7EE3C00B216F}" destId="{69A61C51-414C-458A-A4F7-1EAE35712810}" srcOrd="1" destOrd="0" presId="urn:microsoft.com/office/officeart/2005/8/layout/bProcess3"/>
    <dgm:cxn modelId="{57A01E9C-F5A2-4693-B067-DC7B6C598939}" type="presOf" srcId="{ADCD61BE-1986-4152-89A9-7EE3C00B216F}" destId="{20EEE331-85F0-4B73-BE47-673D0FA0751A}" srcOrd="0" destOrd="0" presId="urn:microsoft.com/office/officeart/2005/8/layout/bProcess3"/>
    <dgm:cxn modelId="{E99D1BA0-136A-44FB-A39B-DA217E120B66}" type="presOf" srcId="{55411832-CA45-4153-AEF6-3B63DF335C52}" destId="{088BAB1E-A234-47E5-8C13-2C16A6C47521}" srcOrd="0" destOrd="0" presId="urn:microsoft.com/office/officeart/2005/8/layout/bProcess3"/>
    <dgm:cxn modelId="{33084FA9-8545-4A38-BA71-3AFB74A86591}" type="presOf" srcId="{B20051E0-2E21-4F95-8EA1-49342AC67FFD}" destId="{90D4AF9A-FC05-4180-9553-409241972B23}" srcOrd="1" destOrd="0" presId="urn:microsoft.com/office/officeart/2005/8/layout/bProcess3"/>
    <dgm:cxn modelId="{2AA8EEB5-316E-4EA7-9DEA-418B221EF238}" type="presOf" srcId="{31E4CF4E-EE5D-4A92-B152-7377E97EA6A0}" destId="{D8C9F722-9EC0-45B1-958A-BA5A4825F66A}" srcOrd="0" destOrd="0" presId="urn:microsoft.com/office/officeart/2005/8/layout/bProcess3"/>
    <dgm:cxn modelId="{922633C3-ECA2-467D-9ABD-2B309764AFE7}" type="presOf" srcId="{3F9B7265-E770-4B91-BD24-1E5397AD702E}" destId="{C9FC01D1-DAF9-431A-A2BC-725B9BDA3264}" srcOrd="1" destOrd="0" presId="urn:microsoft.com/office/officeart/2005/8/layout/bProcess3"/>
    <dgm:cxn modelId="{E6A91ACD-7464-4C2C-9CED-652BD2A3192B}" srcId="{8E57827D-5BA4-4ED5-A617-6C8360B0D117}" destId="{8E35CD3B-B929-4DAE-BF2C-F8CD262A90D0}" srcOrd="5" destOrd="0" parTransId="{719F5050-D609-4309-9C99-427F01CECA03}" sibTransId="{ADCD61BE-1986-4152-89A9-7EE3C00B216F}"/>
    <dgm:cxn modelId="{CE826FF7-E2C9-4120-AD80-3943C46D07B9}" srcId="{8E57827D-5BA4-4ED5-A617-6C8360B0D117}" destId="{3638B5CA-3446-4190-BED3-928D5F701671}" srcOrd="8" destOrd="0" parTransId="{2B661FFD-388D-4F7E-BF8D-253FB09776DE}" sibTransId="{8C936E02-187E-404D-A045-43BB9BE54DCB}"/>
    <dgm:cxn modelId="{37E9DEF9-1A61-4689-BFA5-594F5A8AD7E4}" type="presOf" srcId="{E44F88A9-9226-4D98-8304-E966F0D8654F}" destId="{EBA6C552-9A97-43AD-972A-19332440F388}" srcOrd="0" destOrd="0" presId="urn:microsoft.com/office/officeart/2005/8/layout/bProcess3"/>
    <dgm:cxn modelId="{0683C2FA-5E28-45DD-BAB5-512382B60C29}" type="presOf" srcId="{31E4CF4E-EE5D-4A92-B152-7377E97EA6A0}" destId="{F5D612B0-DDFE-4A22-ABAD-E61C2381C373}" srcOrd="1" destOrd="0" presId="urn:microsoft.com/office/officeart/2005/8/layout/bProcess3"/>
    <dgm:cxn modelId="{33E252FD-87C0-4689-AE30-5EDAC5496A00}" srcId="{8E57827D-5BA4-4ED5-A617-6C8360B0D117}" destId="{A6D36EA4-64BA-4739-BBA1-22EAB4D039BD}" srcOrd="7" destOrd="0" parTransId="{FA880D15-C2E4-4238-95D7-5335676A413B}" sibTransId="{5001AFDC-EDB4-44D1-BB8F-ACC55B206CAB}"/>
    <dgm:cxn modelId="{F45580BB-6A81-4AB0-9AC7-6858813127FF}" type="presParOf" srcId="{0C7C7935-21A9-47F2-9316-95074DABEF33}" destId="{46BBB1CF-3BF4-4204-9058-1FA3B14DF81D}" srcOrd="0" destOrd="0" presId="urn:microsoft.com/office/officeart/2005/8/layout/bProcess3"/>
    <dgm:cxn modelId="{6D4D3BFE-C75D-4875-935C-0DC7CCA82536}" type="presParOf" srcId="{0C7C7935-21A9-47F2-9316-95074DABEF33}" destId="{2A055B7A-4378-4F79-AEB3-44629EA494F0}" srcOrd="1" destOrd="0" presId="urn:microsoft.com/office/officeart/2005/8/layout/bProcess3"/>
    <dgm:cxn modelId="{0A7876E1-9E2A-475E-9F18-EA4556572E27}" type="presParOf" srcId="{2A055B7A-4378-4F79-AEB3-44629EA494F0}" destId="{90D4AF9A-FC05-4180-9553-409241972B23}" srcOrd="0" destOrd="0" presId="urn:microsoft.com/office/officeart/2005/8/layout/bProcess3"/>
    <dgm:cxn modelId="{DFACC24D-B339-45A3-90DF-66DEA4081D7D}" type="presParOf" srcId="{0C7C7935-21A9-47F2-9316-95074DABEF33}" destId="{34C39139-9C02-4B14-9E4B-FD02B1EA5186}" srcOrd="2" destOrd="0" presId="urn:microsoft.com/office/officeart/2005/8/layout/bProcess3"/>
    <dgm:cxn modelId="{252EED83-2900-4DFC-9660-6492E4DD003A}" type="presParOf" srcId="{0C7C7935-21A9-47F2-9316-95074DABEF33}" destId="{D8C9F722-9EC0-45B1-958A-BA5A4825F66A}" srcOrd="3" destOrd="0" presId="urn:microsoft.com/office/officeart/2005/8/layout/bProcess3"/>
    <dgm:cxn modelId="{E8D15429-2523-46C7-9601-DBF4216114B0}" type="presParOf" srcId="{D8C9F722-9EC0-45B1-958A-BA5A4825F66A}" destId="{F5D612B0-DDFE-4A22-ABAD-E61C2381C373}" srcOrd="0" destOrd="0" presId="urn:microsoft.com/office/officeart/2005/8/layout/bProcess3"/>
    <dgm:cxn modelId="{BB9BDA0D-F832-42A2-B51A-428DA49F7147}" type="presParOf" srcId="{0C7C7935-21A9-47F2-9316-95074DABEF33}" destId="{0532401B-5D3C-4191-B549-9A5795D732D9}" srcOrd="4" destOrd="0" presId="urn:microsoft.com/office/officeart/2005/8/layout/bProcess3"/>
    <dgm:cxn modelId="{FB2619C6-C877-4A2F-8CF6-137E38552E19}" type="presParOf" srcId="{0C7C7935-21A9-47F2-9316-95074DABEF33}" destId="{D004365D-1F04-4C4A-BEBC-007D3808EBA1}" srcOrd="5" destOrd="0" presId="urn:microsoft.com/office/officeart/2005/8/layout/bProcess3"/>
    <dgm:cxn modelId="{D2554377-72AF-47CC-A914-3BA3BE7DAC92}" type="presParOf" srcId="{D004365D-1F04-4C4A-BEBC-007D3808EBA1}" destId="{973A2974-C465-4775-9865-3398D8EB0FB7}" srcOrd="0" destOrd="0" presId="urn:microsoft.com/office/officeart/2005/8/layout/bProcess3"/>
    <dgm:cxn modelId="{A58B81E9-F67E-4600-8220-3E4B41097842}" type="presParOf" srcId="{0C7C7935-21A9-47F2-9316-95074DABEF33}" destId="{F3097572-F708-40A4-A4EE-76D3805BA1A7}" srcOrd="6" destOrd="0" presId="urn:microsoft.com/office/officeart/2005/8/layout/bProcess3"/>
    <dgm:cxn modelId="{EC2683A5-405B-4163-BA9D-5AF9A43400DF}" type="presParOf" srcId="{0C7C7935-21A9-47F2-9316-95074DABEF33}" destId="{3BC05B54-7514-4657-B33D-BA663437A155}" srcOrd="7" destOrd="0" presId="urn:microsoft.com/office/officeart/2005/8/layout/bProcess3"/>
    <dgm:cxn modelId="{8E6E581D-4162-4894-9205-0696AB0B1D5E}" type="presParOf" srcId="{3BC05B54-7514-4657-B33D-BA663437A155}" destId="{9AFDE92E-9D41-4156-B389-EAB75ED17435}" srcOrd="0" destOrd="0" presId="urn:microsoft.com/office/officeart/2005/8/layout/bProcess3"/>
    <dgm:cxn modelId="{F8308F17-F753-45FB-ABE8-FB0874D75DC2}" type="presParOf" srcId="{0C7C7935-21A9-47F2-9316-95074DABEF33}" destId="{EBA6C552-9A97-43AD-972A-19332440F388}" srcOrd="8" destOrd="0" presId="urn:microsoft.com/office/officeart/2005/8/layout/bProcess3"/>
    <dgm:cxn modelId="{7B81E8BA-8CF6-4975-823F-71D4A9364D61}" type="presParOf" srcId="{0C7C7935-21A9-47F2-9316-95074DABEF33}" destId="{C87C69CD-FDD0-496F-94E6-05A490FAD43F}" srcOrd="9" destOrd="0" presId="urn:microsoft.com/office/officeart/2005/8/layout/bProcess3"/>
    <dgm:cxn modelId="{7C38EADE-2A26-49A9-A237-0280DB849C89}" type="presParOf" srcId="{C87C69CD-FDD0-496F-94E6-05A490FAD43F}" destId="{C9FC01D1-DAF9-431A-A2BC-725B9BDA3264}" srcOrd="0" destOrd="0" presId="urn:microsoft.com/office/officeart/2005/8/layout/bProcess3"/>
    <dgm:cxn modelId="{66FF9C94-77F0-4FBB-BED3-221E7D5E9946}" type="presParOf" srcId="{0C7C7935-21A9-47F2-9316-95074DABEF33}" destId="{134D9101-E52D-479E-AD0F-E3EEE67AC195}" srcOrd="10" destOrd="0" presId="urn:microsoft.com/office/officeart/2005/8/layout/bProcess3"/>
    <dgm:cxn modelId="{EEBE3BA1-8169-4248-8ED9-DBBDB5DCEE11}" type="presParOf" srcId="{0C7C7935-21A9-47F2-9316-95074DABEF33}" destId="{20EEE331-85F0-4B73-BE47-673D0FA0751A}" srcOrd="11" destOrd="0" presId="urn:microsoft.com/office/officeart/2005/8/layout/bProcess3"/>
    <dgm:cxn modelId="{2685328D-E1E1-4090-9629-F003C95B0A12}" type="presParOf" srcId="{20EEE331-85F0-4B73-BE47-673D0FA0751A}" destId="{69A61C51-414C-458A-A4F7-1EAE35712810}" srcOrd="0" destOrd="0" presId="urn:microsoft.com/office/officeart/2005/8/layout/bProcess3"/>
    <dgm:cxn modelId="{E8CED665-EA12-46F8-88B5-A8BE868F66C9}" type="presParOf" srcId="{0C7C7935-21A9-47F2-9316-95074DABEF33}" destId="{7C5282DE-5787-4548-A7EE-76B502BAA1F9}" srcOrd="12" destOrd="0" presId="urn:microsoft.com/office/officeart/2005/8/layout/bProcess3"/>
    <dgm:cxn modelId="{E5B3E9F6-9B16-4FBD-954A-D988B62CAD1E}" type="presParOf" srcId="{0C7C7935-21A9-47F2-9316-95074DABEF33}" destId="{088BAB1E-A234-47E5-8C13-2C16A6C47521}" srcOrd="13" destOrd="0" presId="urn:microsoft.com/office/officeart/2005/8/layout/bProcess3"/>
    <dgm:cxn modelId="{EFBDBABE-60E1-4D4A-A05A-3C6F186B70B1}" type="presParOf" srcId="{088BAB1E-A234-47E5-8C13-2C16A6C47521}" destId="{74AE9E5F-5EF6-4AF8-9F7C-FE39C1E32AE9}" srcOrd="0" destOrd="0" presId="urn:microsoft.com/office/officeart/2005/8/layout/bProcess3"/>
    <dgm:cxn modelId="{E634714B-6437-4C57-8AB7-58B8917C8315}" type="presParOf" srcId="{0C7C7935-21A9-47F2-9316-95074DABEF33}" destId="{6E799CD7-B316-485F-94B3-8A4D435D4ED2}" srcOrd="14" destOrd="0" presId="urn:microsoft.com/office/officeart/2005/8/layout/bProcess3"/>
    <dgm:cxn modelId="{5CE6AC6B-D6EF-40DC-B0B0-14ED3E3F9AB2}" type="presParOf" srcId="{0C7C7935-21A9-47F2-9316-95074DABEF33}" destId="{F431DE57-5761-4CE7-A8D4-8526513FCFA9}" srcOrd="15" destOrd="0" presId="urn:microsoft.com/office/officeart/2005/8/layout/bProcess3"/>
    <dgm:cxn modelId="{FA3B4F4A-B709-4435-890C-BC6CCD9B1D8B}" type="presParOf" srcId="{F431DE57-5761-4CE7-A8D4-8526513FCFA9}" destId="{1239BFB9-23A1-4A19-B431-7BBEE4570F1F}" srcOrd="0" destOrd="0" presId="urn:microsoft.com/office/officeart/2005/8/layout/bProcess3"/>
    <dgm:cxn modelId="{D7558A93-E97E-4978-A3C0-A08E7AC677EB}" type="presParOf" srcId="{0C7C7935-21A9-47F2-9316-95074DABEF33}" destId="{6DE9517B-3560-4853-ACAE-89D0ADEC0637}" srcOrd="16" destOrd="0" presId="urn:microsoft.com/office/officeart/2005/8/layout/bProcess3"/>
  </dgm:cxnLst>
  <dgm:bg>
    <a:noFill/>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8E57827D-5BA4-4ED5-A617-6C8360B0D117}" type="doc">
      <dgm:prSet loTypeId="urn:microsoft.com/office/officeart/2005/8/layout/bProcess3" loCatId="process" qsTypeId="urn:microsoft.com/office/officeart/2005/8/quickstyle/3d2#2" qsCatId="3D" csTypeId="urn:microsoft.com/office/officeart/2005/8/colors/accent4_3#2" csCatId="accent4" phldr="1"/>
      <dgm:spPr/>
      <dgm:t>
        <a:bodyPr/>
        <a:lstStyle/>
        <a:p>
          <a:endParaRPr lang="en-US"/>
        </a:p>
      </dgm:t>
    </dgm:pt>
    <dgm:pt modelId="{B5C04919-6AB5-483F-9223-8DAEF6FBEEA6}">
      <dgm:prSet phldrT="[Text]" phldr="0"/>
      <dgm:spPr/>
      <dgm:t>
        <a:bodyPr/>
        <a:lstStyle/>
        <a:p>
          <a:r>
            <a:rPr lang="en-US"/>
            <a:t>WHOIS: 3 days old, privacy service -&gt; high suspicious</a:t>
          </a:r>
          <a:endParaRPr lang="en-US" dirty="0"/>
        </a:p>
      </dgm:t>
    </dgm:pt>
    <dgm:pt modelId="{D9828F74-8C01-4822-A87F-6DB1AC0741DF}" type="parTrans" cxnId="{379FD844-8757-488B-AE3C-398099BFD5C1}">
      <dgm:prSet/>
      <dgm:spPr/>
      <dgm:t>
        <a:bodyPr/>
        <a:lstStyle/>
        <a:p>
          <a:endParaRPr lang="en-US">
            <a:solidFill>
              <a:schemeClr val="bg1"/>
            </a:solidFill>
          </a:endParaRPr>
        </a:p>
      </dgm:t>
    </dgm:pt>
    <dgm:pt modelId="{B20051E0-2E21-4F95-8EA1-49342AC67FFD}" type="sibTrans" cxnId="{379FD844-8757-488B-AE3C-398099BFD5C1}">
      <dgm:prSet/>
      <dgm:spPr/>
      <dgm:t>
        <a:bodyPr/>
        <a:lstStyle/>
        <a:p>
          <a:endParaRPr lang="en-US">
            <a:solidFill>
              <a:schemeClr val="bg1"/>
            </a:solidFill>
          </a:endParaRPr>
        </a:p>
      </dgm:t>
    </dgm:pt>
    <dgm:pt modelId="{A6760DCB-D9C2-4870-952E-CF3C03830B79}">
      <dgm:prSet phldrT="[Text]" phldr="0"/>
      <dgm:spPr/>
      <dgm:t>
        <a:bodyPr/>
        <a:lstStyle/>
        <a:p>
          <a:r>
            <a:rPr lang="en-US">
              <a:latin typeface="Calibri" pitchFamily="34" charset="0"/>
              <a:ea typeface="Calibri" pitchFamily="34" charset="-122"/>
              <a:cs typeface="Calibri" pitchFamily="34" charset="-120"/>
            </a:rPr>
            <a:t>GreyNoise: Scanning SSH globally → opportunistic actor</a:t>
          </a:r>
          <a:endParaRPr lang="en-US" dirty="0"/>
        </a:p>
      </dgm:t>
    </dgm:pt>
    <dgm:pt modelId="{31E4CF4E-EE5D-4A92-B152-7377E97EA6A0}" type="sibTrans" cxnId="{48105D1B-9681-4BB4-9364-A38644A30DDE}">
      <dgm:prSet/>
      <dgm:spPr/>
      <dgm:t>
        <a:bodyPr/>
        <a:lstStyle/>
        <a:p>
          <a:endParaRPr lang="en-US">
            <a:solidFill>
              <a:schemeClr val="bg1"/>
            </a:solidFill>
          </a:endParaRPr>
        </a:p>
      </dgm:t>
    </dgm:pt>
    <dgm:pt modelId="{80C6C382-2A9D-4C41-AD94-858C990094F9}" type="parTrans" cxnId="{48105D1B-9681-4BB4-9364-A38644A30DDE}">
      <dgm:prSet/>
      <dgm:spPr/>
      <dgm:t>
        <a:bodyPr/>
        <a:lstStyle/>
        <a:p>
          <a:endParaRPr lang="en-US">
            <a:solidFill>
              <a:schemeClr val="bg1"/>
            </a:solidFill>
          </a:endParaRPr>
        </a:p>
      </dgm:t>
    </dgm:pt>
    <dgm:pt modelId="{511C83EA-AE36-4391-9EBE-3665E6E5C42D}">
      <dgm:prSet phldrT="[Text]" phldr="0"/>
      <dgm:spPr/>
      <dgm:t>
        <a:bodyPr/>
        <a:lstStyle/>
        <a:p>
          <a:r>
            <a:rPr lang="en-US">
              <a:latin typeface="Calibri" pitchFamily="34" charset="0"/>
              <a:ea typeface="Calibri" pitchFamily="34" charset="-122"/>
              <a:cs typeface="Calibri" pitchFamily="34" charset="-120"/>
            </a:rPr>
            <a:t>VirusTotal: 3 engines flagged → confirmed malicious</a:t>
          </a:r>
          <a:endParaRPr lang="en-US" dirty="0"/>
        </a:p>
      </dgm:t>
    </dgm:pt>
    <dgm:pt modelId="{9C0DE51C-5C56-4D5A-908F-9A3E85F51338}" type="sibTrans" cxnId="{DED7A315-C00F-4B21-918C-120C7095CE3C}">
      <dgm:prSet/>
      <dgm:spPr/>
      <dgm:t>
        <a:bodyPr/>
        <a:lstStyle/>
        <a:p>
          <a:endParaRPr lang="en-US">
            <a:solidFill>
              <a:schemeClr val="bg1"/>
            </a:solidFill>
          </a:endParaRPr>
        </a:p>
      </dgm:t>
    </dgm:pt>
    <dgm:pt modelId="{716935BF-55C0-4767-9290-9B465B46E336}" type="parTrans" cxnId="{DED7A315-C00F-4B21-918C-120C7095CE3C}">
      <dgm:prSet/>
      <dgm:spPr/>
      <dgm:t>
        <a:bodyPr/>
        <a:lstStyle/>
        <a:p>
          <a:endParaRPr lang="en-US">
            <a:solidFill>
              <a:schemeClr val="bg1"/>
            </a:solidFill>
          </a:endParaRPr>
        </a:p>
      </dgm:t>
    </dgm:pt>
    <dgm:pt modelId="{678A13FF-1D00-4294-9F4E-3C08BF638EB6}">
      <dgm:prSet phldrT="[Text]" phldr="0"/>
      <dgm:spPr/>
      <dgm:t>
        <a:bodyPr/>
        <a:lstStyle/>
        <a:p>
          <a:r>
            <a:rPr lang="en-US">
              <a:latin typeface="Calibri" pitchFamily="34" charset="0"/>
              <a:ea typeface="Calibri" pitchFamily="34" charset="-122"/>
              <a:cs typeface="Calibri" pitchFamily="34" charset="-120"/>
            </a:rPr>
            <a:t>PassiveDNS: Resolved from akudate.evilcorp.com</a:t>
          </a:r>
          <a:endParaRPr lang="en-US" dirty="0"/>
        </a:p>
      </dgm:t>
    </dgm:pt>
    <dgm:pt modelId="{D0CC40C9-5E7F-458B-8AAA-8EB9E1313465}" type="sibTrans" cxnId="{8353C260-A01B-4141-9284-AA21F684A71C}">
      <dgm:prSet/>
      <dgm:spPr/>
      <dgm:t>
        <a:bodyPr/>
        <a:lstStyle/>
        <a:p>
          <a:endParaRPr lang="en-US">
            <a:solidFill>
              <a:schemeClr val="bg1"/>
            </a:solidFill>
          </a:endParaRPr>
        </a:p>
      </dgm:t>
    </dgm:pt>
    <dgm:pt modelId="{0A3147D7-7401-4AB4-ADAB-333EFFA99A63}" type="parTrans" cxnId="{8353C260-A01B-4141-9284-AA21F684A71C}">
      <dgm:prSet/>
      <dgm:spPr/>
      <dgm:t>
        <a:bodyPr/>
        <a:lstStyle/>
        <a:p>
          <a:endParaRPr lang="en-US">
            <a:solidFill>
              <a:schemeClr val="bg1"/>
            </a:solidFill>
          </a:endParaRPr>
        </a:p>
      </dgm:t>
    </dgm:pt>
    <dgm:pt modelId="{E44F88A9-9226-4D98-8304-E966F0D8654F}">
      <dgm:prSet phldrT="[Text]" phldr="0"/>
      <dgm:spPr/>
      <dgm:t>
        <a:bodyPr/>
        <a:lstStyle/>
        <a:p>
          <a:r>
            <a:rPr lang="en-US">
              <a:latin typeface="Calibri" pitchFamily="34" charset="0"/>
              <a:ea typeface="Calibri" pitchFamily="34" charset="-122"/>
              <a:cs typeface="Calibri" pitchFamily="34" charset="-120"/>
            </a:rPr>
            <a:t>Sandbox: Dropped Emotet payload → confirmed</a:t>
          </a:r>
          <a:endParaRPr lang="en-US" dirty="0"/>
        </a:p>
      </dgm:t>
    </dgm:pt>
    <dgm:pt modelId="{3F9B7265-E770-4B91-BD24-1E5397AD702E}" type="sibTrans" cxnId="{AF00D32F-E1B3-43BF-A5AE-8CF72BAAF8A5}">
      <dgm:prSet/>
      <dgm:spPr/>
      <dgm:t>
        <a:bodyPr/>
        <a:lstStyle/>
        <a:p>
          <a:endParaRPr lang="en-US">
            <a:solidFill>
              <a:schemeClr val="bg1"/>
            </a:solidFill>
          </a:endParaRPr>
        </a:p>
      </dgm:t>
    </dgm:pt>
    <dgm:pt modelId="{1F84EEF1-ED3A-4D6C-8A8C-26D2F71804BB}" type="parTrans" cxnId="{AF00D32F-E1B3-43BF-A5AE-8CF72BAAF8A5}">
      <dgm:prSet/>
      <dgm:spPr/>
      <dgm:t>
        <a:bodyPr/>
        <a:lstStyle/>
        <a:p>
          <a:endParaRPr lang="en-US">
            <a:solidFill>
              <a:schemeClr val="bg1"/>
            </a:solidFill>
          </a:endParaRPr>
        </a:p>
      </dgm:t>
    </dgm:pt>
    <dgm:pt modelId="{8E35CD3B-B929-4DAE-BF2C-F8CD262A90D0}">
      <dgm:prSet phldrT="[Text]" phldr="0"/>
      <dgm:spPr/>
      <dgm:t>
        <a:bodyPr/>
        <a:lstStyle/>
        <a:p>
          <a:r>
            <a:rPr lang="en-US">
              <a:latin typeface="Calibri" pitchFamily="34" charset="0"/>
              <a:ea typeface="Calibri" pitchFamily="34" charset="-122"/>
              <a:cs typeface="Calibri" pitchFamily="34" charset="-120"/>
            </a:rPr>
            <a:t>Campaign: Active logistics phishing · past 7 days</a:t>
          </a:r>
          <a:endParaRPr lang="en-US" dirty="0"/>
        </a:p>
      </dgm:t>
    </dgm:pt>
    <dgm:pt modelId="{ADCD61BE-1986-4152-89A9-7EE3C00B216F}" type="sibTrans" cxnId="{E6A91ACD-7464-4C2C-9CED-652BD2A3192B}">
      <dgm:prSet/>
      <dgm:spPr/>
      <dgm:t>
        <a:bodyPr/>
        <a:lstStyle/>
        <a:p>
          <a:endParaRPr lang="en-US">
            <a:solidFill>
              <a:schemeClr val="bg1"/>
            </a:solidFill>
          </a:endParaRPr>
        </a:p>
      </dgm:t>
    </dgm:pt>
    <dgm:pt modelId="{719F5050-D609-4309-9C99-427F01CECA03}" type="parTrans" cxnId="{E6A91ACD-7464-4C2C-9CED-652BD2A3192B}">
      <dgm:prSet/>
      <dgm:spPr/>
      <dgm:t>
        <a:bodyPr/>
        <a:lstStyle/>
        <a:p>
          <a:endParaRPr lang="en-US">
            <a:solidFill>
              <a:schemeClr val="bg1"/>
            </a:solidFill>
          </a:endParaRPr>
        </a:p>
      </dgm:t>
    </dgm:pt>
    <dgm:pt modelId="{B5AFFE46-6BF7-4A63-AC15-8A4B86A228D7}">
      <dgm:prSet phldrT="[Text]" phldr="0"/>
      <dgm:spPr/>
      <dgm:t>
        <a:bodyPr/>
        <a:lstStyle/>
        <a:p>
          <a:r>
            <a:rPr lang="en-US">
              <a:latin typeface="Calibri" pitchFamily="34" charset="0"/>
              <a:ea typeface="Calibri" pitchFamily="34" charset="-122"/>
              <a:cs typeface="Calibri" pitchFamily="34" charset="-120"/>
            </a:rPr>
            <a:t>MITRE ATT&amp;CK: T1071.001 · C2 over HTTP · TA542</a:t>
          </a:r>
          <a:endParaRPr lang="en-US" dirty="0"/>
        </a:p>
      </dgm:t>
    </dgm:pt>
    <dgm:pt modelId="{55411832-CA45-4153-AEF6-3B63DF335C52}" type="sibTrans" cxnId="{919EEE5E-3F83-4DF0-8F58-95A2D3F46DDF}">
      <dgm:prSet/>
      <dgm:spPr/>
      <dgm:t>
        <a:bodyPr/>
        <a:lstStyle/>
        <a:p>
          <a:endParaRPr lang="en-US">
            <a:solidFill>
              <a:schemeClr val="bg1"/>
            </a:solidFill>
          </a:endParaRPr>
        </a:p>
      </dgm:t>
    </dgm:pt>
    <dgm:pt modelId="{630460DB-644C-4D0D-9D8E-86E0D7D692C8}" type="parTrans" cxnId="{919EEE5E-3F83-4DF0-8F58-95A2D3F46DDF}">
      <dgm:prSet/>
      <dgm:spPr/>
      <dgm:t>
        <a:bodyPr/>
        <a:lstStyle/>
        <a:p>
          <a:endParaRPr lang="en-US">
            <a:solidFill>
              <a:schemeClr val="bg1"/>
            </a:solidFill>
          </a:endParaRPr>
        </a:p>
      </dgm:t>
    </dgm:pt>
    <dgm:pt modelId="{68E8A5DD-48EC-4997-967C-C3658AB1C276}">
      <dgm:prSet phldrT="[Text]" phldr="0"/>
      <dgm:spPr/>
      <dgm:t>
        <a:bodyPr/>
        <a:lstStyle/>
        <a:p>
          <a:r>
            <a:rPr lang="en-US" b="1"/>
            <a:t>Full context. Clear response path. 90 seconds.</a:t>
          </a:r>
          <a:endParaRPr lang="en-US" b="1" dirty="0"/>
        </a:p>
      </dgm:t>
    </dgm:pt>
    <dgm:pt modelId="{74118670-0C88-4F00-BEC0-3BC43A73FC76}" type="parTrans" cxnId="{32452065-B32A-46A5-B826-BC5BC3A8E59E}">
      <dgm:prSet/>
      <dgm:spPr/>
      <dgm:t>
        <a:bodyPr/>
        <a:lstStyle/>
        <a:p>
          <a:endParaRPr lang="en-US">
            <a:solidFill>
              <a:schemeClr val="bg1"/>
            </a:solidFill>
          </a:endParaRPr>
        </a:p>
      </dgm:t>
    </dgm:pt>
    <dgm:pt modelId="{4AF7AF87-27B1-4602-8175-AF9A5E56325C}" type="sibTrans" cxnId="{32452065-B32A-46A5-B826-BC5BC3A8E59E}">
      <dgm:prSet/>
      <dgm:spPr/>
      <dgm:t>
        <a:bodyPr/>
        <a:lstStyle/>
        <a:p>
          <a:endParaRPr lang="en-US">
            <a:solidFill>
              <a:schemeClr val="bg1"/>
            </a:solidFill>
          </a:endParaRPr>
        </a:p>
      </dgm:t>
    </dgm:pt>
    <dgm:pt modelId="{0C7C7935-21A9-47F2-9316-95074DABEF33}" type="pres">
      <dgm:prSet presAssocID="{8E57827D-5BA4-4ED5-A617-6C8360B0D117}" presName="Name0" presStyleCnt="0">
        <dgm:presLayoutVars>
          <dgm:dir/>
          <dgm:resizeHandles val="exact"/>
        </dgm:presLayoutVars>
      </dgm:prSet>
      <dgm:spPr/>
    </dgm:pt>
    <dgm:pt modelId="{46BBB1CF-3BF4-4204-9058-1FA3B14DF81D}" type="pres">
      <dgm:prSet presAssocID="{B5C04919-6AB5-483F-9223-8DAEF6FBEEA6}" presName="node" presStyleLbl="node1" presStyleIdx="0" presStyleCnt="8">
        <dgm:presLayoutVars>
          <dgm:bulletEnabled val="1"/>
        </dgm:presLayoutVars>
      </dgm:prSet>
      <dgm:spPr/>
    </dgm:pt>
    <dgm:pt modelId="{2A055B7A-4378-4F79-AEB3-44629EA494F0}" type="pres">
      <dgm:prSet presAssocID="{B20051E0-2E21-4F95-8EA1-49342AC67FFD}" presName="sibTrans" presStyleLbl="sibTrans1D1" presStyleIdx="0" presStyleCnt="7"/>
      <dgm:spPr/>
    </dgm:pt>
    <dgm:pt modelId="{90D4AF9A-FC05-4180-9553-409241972B23}" type="pres">
      <dgm:prSet presAssocID="{B20051E0-2E21-4F95-8EA1-49342AC67FFD}" presName="connectorText" presStyleLbl="sibTrans1D1" presStyleIdx="0" presStyleCnt="7"/>
      <dgm:spPr/>
    </dgm:pt>
    <dgm:pt modelId="{34C39139-9C02-4B14-9E4B-FD02B1EA5186}" type="pres">
      <dgm:prSet presAssocID="{A6760DCB-D9C2-4870-952E-CF3C03830B79}" presName="node" presStyleLbl="node1" presStyleIdx="1" presStyleCnt="8">
        <dgm:presLayoutVars>
          <dgm:bulletEnabled val="1"/>
        </dgm:presLayoutVars>
      </dgm:prSet>
      <dgm:spPr/>
    </dgm:pt>
    <dgm:pt modelId="{D8C9F722-9EC0-45B1-958A-BA5A4825F66A}" type="pres">
      <dgm:prSet presAssocID="{31E4CF4E-EE5D-4A92-B152-7377E97EA6A0}" presName="sibTrans" presStyleLbl="sibTrans1D1" presStyleIdx="1" presStyleCnt="7"/>
      <dgm:spPr/>
    </dgm:pt>
    <dgm:pt modelId="{F5D612B0-DDFE-4A22-ABAD-E61C2381C373}" type="pres">
      <dgm:prSet presAssocID="{31E4CF4E-EE5D-4A92-B152-7377E97EA6A0}" presName="connectorText" presStyleLbl="sibTrans1D1" presStyleIdx="1" presStyleCnt="7"/>
      <dgm:spPr/>
    </dgm:pt>
    <dgm:pt modelId="{0532401B-5D3C-4191-B549-9A5795D732D9}" type="pres">
      <dgm:prSet presAssocID="{511C83EA-AE36-4391-9EBE-3665E6E5C42D}" presName="node" presStyleLbl="node1" presStyleIdx="2" presStyleCnt="8">
        <dgm:presLayoutVars>
          <dgm:bulletEnabled val="1"/>
        </dgm:presLayoutVars>
      </dgm:prSet>
      <dgm:spPr/>
    </dgm:pt>
    <dgm:pt modelId="{D004365D-1F04-4C4A-BEBC-007D3808EBA1}" type="pres">
      <dgm:prSet presAssocID="{9C0DE51C-5C56-4D5A-908F-9A3E85F51338}" presName="sibTrans" presStyleLbl="sibTrans1D1" presStyleIdx="2" presStyleCnt="7"/>
      <dgm:spPr/>
    </dgm:pt>
    <dgm:pt modelId="{973A2974-C465-4775-9865-3398D8EB0FB7}" type="pres">
      <dgm:prSet presAssocID="{9C0DE51C-5C56-4D5A-908F-9A3E85F51338}" presName="connectorText" presStyleLbl="sibTrans1D1" presStyleIdx="2" presStyleCnt="7"/>
      <dgm:spPr/>
    </dgm:pt>
    <dgm:pt modelId="{F3097572-F708-40A4-A4EE-76D3805BA1A7}" type="pres">
      <dgm:prSet presAssocID="{678A13FF-1D00-4294-9F4E-3C08BF638EB6}" presName="node" presStyleLbl="node1" presStyleIdx="3" presStyleCnt="8">
        <dgm:presLayoutVars>
          <dgm:bulletEnabled val="1"/>
        </dgm:presLayoutVars>
      </dgm:prSet>
      <dgm:spPr/>
    </dgm:pt>
    <dgm:pt modelId="{3BC05B54-7514-4657-B33D-BA663437A155}" type="pres">
      <dgm:prSet presAssocID="{D0CC40C9-5E7F-458B-8AAA-8EB9E1313465}" presName="sibTrans" presStyleLbl="sibTrans1D1" presStyleIdx="3" presStyleCnt="7"/>
      <dgm:spPr/>
    </dgm:pt>
    <dgm:pt modelId="{9AFDE92E-9D41-4156-B389-EAB75ED17435}" type="pres">
      <dgm:prSet presAssocID="{D0CC40C9-5E7F-458B-8AAA-8EB9E1313465}" presName="connectorText" presStyleLbl="sibTrans1D1" presStyleIdx="3" presStyleCnt="7"/>
      <dgm:spPr/>
    </dgm:pt>
    <dgm:pt modelId="{EBA6C552-9A97-43AD-972A-19332440F388}" type="pres">
      <dgm:prSet presAssocID="{E44F88A9-9226-4D98-8304-E966F0D8654F}" presName="node" presStyleLbl="node1" presStyleIdx="4" presStyleCnt="8">
        <dgm:presLayoutVars>
          <dgm:bulletEnabled val="1"/>
        </dgm:presLayoutVars>
      </dgm:prSet>
      <dgm:spPr/>
    </dgm:pt>
    <dgm:pt modelId="{C87C69CD-FDD0-496F-94E6-05A490FAD43F}" type="pres">
      <dgm:prSet presAssocID="{3F9B7265-E770-4B91-BD24-1E5397AD702E}" presName="sibTrans" presStyleLbl="sibTrans1D1" presStyleIdx="4" presStyleCnt="7"/>
      <dgm:spPr/>
    </dgm:pt>
    <dgm:pt modelId="{C9FC01D1-DAF9-431A-A2BC-725B9BDA3264}" type="pres">
      <dgm:prSet presAssocID="{3F9B7265-E770-4B91-BD24-1E5397AD702E}" presName="connectorText" presStyleLbl="sibTrans1D1" presStyleIdx="4" presStyleCnt="7"/>
      <dgm:spPr/>
    </dgm:pt>
    <dgm:pt modelId="{134D9101-E52D-479E-AD0F-E3EEE67AC195}" type="pres">
      <dgm:prSet presAssocID="{8E35CD3B-B929-4DAE-BF2C-F8CD262A90D0}" presName="node" presStyleLbl="node1" presStyleIdx="5" presStyleCnt="8">
        <dgm:presLayoutVars>
          <dgm:bulletEnabled val="1"/>
        </dgm:presLayoutVars>
      </dgm:prSet>
      <dgm:spPr/>
    </dgm:pt>
    <dgm:pt modelId="{20EEE331-85F0-4B73-BE47-673D0FA0751A}" type="pres">
      <dgm:prSet presAssocID="{ADCD61BE-1986-4152-89A9-7EE3C00B216F}" presName="sibTrans" presStyleLbl="sibTrans1D1" presStyleIdx="5" presStyleCnt="7"/>
      <dgm:spPr/>
    </dgm:pt>
    <dgm:pt modelId="{69A61C51-414C-458A-A4F7-1EAE35712810}" type="pres">
      <dgm:prSet presAssocID="{ADCD61BE-1986-4152-89A9-7EE3C00B216F}" presName="connectorText" presStyleLbl="sibTrans1D1" presStyleIdx="5" presStyleCnt="7"/>
      <dgm:spPr/>
    </dgm:pt>
    <dgm:pt modelId="{7C5282DE-5787-4548-A7EE-76B502BAA1F9}" type="pres">
      <dgm:prSet presAssocID="{B5AFFE46-6BF7-4A63-AC15-8A4B86A228D7}" presName="node" presStyleLbl="node1" presStyleIdx="6" presStyleCnt="8">
        <dgm:presLayoutVars>
          <dgm:bulletEnabled val="1"/>
        </dgm:presLayoutVars>
      </dgm:prSet>
      <dgm:spPr/>
    </dgm:pt>
    <dgm:pt modelId="{DFB2942A-7FEF-4442-A3BC-5BE8934B5FC8}" type="pres">
      <dgm:prSet presAssocID="{55411832-CA45-4153-AEF6-3B63DF335C52}" presName="sibTrans" presStyleLbl="sibTrans1D1" presStyleIdx="6" presStyleCnt="7"/>
      <dgm:spPr/>
    </dgm:pt>
    <dgm:pt modelId="{768370F6-23E8-479F-838C-23258E02028B}" type="pres">
      <dgm:prSet presAssocID="{55411832-CA45-4153-AEF6-3B63DF335C52}" presName="connectorText" presStyleLbl="sibTrans1D1" presStyleIdx="6" presStyleCnt="7"/>
      <dgm:spPr/>
    </dgm:pt>
    <dgm:pt modelId="{AEF3027D-92A4-4576-AAF7-A29A7DAF752B}" type="pres">
      <dgm:prSet presAssocID="{68E8A5DD-48EC-4997-967C-C3658AB1C276}" presName="node" presStyleLbl="node1" presStyleIdx="7" presStyleCnt="8">
        <dgm:presLayoutVars>
          <dgm:bulletEnabled val="1"/>
        </dgm:presLayoutVars>
      </dgm:prSet>
      <dgm:spPr/>
    </dgm:pt>
  </dgm:ptLst>
  <dgm:cxnLst>
    <dgm:cxn modelId="{DED7A315-C00F-4B21-918C-120C7095CE3C}" srcId="{8E57827D-5BA4-4ED5-A617-6C8360B0D117}" destId="{511C83EA-AE36-4391-9EBE-3665E6E5C42D}" srcOrd="2" destOrd="0" parTransId="{716935BF-55C0-4767-9290-9B465B46E336}" sibTransId="{9C0DE51C-5C56-4D5A-908F-9A3E85F51338}"/>
    <dgm:cxn modelId="{FA1A691A-9F8B-4021-8098-F14D3D95B3C5}" type="presOf" srcId="{8E57827D-5BA4-4ED5-A617-6C8360B0D117}" destId="{0C7C7935-21A9-47F2-9316-95074DABEF33}" srcOrd="0" destOrd="0" presId="urn:microsoft.com/office/officeart/2005/8/layout/bProcess3"/>
    <dgm:cxn modelId="{48105D1B-9681-4BB4-9364-A38644A30DDE}" srcId="{8E57827D-5BA4-4ED5-A617-6C8360B0D117}" destId="{A6760DCB-D9C2-4870-952E-CF3C03830B79}" srcOrd="1" destOrd="0" parTransId="{80C6C382-2A9D-4C41-AD94-858C990094F9}" sibTransId="{31E4CF4E-EE5D-4A92-B152-7377E97EA6A0}"/>
    <dgm:cxn modelId="{F607ED24-D44F-4F2D-898F-3273D4C74BD7}" type="presOf" srcId="{B5AFFE46-6BF7-4A63-AC15-8A4B86A228D7}" destId="{7C5282DE-5787-4548-A7EE-76B502BAA1F9}" srcOrd="0" destOrd="0" presId="urn:microsoft.com/office/officeart/2005/8/layout/bProcess3"/>
    <dgm:cxn modelId="{60642526-7A0C-42D0-8594-BF3C783A121E}" type="presOf" srcId="{A6760DCB-D9C2-4870-952E-CF3C03830B79}" destId="{34C39139-9C02-4B14-9E4B-FD02B1EA5186}" srcOrd="0" destOrd="0" presId="urn:microsoft.com/office/officeart/2005/8/layout/bProcess3"/>
    <dgm:cxn modelId="{AF00D32F-E1B3-43BF-A5AE-8CF72BAAF8A5}" srcId="{8E57827D-5BA4-4ED5-A617-6C8360B0D117}" destId="{E44F88A9-9226-4D98-8304-E966F0D8654F}" srcOrd="4" destOrd="0" parTransId="{1F84EEF1-ED3A-4D6C-8A8C-26D2F71804BB}" sibTransId="{3F9B7265-E770-4B91-BD24-1E5397AD702E}"/>
    <dgm:cxn modelId="{413C3431-07E9-41F8-8BFA-E43B8E86E99F}" type="presOf" srcId="{9C0DE51C-5C56-4D5A-908F-9A3E85F51338}" destId="{973A2974-C465-4775-9865-3398D8EB0FB7}" srcOrd="1" destOrd="0" presId="urn:microsoft.com/office/officeart/2005/8/layout/bProcess3"/>
    <dgm:cxn modelId="{5DF6A133-26E8-4500-A9FB-021422114D45}" type="presOf" srcId="{9C0DE51C-5C56-4D5A-908F-9A3E85F51338}" destId="{D004365D-1F04-4C4A-BEBC-007D3808EBA1}" srcOrd="0" destOrd="0" presId="urn:microsoft.com/office/officeart/2005/8/layout/bProcess3"/>
    <dgm:cxn modelId="{F38D273A-2F99-4449-9705-B20272CD8F81}" type="presOf" srcId="{B5C04919-6AB5-483F-9223-8DAEF6FBEEA6}" destId="{46BBB1CF-3BF4-4204-9058-1FA3B14DF81D}" srcOrd="0" destOrd="0" presId="urn:microsoft.com/office/officeart/2005/8/layout/bProcess3"/>
    <dgm:cxn modelId="{C2117D3D-24F7-45B5-A5C5-94398072180D}" type="presOf" srcId="{68E8A5DD-48EC-4997-967C-C3658AB1C276}" destId="{AEF3027D-92A4-4576-AAF7-A29A7DAF752B}" srcOrd="0" destOrd="0" presId="urn:microsoft.com/office/officeart/2005/8/layout/bProcess3"/>
    <dgm:cxn modelId="{919EEE5E-3F83-4DF0-8F58-95A2D3F46DDF}" srcId="{8E57827D-5BA4-4ED5-A617-6C8360B0D117}" destId="{B5AFFE46-6BF7-4A63-AC15-8A4B86A228D7}" srcOrd="6" destOrd="0" parTransId="{630460DB-644C-4D0D-9D8E-86E0D7D692C8}" sibTransId="{55411832-CA45-4153-AEF6-3B63DF335C52}"/>
    <dgm:cxn modelId="{8353C260-A01B-4141-9284-AA21F684A71C}" srcId="{8E57827D-5BA4-4ED5-A617-6C8360B0D117}" destId="{678A13FF-1D00-4294-9F4E-3C08BF638EB6}" srcOrd="3" destOrd="0" parTransId="{0A3147D7-7401-4AB4-ADAB-333EFFA99A63}" sibTransId="{D0CC40C9-5E7F-458B-8AAA-8EB9E1313465}"/>
    <dgm:cxn modelId="{379FD844-8757-488B-AE3C-398099BFD5C1}" srcId="{8E57827D-5BA4-4ED5-A617-6C8360B0D117}" destId="{B5C04919-6AB5-483F-9223-8DAEF6FBEEA6}" srcOrd="0" destOrd="0" parTransId="{D9828F74-8C01-4822-A87F-6DB1AC0741DF}" sibTransId="{B20051E0-2E21-4F95-8EA1-49342AC67FFD}"/>
    <dgm:cxn modelId="{32452065-B32A-46A5-B826-BC5BC3A8E59E}" srcId="{8E57827D-5BA4-4ED5-A617-6C8360B0D117}" destId="{68E8A5DD-48EC-4997-967C-C3658AB1C276}" srcOrd="7" destOrd="0" parTransId="{74118670-0C88-4F00-BEC0-3BC43A73FC76}" sibTransId="{4AF7AF87-27B1-4602-8175-AF9A5E56325C}"/>
    <dgm:cxn modelId="{A129E448-CE06-4A67-B98F-87D433A8761D}" type="presOf" srcId="{3F9B7265-E770-4B91-BD24-1E5397AD702E}" destId="{C87C69CD-FDD0-496F-94E6-05A490FAD43F}" srcOrd="0" destOrd="0" presId="urn:microsoft.com/office/officeart/2005/8/layout/bProcess3"/>
    <dgm:cxn modelId="{23CE816C-6EE1-4930-8ABE-5E687200BD32}" type="presOf" srcId="{8E35CD3B-B929-4DAE-BF2C-F8CD262A90D0}" destId="{134D9101-E52D-479E-AD0F-E3EEE67AC195}" srcOrd="0" destOrd="0" presId="urn:microsoft.com/office/officeart/2005/8/layout/bProcess3"/>
    <dgm:cxn modelId="{188A034E-7E4F-4FCE-8EC8-91AA59456E03}" type="presOf" srcId="{B20051E0-2E21-4F95-8EA1-49342AC67FFD}" destId="{2A055B7A-4378-4F79-AEB3-44629EA494F0}" srcOrd="0" destOrd="0" presId="urn:microsoft.com/office/officeart/2005/8/layout/bProcess3"/>
    <dgm:cxn modelId="{1BED6871-B0E4-4855-AA79-D2153DB562DD}" type="presOf" srcId="{D0CC40C9-5E7F-458B-8AAA-8EB9E1313465}" destId="{9AFDE92E-9D41-4156-B389-EAB75ED17435}" srcOrd="1" destOrd="0" presId="urn:microsoft.com/office/officeart/2005/8/layout/bProcess3"/>
    <dgm:cxn modelId="{A1C8F177-43E0-4BCA-88A8-703E06B18E4B}" type="presOf" srcId="{55411832-CA45-4153-AEF6-3B63DF335C52}" destId="{768370F6-23E8-479F-838C-23258E02028B}" srcOrd="1" destOrd="0" presId="urn:microsoft.com/office/officeart/2005/8/layout/bProcess3"/>
    <dgm:cxn modelId="{C03EB37C-B2AA-4C46-B121-6A09C94B86E2}" type="presOf" srcId="{678A13FF-1D00-4294-9F4E-3C08BF638EB6}" destId="{F3097572-F708-40A4-A4EE-76D3805BA1A7}" srcOrd="0" destOrd="0" presId="urn:microsoft.com/office/officeart/2005/8/layout/bProcess3"/>
    <dgm:cxn modelId="{32A00783-6416-4A82-BEE4-6C8758E1C53C}" type="presOf" srcId="{D0CC40C9-5E7F-458B-8AAA-8EB9E1313465}" destId="{3BC05B54-7514-4657-B33D-BA663437A155}" srcOrd="0" destOrd="0" presId="urn:microsoft.com/office/officeart/2005/8/layout/bProcess3"/>
    <dgm:cxn modelId="{C4646284-AABD-4A40-890B-E0F3460BE2F3}" type="presOf" srcId="{511C83EA-AE36-4391-9EBE-3665E6E5C42D}" destId="{0532401B-5D3C-4191-B549-9A5795D732D9}" srcOrd="0" destOrd="0" presId="urn:microsoft.com/office/officeart/2005/8/layout/bProcess3"/>
    <dgm:cxn modelId="{B439D799-901F-43F1-9BA1-7163AB109107}" type="presOf" srcId="{ADCD61BE-1986-4152-89A9-7EE3C00B216F}" destId="{69A61C51-414C-458A-A4F7-1EAE35712810}" srcOrd="1" destOrd="0" presId="urn:microsoft.com/office/officeart/2005/8/layout/bProcess3"/>
    <dgm:cxn modelId="{57A01E9C-F5A2-4693-B067-DC7B6C598939}" type="presOf" srcId="{ADCD61BE-1986-4152-89A9-7EE3C00B216F}" destId="{20EEE331-85F0-4B73-BE47-673D0FA0751A}" srcOrd="0" destOrd="0" presId="urn:microsoft.com/office/officeart/2005/8/layout/bProcess3"/>
    <dgm:cxn modelId="{33084FA9-8545-4A38-BA71-3AFB74A86591}" type="presOf" srcId="{B20051E0-2E21-4F95-8EA1-49342AC67FFD}" destId="{90D4AF9A-FC05-4180-9553-409241972B23}" srcOrd="1" destOrd="0" presId="urn:microsoft.com/office/officeart/2005/8/layout/bProcess3"/>
    <dgm:cxn modelId="{2AA8EEB5-316E-4EA7-9DEA-418B221EF238}" type="presOf" srcId="{31E4CF4E-EE5D-4A92-B152-7377E97EA6A0}" destId="{D8C9F722-9EC0-45B1-958A-BA5A4825F66A}" srcOrd="0" destOrd="0" presId="urn:microsoft.com/office/officeart/2005/8/layout/bProcess3"/>
    <dgm:cxn modelId="{922633C3-ECA2-467D-9ABD-2B309764AFE7}" type="presOf" srcId="{3F9B7265-E770-4B91-BD24-1E5397AD702E}" destId="{C9FC01D1-DAF9-431A-A2BC-725B9BDA3264}" srcOrd="1" destOrd="0" presId="urn:microsoft.com/office/officeart/2005/8/layout/bProcess3"/>
    <dgm:cxn modelId="{E6A91ACD-7464-4C2C-9CED-652BD2A3192B}" srcId="{8E57827D-5BA4-4ED5-A617-6C8360B0D117}" destId="{8E35CD3B-B929-4DAE-BF2C-F8CD262A90D0}" srcOrd="5" destOrd="0" parTransId="{719F5050-D609-4309-9C99-427F01CECA03}" sibTransId="{ADCD61BE-1986-4152-89A9-7EE3C00B216F}"/>
    <dgm:cxn modelId="{CB98D0D3-98AB-40A1-8873-AD0920586348}" type="presOf" srcId="{55411832-CA45-4153-AEF6-3B63DF335C52}" destId="{DFB2942A-7FEF-4442-A3BC-5BE8934B5FC8}" srcOrd="0" destOrd="0" presId="urn:microsoft.com/office/officeart/2005/8/layout/bProcess3"/>
    <dgm:cxn modelId="{37E9DEF9-1A61-4689-BFA5-594F5A8AD7E4}" type="presOf" srcId="{E44F88A9-9226-4D98-8304-E966F0D8654F}" destId="{EBA6C552-9A97-43AD-972A-19332440F388}" srcOrd="0" destOrd="0" presId="urn:microsoft.com/office/officeart/2005/8/layout/bProcess3"/>
    <dgm:cxn modelId="{0683C2FA-5E28-45DD-BAB5-512382B60C29}" type="presOf" srcId="{31E4CF4E-EE5D-4A92-B152-7377E97EA6A0}" destId="{F5D612B0-DDFE-4A22-ABAD-E61C2381C373}" srcOrd="1" destOrd="0" presId="urn:microsoft.com/office/officeart/2005/8/layout/bProcess3"/>
    <dgm:cxn modelId="{F45580BB-6A81-4AB0-9AC7-6858813127FF}" type="presParOf" srcId="{0C7C7935-21A9-47F2-9316-95074DABEF33}" destId="{46BBB1CF-3BF4-4204-9058-1FA3B14DF81D}" srcOrd="0" destOrd="0" presId="urn:microsoft.com/office/officeart/2005/8/layout/bProcess3"/>
    <dgm:cxn modelId="{6D4D3BFE-C75D-4875-935C-0DC7CCA82536}" type="presParOf" srcId="{0C7C7935-21A9-47F2-9316-95074DABEF33}" destId="{2A055B7A-4378-4F79-AEB3-44629EA494F0}" srcOrd="1" destOrd="0" presId="urn:microsoft.com/office/officeart/2005/8/layout/bProcess3"/>
    <dgm:cxn modelId="{0A7876E1-9E2A-475E-9F18-EA4556572E27}" type="presParOf" srcId="{2A055B7A-4378-4F79-AEB3-44629EA494F0}" destId="{90D4AF9A-FC05-4180-9553-409241972B23}" srcOrd="0" destOrd="0" presId="urn:microsoft.com/office/officeart/2005/8/layout/bProcess3"/>
    <dgm:cxn modelId="{DFACC24D-B339-45A3-90DF-66DEA4081D7D}" type="presParOf" srcId="{0C7C7935-21A9-47F2-9316-95074DABEF33}" destId="{34C39139-9C02-4B14-9E4B-FD02B1EA5186}" srcOrd="2" destOrd="0" presId="urn:microsoft.com/office/officeart/2005/8/layout/bProcess3"/>
    <dgm:cxn modelId="{252EED83-2900-4DFC-9660-6492E4DD003A}" type="presParOf" srcId="{0C7C7935-21A9-47F2-9316-95074DABEF33}" destId="{D8C9F722-9EC0-45B1-958A-BA5A4825F66A}" srcOrd="3" destOrd="0" presId="urn:microsoft.com/office/officeart/2005/8/layout/bProcess3"/>
    <dgm:cxn modelId="{E8D15429-2523-46C7-9601-DBF4216114B0}" type="presParOf" srcId="{D8C9F722-9EC0-45B1-958A-BA5A4825F66A}" destId="{F5D612B0-DDFE-4A22-ABAD-E61C2381C373}" srcOrd="0" destOrd="0" presId="urn:microsoft.com/office/officeart/2005/8/layout/bProcess3"/>
    <dgm:cxn modelId="{BB9BDA0D-F832-42A2-B51A-428DA49F7147}" type="presParOf" srcId="{0C7C7935-21A9-47F2-9316-95074DABEF33}" destId="{0532401B-5D3C-4191-B549-9A5795D732D9}" srcOrd="4" destOrd="0" presId="urn:microsoft.com/office/officeart/2005/8/layout/bProcess3"/>
    <dgm:cxn modelId="{FB2619C6-C877-4A2F-8CF6-137E38552E19}" type="presParOf" srcId="{0C7C7935-21A9-47F2-9316-95074DABEF33}" destId="{D004365D-1F04-4C4A-BEBC-007D3808EBA1}" srcOrd="5" destOrd="0" presId="urn:microsoft.com/office/officeart/2005/8/layout/bProcess3"/>
    <dgm:cxn modelId="{D2554377-72AF-47CC-A914-3BA3BE7DAC92}" type="presParOf" srcId="{D004365D-1F04-4C4A-BEBC-007D3808EBA1}" destId="{973A2974-C465-4775-9865-3398D8EB0FB7}" srcOrd="0" destOrd="0" presId="urn:microsoft.com/office/officeart/2005/8/layout/bProcess3"/>
    <dgm:cxn modelId="{A58B81E9-F67E-4600-8220-3E4B41097842}" type="presParOf" srcId="{0C7C7935-21A9-47F2-9316-95074DABEF33}" destId="{F3097572-F708-40A4-A4EE-76D3805BA1A7}" srcOrd="6" destOrd="0" presId="urn:microsoft.com/office/officeart/2005/8/layout/bProcess3"/>
    <dgm:cxn modelId="{EC2683A5-405B-4163-BA9D-5AF9A43400DF}" type="presParOf" srcId="{0C7C7935-21A9-47F2-9316-95074DABEF33}" destId="{3BC05B54-7514-4657-B33D-BA663437A155}" srcOrd="7" destOrd="0" presId="urn:microsoft.com/office/officeart/2005/8/layout/bProcess3"/>
    <dgm:cxn modelId="{8E6E581D-4162-4894-9205-0696AB0B1D5E}" type="presParOf" srcId="{3BC05B54-7514-4657-B33D-BA663437A155}" destId="{9AFDE92E-9D41-4156-B389-EAB75ED17435}" srcOrd="0" destOrd="0" presId="urn:microsoft.com/office/officeart/2005/8/layout/bProcess3"/>
    <dgm:cxn modelId="{F8308F17-F753-45FB-ABE8-FB0874D75DC2}" type="presParOf" srcId="{0C7C7935-21A9-47F2-9316-95074DABEF33}" destId="{EBA6C552-9A97-43AD-972A-19332440F388}" srcOrd="8" destOrd="0" presId="urn:microsoft.com/office/officeart/2005/8/layout/bProcess3"/>
    <dgm:cxn modelId="{7B81E8BA-8CF6-4975-823F-71D4A9364D61}" type="presParOf" srcId="{0C7C7935-21A9-47F2-9316-95074DABEF33}" destId="{C87C69CD-FDD0-496F-94E6-05A490FAD43F}" srcOrd="9" destOrd="0" presId="urn:microsoft.com/office/officeart/2005/8/layout/bProcess3"/>
    <dgm:cxn modelId="{7C38EADE-2A26-49A9-A237-0280DB849C89}" type="presParOf" srcId="{C87C69CD-FDD0-496F-94E6-05A490FAD43F}" destId="{C9FC01D1-DAF9-431A-A2BC-725B9BDA3264}" srcOrd="0" destOrd="0" presId="urn:microsoft.com/office/officeart/2005/8/layout/bProcess3"/>
    <dgm:cxn modelId="{66FF9C94-77F0-4FBB-BED3-221E7D5E9946}" type="presParOf" srcId="{0C7C7935-21A9-47F2-9316-95074DABEF33}" destId="{134D9101-E52D-479E-AD0F-E3EEE67AC195}" srcOrd="10" destOrd="0" presId="urn:microsoft.com/office/officeart/2005/8/layout/bProcess3"/>
    <dgm:cxn modelId="{EEBE3BA1-8169-4248-8ED9-DBBDB5DCEE11}" type="presParOf" srcId="{0C7C7935-21A9-47F2-9316-95074DABEF33}" destId="{20EEE331-85F0-4B73-BE47-673D0FA0751A}" srcOrd="11" destOrd="0" presId="urn:microsoft.com/office/officeart/2005/8/layout/bProcess3"/>
    <dgm:cxn modelId="{2685328D-E1E1-4090-9629-F003C95B0A12}" type="presParOf" srcId="{20EEE331-85F0-4B73-BE47-673D0FA0751A}" destId="{69A61C51-414C-458A-A4F7-1EAE35712810}" srcOrd="0" destOrd="0" presId="urn:microsoft.com/office/officeart/2005/8/layout/bProcess3"/>
    <dgm:cxn modelId="{E8CED665-EA12-46F8-88B5-A8BE868F66C9}" type="presParOf" srcId="{0C7C7935-21A9-47F2-9316-95074DABEF33}" destId="{7C5282DE-5787-4548-A7EE-76B502BAA1F9}" srcOrd="12" destOrd="0" presId="urn:microsoft.com/office/officeart/2005/8/layout/bProcess3"/>
    <dgm:cxn modelId="{4818F2BA-24DB-48BD-A4C9-5E86179DF9C1}" type="presParOf" srcId="{0C7C7935-21A9-47F2-9316-95074DABEF33}" destId="{DFB2942A-7FEF-4442-A3BC-5BE8934B5FC8}" srcOrd="13" destOrd="0" presId="urn:microsoft.com/office/officeart/2005/8/layout/bProcess3"/>
    <dgm:cxn modelId="{A1EEA739-8999-436E-9863-3E80A735A95C}" type="presParOf" srcId="{DFB2942A-7FEF-4442-A3BC-5BE8934B5FC8}" destId="{768370F6-23E8-479F-838C-23258E02028B}" srcOrd="0" destOrd="0" presId="urn:microsoft.com/office/officeart/2005/8/layout/bProcess3"/>
    <dgm:cxn modelId="{59A50033-D7BB-4D0E-A228-622EAFECA6D5}" type="presParOf" srcId="{0C7C7935-21A9-47F2-9316-95074DABEF33}" destId="{AEF3027D-92A4-4576-AAF7-A29A7DAF752B}" srcOrd="14" destOrd="0" presId="urn:microsoft.com/office/officeart/2005/8/layout/bProcess3"/>
  </dgm:cxnLst>
  <dgm:bg>
    <a:noFill/>
  </dgm:bg>
  <dgm:whole/>
  <dgm:extLst>
    <a:ext uri="http://schemas.microsoft.com/office/drawing/2008/diagram">
      <dsp:dataModelExt xmlns:dsp="http://schemas.microsoft.com/office/drawing/2008/diagram" relId="rId1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57827D-5BA4-4ED5-A617-6C8360B0D117}" type="doc">
      <dgm:prSet loTypeId="urn:microsoft.com/office/officeart/2005/8/layout/pyramid1" loCatId="pyramid" qsTypeId="urn:microsoft.com/office/officeart/2005/8/quickstyle/3d5#1" qsCatId="3D" csTypeId="urn:microsoft.com/office/officeart/2005/8/colors/accent4_5#1" csCatId="accent4" phldr="1"/>
      <dgm:spPr/>
      <dgm:t>
        <a:bodyPr/>
        <a:lstStyle/>
        <a:p>
          <a:endParaRPr lang="en-US"/>
        </a:p>
      </dgm:t>
    </dgm:pt>
    <dgm:pt modelId="{E738B745-6472-4367-BE9F-AB0EF446569E}">
      <dgm:prSet custT="1"/>
      <dgm:spPr>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r>
            <a:rPr lang="en-US" sz="2400" dirty="0"/>
            <a:t> </a:t>
          </a:r>
          <a:r>
            <a:rPr lang="en-US" sz="2400" dirty="0">
              <a:solidFill>
                <a:schemeClr val="bg1"/>
              </a:solidFill>
            </a:rPr>
            <a:t>TTPs</a:t>
          </a:r>
        </a:p>
      </dgm:t>
    </dgm:pt>
    <dgm:pt modelId="{3ECFA31C-6798-44EC-94C2-70BDD18B35B8}" type="parTrans" cxnId="{DFE1E574-D3FB-46F1-A313-50D81E88C9A5}">
      <dgm:prSet/>
      <dgm:spPr/>
      <dgm:t>
        <a:bodyPr/>
        <a:lstStyle/>
        <a:p>
          <a:endParaRPr lang="en-US"/>
        </a:p>
      </dgm:t>
    </dgm:pt>
    <dgm:pt modelId="{202BC355-FB1B-4BFE-96F4-B66EAAE411AB}" type="sibTrans" cxnId="{DFE1E574-D3FB-46F1-A313-50D81E88C9A5}">
      <dgm:prSet/>
      <dgm:spPr/>
      <dgm:t>
        <a:bodyPr/>
        <a:lstStyle/>
        <a:p>
          <a:endParaRPr lang="en-US"/>
        </a:p>
      </dgm:t>
    </dgm:pt>
    <dgm:pt modelId="{E9BB0C1B-E243-46F3-9EA7-98EFED69E11A}">
      <dgm:prSet custT="1"/>
      <dgm:spPr>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r>
            <a:rPr lang="en-US" sz="2400" dirty="0">
              <a:solidFill>
                <a:schemeClr val="bg1"/>
              </a:solidFill>
            </a:rPr>
            <a:t>Tools</a:t>
          </a:r>
        </a:p>
      </dgm:t>
    </dgm:pt>
    <dgm:pt modelId="{D5DC478E-54EE-403C-8156-9C85A506E82D}" type="parTrans" cxnId="{8CF5FE5E-5E6F-4B90-AFD7-872F40CE09F6}">
      <dgm:prSet/>
      <dgm:spPr/>
      <dgm:t>
        <a:bodyPr/>
        <a:lstStyle/>
        <a:p>
          <a:endParaRPr lang="en-US"/>
        </a:p>
      </dgm:t>
    </dgm:pt>
    <dgm:pt modelId="{9FB554FE-44D6-4A29-A39D-ED6E84090EC8}" type="sibTrans" cxnId="{8CF5FE5E-5E6F-4B90-AFD7-872F40CE09F6}">
      <dgm:prSet/>
      <dgm:spPr/>
      <dgm:t>
        <a:bodyPr/>
        <a:lstStyle/>
        <a:p>
          <a:endParaRPr lang="en-US"/>
        </a:p>
      </dgm:t>
    </dgm:pt>
    <dgm:pt modelId="{1BBA464B-02C3-4A6A-928C-237BCA639B30}">
      <dgm:prSet custT="1"/>
      <dgm:spPr>
        <a:solidFill>
          <a:schemeClr val="accent4">
            <a:lumMod val="75000"/>
            <a:alpha val="75000"/>
          </a:schemeClr>
        </a:solidFill>
        <a:ln>
          <a:gradFill flip="none" rotWithShape="1">
            <a:gsLst>
              <a:gs pos="0">
                <a:schemeClr val="accent4">
                  <a:lumMod val="40000"/>
                  <a:lumOff val="60000"/>
                </a:schemeClr>
              </a:gs>
              <a:gs pos="45000">
                <a:schemeClr val="bg1"/>
              </a:gs>
              <a:gs pos="100000">
                <a:srgbClr val="5E3587"/>
              </a:gs>
            </a:gsLst>
            <a:path path="circle">
              <a:fillToRect l="50000" t="130000" r="50000" b="-30000"/>
            </a:path>
            <a:tileRect/>
          </a:gradFill>
        </a:ln>
      </dgm:spPr>
      <dgm:t>
        <a:bodyPr/>
        <a:lstStyle/>
        <a:p>
          <a:r>
            <a:rPr lang="en-US" sz="2400" dirty="0">
              <a:solidFill>
                <a:schemeClr val="bg1"/>
              </a:solidFill>
            </a:rPr>
            <a:t>Network &amp; Host Artifacts</a:t>
          </a:r>
        </a:p>
      </dgm:t>
    </dgm:pt>
    <dgm:pt modelId="{BF15A4A6-4F58-4C14-B327-00774C720687}" type="parTrans" cxnId="{DA8AEB17-6741-45C3-B7B8-F28E7A5FEA68}">
      <dgm:prSet/>
      <dgm:spPr/>
      <dgm:t>
        <a:bodyPr/>
        <a:lstStyle/>
        <a:p>
          <a:endParaRPr lang="en-US"/>
        </a:p>
      </dgm:t>
    </dgm:pt>
    <dgm:pt modelId="{A37054B8-C8F6-4F2F-8D2A-4B236D47D92F}" type="sibTrans" cxnId="{DA8AEB17-6741-45C3-B7B8-F28E7A5FEA68}">
      <dgm:prSet/>
      <dgm:spPr/>
      <dgm:t>
        <a:bodyPr/>
        <a:lstStyle/>
        <a:p>
          <a:endParaRPr lang="en-US"/>
        </a:p>
      </dgm:t>
    </dgm:pt>
    <dgm:pt modelId="{9F204836-D1D8-4C2C-B7F6-886681F171D6}">
      <dgm:prSet custT="1"/>
      <dgm:spPr>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r>
            <a:rPr lang="en-US" sz="2400" dirty="0">
              <a:solidFill>
                <a:schemeClr val="bg1"/>
              </a:solidFill>
            </a:rPr>
            <a:t>Domain Names</a:t>
          </a:r>
        </a:p>
      </dgm:t>
    </dgm:pt>
    <dgm:pt modelId="{9CC3FDAA-6C52-4611-AF71-7C6E2D2507AA}" type="parTrans" cxnId="{44585337-EF74-4898-83B2-3F9A201C9B49}">
      <dgm:prSet/>
      <dgm:spPr/>
      <dgm:t>
        <a:bodyPr/>
        <a:lstStyle/>
        <a:p>
          <a:endParaRPr lang="en-US"/>
        </a:p>
      </dgm:t>
    </dgm:pt>
    <dgm:pt modelId="{F0352FC6-047C-473A-91C2-5304C25B0FF5}" type="sibTrans" cxnId="{44585337-EF74-4898-83B2-3F9A201C9B49}">
      <dgm:prSet/>
      <dgm:spPr/>
      <dgm:t>
        <a:bodyPr/>
        <a:lstStyle/>
        <a:p>
          <a:endParaRPr lang="en-US"/>
        </a:p>
      </dgm:t>
    </dgm:pt>
    <dgm:pt modelId="{D2311913-E6D3-4F18-9A71-161C732EE630}">
      <dgm:prSet custT="1"/>
      <dgm:spPr>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r>
            <a:rPr lang="en-US" sz="2400" dirty="0">
              <a:solidFill>
                <a:schemeClr val="bg1"/>
              </a:solidFill>
            </a:rPr>
            <a:t>IP Addresses</a:t>
          </a:r>
        </a:p>
      </dgm:t>
    </dgm:pt>
    <dgm:pt modelId="{02D467DA-8346-41AD-B15A-E9A1F004A651}" type="parTrans" cxnId="{3C4AF7DA-A4AA-4292-8711-65A7E181921C}">
      <dgm:prSet/>
      <dgm:spPr/>
      <dgm:t>
        <a:bodyPr/>
        <a:lstStyle/>
        <a:p>
          <a:endParaRPr lang="en-US"/>
        </a:p>
      </dgm:t>
    </dgm:pt>
    <dgm:pt modelId="{BE1BA2B4-F2FA-4C28-97DC-92ADEB1941D8}" type="sibTrans" cxnId="{3C4AF7DA-A4AA-4292-8711-65A7E181921C}">
      <dgm:prSet/>
      <dgm:spPr/>
      <dgm:t>
        <a:bodyPr/>
        <a:lstStyle/>
        <a:p>
          <a:endParaRPr lang="en-US"/>
        </a:p>
      </dgm:t>
    </dgm:pt>
    <dgm:pt modelId="{CAFF5A06-A974-447E-9A85-9573DB52D764}">
      <dgm:prSet custT="1"/>
      <dgm:spPr>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r>
            <a:rPr lang="en-US" sz="2400" dirty="0">
              <a:solidFill>
                <a:schemeClr val="bg1"/>
              </a:solidFill>
            </a:rPr>
            <a:t>Hash Values</a:t>
          </a:r>
        </a:p>
      </dgm:t>
    </dgm:pt>
    <dgm:pt modelId="{9EFC54AA-24B5-4C6A-8778-9C3D3473E74F}" type="parTrans" cxnId="{B0EA15DC-6708-4592-B7F8-64B0DCC3D645}">
      <dgm:prSet/>
      <dgm:spPr/>
      <dgm:t>
        <a:bodyPr/>
        <a:lstStyle/>
        <a:p>
          <a:endParaRPr lang="en-US"/>
        </a:p>
      </dgm:t>
    </dgm:pt>
    <dgm:pt modelId="{FA53C533-3B22-48B2-8CE1-F23FE2070B5C}" type="sibTrans" cxnId="{B0EA15DC-6708-4592-B7F8-64B0DCC3D645}">
      <dgm:prSet/>
      <dgm:spPr/>
      <dgm:t>
        <a:bodyPr/>
        <a:lstStyle/>
        <a:p>
          <a:endParaRPr lang="en-US"/>
        </a:p>
      </dgm:t>
    </dgm:pt>
    <dgm:pt modelId="{5A1679B8-188A-4B70-887C-66D8DF6BF2C6}" type="pres">
      <dgm:prSet presAssocID="{8E57827D-5BA4-4ED5-A617-6C8360B0D117}" presName="Name0" presStyleCnt="0">
        <dgm:presLayoutVars>
          <dgm:dir/>
          <dgm:animLvl val="lvl"/>
          <dgm:resizeHandles val="exact"/>
        </dgm:presLayoutVars>
      </dgm:prSet>
      <dgm:spPr/>
    </dgm:pt>
    <dgm:pt modelId="{CD87F10F-98C0-4276-99D3-673EB33792FD}" type="pres">
      <dgm:prSet presAssocID="{E738B745-6472-4367-BE9F-AB0EF446569E}" presName="Name8" presStyleCnt="0"/>
      <dgm:spPr/>
    </dgm:pt>
    <dgm:pt modelId="{C2A153E6-8022-42E0-9747-A9E18F4EBA38}" type="pres">
      <dgm:prSet presAssocID="{E738B745-6472-4367-BE9F-AB0EF446569E}" presName="level" presStyleLbl="node1" presStyleIdx="0" presStyleCnt="6">
        <dgm:presLayoutVars>
          <dgm:chMax val="1"/>
          <dgm:bulletEnabled val="1"/>
        </dgm:presLayoutVars>
      </dgm:prSet>
      <dgm:spPr/>
    </dgm:pt>
    <dgm:pt modelId="{4E88F849-46F7-418A-8641-3FC63D8E9BDE}" type="pres">
      <dgm:prSet presAssocID="{E738B745-6472-4367-BE9F-AB0EF446569E}" presName="levelTx" presStyleLbl="revTx" presStyleIdx="0" presStyleCnt="0">
        <dgm:presLayoutVars>
          <dgm:chMax val="1"/>
          <dgm:bulletEnabled val="1"/>
        </dgm:presLayoutVars>
      </dgm:prSet>
      <dgm:spPr/>
    </dgm:pt>
    <dgm:pt modelId="{D31F4CB6-B1E3-4AB5-A70B-E3D99CDBF342}" type="pres">
      <dgm:prSet presAssocID="{E9BB0C1B-E243-46F3-9EA7-98EFED69E11A}" presName="Name8" presStyleCnt="0"/>
      <dgm:spPr/>
    </dgm:pt>
    <dgm:pt modelId="{AAC1AF77-95B1-415D-AAFD-C013C5A4E5C0}" type="pres">
      <dgm:prSet presAssocID="{E9BB0C1B-E243-46F3-9EA7-98EFED69E11A}" presName="level" presStyleLbl="node1" presStyleIdx="1" presStyleCnt="6">
        <dgm:presLayoutVars>
          <dgm:chMax val="1"/>
          <dgm:bulletEnabled val="1"/>
        </dgm:presLayoutVars>
      </dgm:prSet>
      <dgm:spPr/>
    </dgm:pt>
    <dgm:pt modelId="{F92755CA-1844-45FB-BD1D-5CE1CE02880E}" type="pres">
      <dgm:prSet presAssocID="{E9BB0C1B-E243-46F3-9EA7-98EFED69E11A}" presName="levelTx" presStyleLbl="revTx" presStyleIdx="0" presStyleCnt="0">
        <dgm:presLayoutVars>
          <dgm:chMax val="1"/>
          <dgm:bulletEnabled val="1"/>
        </dgm:presLayoutVars>
      </dgm:prSet>
      <dgm:spPr/>
    </dgm:pt>
    <dgm:pt modelId="{F3E88D6E-EC6C-48DC-92A2-4CFF2DE759E3}" type="pres">
      <dgm:prSet presAssocID="{1BBA464B-02C3-4A6A-928C-237BCA639B30}" presName="Name8" presStyleCnt="0"/>
      <dgm:spPr/>
    </dgm:pt>
    <dgm:pt modelId="{9F226D5B-AA63-49A2-BB06-4284D63E6590}" type="pres">
      <dgm:prSet presAssocID="{1BBA464B-02C3-4A6A-928C-237BCA639B30}" presName="level" presStyleLbl="node1" presStyleIdx="2" presStyleCnt="6">
        <dgm:presLayoutVars>
          <dgm:chMax val="1"/>
          <dgm:bulletEnabled val="1"/>
        </dgm:presLayoutVars>
      </dgm:prSet>
      <dgm:spPr/>
    </dgm:pt>
    <dgm:pt modelId="{48DCA685-E361-4CC0-8911-EDE219D119D5}" type="pres">
      <dgm:prSet presAssocID="{1BBA464B-02C3-4A6A-928C-237BCA639B30}" presName="levelTx" presStyleLbl="revTx" presStyleIdx="0" presStyleCnt="0">
        <dgm:presLayoutVars>
          <dgm:chMax val="1"/>
          <dgm:bulletEnabled val="1"/>
        </dgm:presLayoutVars>
      </dgm:prSet>
      <dgm:spPr/>
    </dgm:pt>
    <dgm:pt modelId="{D925B205-5220-46D7-BC49-3F3CDB63F7EA}" type="pres">
      <dgm:prSet presAssocID="{9F204836-D1D8-4C2C-B7F6-886681F171D6}" presName="Name8" presStyleCnt="0"/>
      <dgm:spPr/>
    </dgm:pt>
    <dgm:pt modelId="{E6F55D71-7B50-4640-ACF7-CBD46DB5032B}" type="pres">
      <dgm:prSet presAssocID="{9F204836-D1D8-4C2C-B7F6-886681F171D6}" presName="level" presStyleLbl="node1" presStyleIdx="3" presStyleCnt="6">
        <dgm:presLayoutVars>
          <dgm:chMax val="1"/>
          <dgm:bulletEnabled val="1"/>
        </dgm:presLayoutVars>
      </dgm:prSet>
      <dgm:spPr/>
    </dgm:pt>
    <dgm:pt modelId="{0E40CBBF-31C2-4986-977E-FFAEE5223E2C}" type="pres">
      <dgm:prSet presAssocID="{9F204836-D1D8-4C2C-B7F6-886681F171D6}" presName="levelTx" presStyleLbl="revTx" presStyleIdx="0" presStyleCnt="0">
        <dgm:presLayoutVars>
          <dgm:chMax val="1"/>
          <dgm:bulletEnabled val="1"/>
        </dgm:presLayoutVars>
      </dgm:prSet>
      <dgm:spPr/>
    </dgm:pt>
    <dgm:pt modelId="{8584C84A-1980-4B1F-9F10-1BED8FE31237}" type="pres">
      <dgm:prSet presAssocID="{D2311913-E6D3-4F18-9A71-161C732EE630}" presName="Name8" presStyleCnt="0"/>
      <dgm:spPr/>
    </dgm:pt>
    <dgm:pt modelId="{653B1BEC-855B-4753-B83F-AB93F57BEA74}" type="pres">
      <dgm:prSet presAssocID="{D2311913-E6D3-4F18-9A71-161C732EE630}" presName="level" presStyleLbl="node1" presStyleIdx="4" presStyleCnt="6" custLinFactNeighborX="-372" custLinFactNeighborY="-1693">
        <dgm:presLayoutVars>
          <dgm:chMax val="1"/>
          <dgm:bulletEnabled val="1"/>
        </dgm:presLayoutVars>
      </dgm:prSet>
      <dgm:spPr/>
    </dgm:pt>
    <dgm:pt modelId="{45D7BDC1-1D4A-4D86-813E-B4CCB6F102E1}" type="pres">
      <dgm:prSet presAssocID="{D2311913-E6D3-4F18-9A71-161C732EE630}" presName="levelTx" presStyleLbl="revTx" presStyleIdx="0" presStyleCnt="0">
        <dgm:presLayoutVars>
          <dgm:chMax val="1"/>
          <dgm:bulletEnabled val="1"/>
        </dgm:presLayoutVars>
      </dgm:prSet>
      <dgm:spPr/>
    </dgm:pt>
    <dgm:pt modelId="{F071BFA0-24AD-40BC-A060-A7356F5FDD1A}" type="pres">
      <dgm:prSet presAssocID="{CAFF5A06-A974-447E-9A85-9573DB52D764}" presName="Name8" presStyleCnt="0"/>
      <dgm:spPr/>
    </dgm:pt>
    <dgm:pt modelId="{440821A3-2417-4A85-8178-04DFD02FDB54}" type="pres">
      <dgm:prSet presAssocID="{CAFF5A06-A974-447E-9A85-9573DB52D764}" presName="level" presStyleLbl="node1" presStyleIdx="5" presStyleCnt="6">
        <dgm:presLayoutVars>
          <dgm:chMax val="1"/>
          <dgm:bulletEnabled val="1"/>
        </dgm:presLayoutVars>
      </dgm:prSet>
      <dgm:spPr/>
    </dgm:pt>
    <dgm:pt modelId="{8EBB5CCB-10B1-4DA0-85BD-9D7E1AE36EE8}" type="pres">
      <dgm:prSet presAssocID="{CAFF5A06-A974-447E-9A85-9573DB52D764}" presName="levelTx" presStyleLbl="revTx" presStyleIdx="0" presStyleCnt="0">
        <dgm:presLayoutVars>
          <dgm:chMax val="1"/>
          <dgm:bulletEnabled val="1"/>
        </dgm:presLayoutVars>
      </dgm:prSet>
      <dgm:spPr/>
    </dgm:pt>
  </dgm:ptLst>
  <dgm:cxnLst>
    <dgm:cxn modelId="{DA8AEB17-6741-45C3-B7B8-F28E7A5FEA68}" srcId="{8E57827D-5BA4-4ED5-A617-6C8360B0D117}" destId="{1BBA464B-02C3-4A6A-928C-237BCA639B30}" srcOrd="2" destOrd="0" parTransId="{BF15A4A6-4F58-4C14-B327-00774C720687}" sibTransId="{A37054B8-C8F6-4F2F-8D2A-4B236D47D92F}"/>
    <dgm:cxn modelId="{A6B9D82A-AFB5-46D6-B57B-D3D2D3C81613}" type="presOf" srcId="{8E57827D-5BA4-4ED5-A617-6C8360B0D117}" destId="{5A1679B8-188A-4B70-887C-66D8DF6BF2C6}" srcOrd="0" destOrd="0" presId="urn:microsoft.com/office/officeart/2005/8/layout/pyramid1"/>
    <dgm:cxn modelId="{44585337-EF74-4898-83B2-3F9A201C9B49}" srcId="{8E57827D-5BA4-4ED5-A617-6C8360B0D117}" destId="{9F204836-D1D8-4C2C-B7F6-886681F171D6}" srcOrd="3" destOrd="0" parTransId="{9CC3FDAA-6C52-4611-AF71-7C6E2D2507AA}" sibTransId="{F0352FC6-047C-473A-91C2-5304C25B0FF5}"/>
    <dgm:cxn modelId="{8CF5FE5E-5E6F-4B90-AFD7-872F40CE09F6}" srcId="{8E57827D-5BA4-4ED5-A617-6C8360B0D117}" destId="{E9BB0C1B-E243-46F3-9EA7-98EFED69E11A}" srcOrd="1" destOrd="0" parTransId="{D5DC478E-54EE-403C-8156-9C85A506E82D}" sibTransId="{9FB554FE-44D6-4A29-A39D-ED6E84090EC8}"/>
    <dgm:cxn modelId="{FF1D264B-2D67-4C1A-9161-DB54D916C180}" type="presOf" srcId="{CAFF5A06-A974-447E-9A85-9573DB52D764}" destId="{440821A3-2417-4A85-8178-04DFD02FDB54}" srcOrd="0" destOrd="0" presId="urn:microsoft.com/office/officeart/2005/8/layout/pyramid1"/>
    <dgm:cxn modelId="{A485024E-9F5A-4A53-AE0A-153C8CA1122A}" type="presOf" srcId="{E9BB0C1B-E243-46F3-9EA7-98EFED69E11A}" destId="{AAC1AF77-95B1-415D-AAFD-C013C5A4E5C0}" srcOrd="0" destOrd="0" presId="urn:microsoft.com/office/officeart/2005/8/layout/pyramid1"/>
    <dgm:cxn modelId="{004A7C73-4F34-434B-BD68-96803D7F7619}" type="presOf" srcId="{E738B745-6472-4367-BE9F-AB0EF446569E}" destId="{4E88F849-46F7-418A-8641-3FC63D8E9BDE}" srcOrd="1" destOrd="0" presId="urn:microsoft.com/office/officeart/2005/8/layout/pyramid1"/>
    <dgm:cxn modelId="{2C90BE73-2036-4D5B-BC54-1587209B9F86}" type="presOf" srcId="{9F204836-D1D8-4C2C-B7F6-886681F171D6}" destId="{0E40CBBF-31C2-4986-977E-FFAEE5223E2C}" srcOrd="1" destOrd="0" presId="urn:microsoft.com/office/officeart/2005/8/layout/pyramid1"/>
    <dgm:cxn modelId="{DFE1E574-D3FB-46F1-A313-50D81E88C9A5}" srcId="{8E57827D-5BA4-4ED5-A617-6C8360B0D117}" destId="{E738B745-6472-4367-BE9F-AB0EF446569E}" srcOrd="0" destOrd="0" parTransId="{3ECFA31C-6798-44EC-94C2-70BDD18B35B8}" sibTransId="{202BC355-FB1B-4BFE-96F4-B66EAAE411AB}"/>
    <dgm:cxn modelId="{C9836778-349D-4D2E-9292-F41BCD64AFB6}" type="presOf" srcId="{D2311913-E6D3-4F18-9A71-161C732EE630}" destId="{653B1BEC-855B-4753-B83F-AB93F57BEA74}" srcOrd="0" destOrd="0" presId="urn:microsoft.com/office/officeart/2005/8/layout/pyramid1"/>
    <dgm:cxn modelId="{3BABAF88-100E-40DC-86CB-C839DED7F61E}" type="presOf" srcId="{1BBA464B-02C3-4A6A-928C-237BCA639B30}" destId="{9F226D5B-AA63-49A2-BB06-4284D63E6590}" srcOrd="0" destOrd="0" presId="urn:microsoft.com/office/officeart/2005/8/layout/pyramid1"/>
    <dgm:cxn modelId="{BC0A8298-1A95-4436-A1F0-F29C60BFE42B}" type="presOf" srcId="{D2311913-E6D3-4F18-9A71-161C732EE630}" destId="{45D7BDC1-1D4A-4D86-813E-B4CCB6F102E1}" srcOrd="1" destOrd="0" presId="urn:microsoft.com/office/officeart/2005/8/layout/pyramid1"/>
    <dgm:cxn modelId="{62D85599-05C1-400E-85EC-ACD4231E6998}" type="presOf" srcId="{E9BB0C1B-E243-46F3-9EA7-98EFED69E11A}" destId="{F92755CA-1844-45FB-BD1D-5CE1CE02880E}" srcOrd="1" destOrd="0" presId="urn:microsoft.com/office/officeart/2005/8/layout/pyramid1"/>
    <dgm:cxn modelId="{DE93A8B0-FC3A-49CB-81E3-FF4A155BA3EC}" type="presOf" srcId="{1BBA464B-02C3-4A6A-928C-237BCA639B30}" destId="{48DCA685-E361-4CC0-8911-EDE219D119D5}" srcOrd="1" destOrd="0" presId="urn:microsoft.com/office/officeart/2005/8/layout/pyramid1"/>
    <dgm:cxn modelId="{FE660EBD-7B43-41E4-A334-64B5D3A8213B}" type="presOf" srcId="{E738B745-6472-4367-BE9F-AB0EF446569E}" destId="{C2A153E6-8022-42E0-9747-A9E18F4EBA38}" srcOrd="0" destOrd="0" presId="urn:microsoft.com/office/officeart/2005/8/layout/pyramid1"/>
    <dgm:cxn modelId="{6A9373CE-6DFE-4DEA-92C6-3AF4DFA07AF5}" type="presOf" srcId="{9F204836-D1D8-4C2C-B7F6-886681F171D6}" destId="{E6F55D71-7B50-4640-ACF7-CBD46DB5032B}" srcOrd="0" destOrd="0" presId="urn:microsoft.com/office/officeart/2005/8/layout/pyramid1"/>
    <dgm:cxn modelId="{43E449D5-738F-4A1A-B951-F5C45EA95FE1}" type="presOf" srcId="{CAFF5A06-A974-447E-9A85-9573DB52D764}" destId="{8EBB5CCB-10B1-4DA0-85BD-9D7E1AE36EE8}" srcOrd="1" destOrd="0" presId="urn:microsoft.com/office/officeart/2005/8/layout/pyramid1"/>
    <dgm:cxn modelId="{3C4AF7DA-A4AA-4292-8711-65A7E181921C}" srcId="{8E57827D-5BA4-4ED5-A617-6C8360B0D117}" destId="{D2311913-E6D3-4F18-9A71-161C732EE630}" srcOrd="4" destOrd="0" parTransId="{02D467DA-8346-41AD-B15A-E9A1F004A651}" sibTransId="{BE1BA2B4-F2FA-4C28-97DC-92ADEB1941D8}"/>
    <dgm:cxn modelId="{B0EA15DC-6708-4592-B7F8-64B0DCC3D645}" srcId="{8E57827D-5BA4-4ED5-A617-6C8360B0D117}" destId="{CAFF5A06-A974-447E-9A85-9573DB52D764}" srcOrd="5" destOrd="0" parTransId="{9EFC54AA-24B5-4C6A-8778-9C3D3473E74F}" sibTransId="{FA53C533-3B22-48B2-8CE1-F23FE2070B5C}"/>
    <dgm:cxn modelId="{DB9F4CC3-7F87-4F83-A6C2-CB1B2A041273}" type="presParOf" srcId="{5A1679B8-188A-4B70-887C-66D8DF6BF2C6}" destId="{CD87F10F-98C0-4276-99D3-673EB33792FD}" srcOrd="0" destOrd="0" presId="urn:microsoft.com/office/officeart/2005/8/layout/pyramid1"/>
    <dgm:cxn modelId="{CEE478FB-B43B-45CD-A23F-CB2DF9892605}" type="presParOf" srcId="{CD87F10F-98C0-4276-99D3-673EB33792FD}" destId="{C2A153E6-8022-42E0-9747-A9E18F4EBA38}" srcOrd="0" destOrd="0" presId="urn:microsoft.com/office/officeart/2005/8/layout/pyramid1"/>
    <dgm:cxn modelId="{DCF12ECA-6BA0-45A6-A064-CF27AF2BF9BA}" type="presParOf" srcId="{CD87F10F-98C0-4276-99D3-673EB33792FD}" destId="{4E88F849-46F7-418A-8641-3FC63D8E9BDE}" srcOrd="1" destOrd="0" presId="urn:microsoft.com/office/officeart/2005/8/layout/pyramid1"/>
    <dgm:cxn modelId="{1A92E194-CE89-44F5-83A5-3980DEAB8C08}" type="presParOf" srcId="{5A1679B8-188A-4B70-887C-66D8DF6BF2C6}" destId="{D31F4CB6-B1E3-4AB5-A70B-E3D99CDBF342}" srcOrd="1" destOrd="0" presId="urn:microsoft.com/office/officeart/2005/8/layout/pyramid1"/>
    <dgm:cxn modelId="{5DC64924-F556-4584-A123-C1289710A100}" type="presParOf" srcId="{D31F4CB6-B1E3-4AB5-A70B-E3D99CDBF342}" destId="{AAC1AF77-95B1-415D-AAFD-C013C5A4E5C0}" srcOrd="0" destOrd="0" presId="urn:microsoft.com/office/officeart/2005/8/layout/pyramid1"/>
    <dgm:cxn modelId="{AFF13393-813D-418A-A009-485198AC3ADB}" type="presParOf" srcId="{D31F4CB6-B1E3-4AB5-A70B-E3D99CDBF342}" destId="{F92755CA-1844-45FB-BD1D-5CE1CE02880E}" srcOrd="1" destOrd="0" presId="urn:microsoft.com/office/officeart/2005/8/layout/pyramid1"/>
    <dgm:cxn modelId="{C8E803DE-FB8F-41F7-B43E-3D0950C4FC45}" type="presParOf" srcId="{5A1679B8-188A-4B70-887C-66D8DF6BF2C6}" destId="{F3E88D6E-EC6C-48DC-92A2-4CFF2DE759E3}" srcOrd="2" destOrd="0" presId="urn:microsoft.com/office/officeart/2005/8/layout/pyramid1"/>
    <dgm:cxn modelId="{9413EB7A-4E39-4AC7-8E27-00EA1516CEF3}" type="presParOf" srcId="{F3E88D6E-EC6C-48DC-92A2-4CFF2DE759E3}" destId="{9F226D5B-AA63-49A2-BB06-4284D63E6590}" srcOrd="0" destOrd="0" presId="urn:microsoft.com/office/officeart/2005/8/layout/pyramid1"/>
    <dgm:cxn modelId="{15358301-1A60-41B9-AA86-CC7A10EF190C}" type="presParOf" srcId="{F3E88D6E-EC6C-48DC-92A2-4CFF2DE759E3}" destId="{48DCA685-E361-4CC0-8911-EDE219D119D5}" srcOrd="1" destOrd="0" presId="urn:microsoft.com/office/officeart/2005/8/layout/pyramid1"/>
    <dgm:cxn modelId="{3D5108E8-4D31-4753-9ABD-56466A1DE3FD}" type="presParOf" srcId="{5A1679B8-188A-4B70-887C-66D8DF6BF2C6}" destId="{D925B205-5220-46D7-BC49-3F3CDB63F7EA}" srcOrd="3" destOrd="0" presId="urn:microsoft.com/office/officeart/2005/8/layout/pyramid1"/>
    <dgm:cxn modelId="{E67C33BF-DD9A-4359-A093-9C53A6A69C03}" type="presParOf" srcId="{D925B205-5220-46D7-BC49-3F3CDB63F7EA}" destId="{E6F55D71-7B50-4640-ACF7-CBD46DB5032B}" srcOrd="0" destOrd="0" presId="urn:microsoft.com/office/officeart/2005/8/layout/pyramid1"/>
    <dgm:cxn modelId="{58DF80EA-7E2C-4CA8-AB30-1AAC82723D2C}" type="presParOf" srcId="{D925B205-5220-46D7-BC49-3F3CDB63F7EA}" destId="{0E40CBBF-31C2-4986-977E-FFAEE5223E2C}" srcOrd="1" destOrd="0" presId="urn:microsoft.com/office/officeart/2005/8/layout/pyramid1"/>
    <dgm:cxn modelId="{5CC226AD-0D05-4447-9EE7-9C8A36B38761}" type="presParOf" srcId="{5A1679B8-188A-4B70-887C-66D8DF6BF2C6}" destId="{8584C84A-1980-4B1F-9F10-1BED8FE31237}" srcOrd="4" destOrd="0" presId="urn:microsoft.com/office/officeart/2005/8/layout/pyramid1"/>
    <dgm:cxn modelId="{FBEFC97C-4EB8-4C06-931D-A61BD860D8F7}" type="presParOf" srcId="{8584C84A-1980-4B1F-9F10-1BED8FE31237}" destId="{653B1BEC-855B-4753-B83F-AB93F57BEA74}" srcOrd="0" destOrd="0" presId="urn:microsoft.com/office/officeart/2005/8/layout/pyramid1"/>
    <dgm:cxn modelId="{2FF59E4E-F344-460E-A357-6767B0263754}" type="presParOf" srcId="{8584C84A-1980-4B1F-9F10-1BED8FE31237}" destId="{45D7BDC1-1D4A-4D86-813E-B4CCB6F102E1}" srcOrd="1" destOrd="0" presId="urn:microsoft.com/office/officeart/2005/8/layout/pyramid1"/>
    <dgm:cxn modelId="{36D2A364-4508-405B-A9BD-3E3B789A1F8E}" type="presParOf" srcId="{5A1679B8-188A-4B70-887C-66D8DF6BF2C6}" destId="{F071BFA0-24AD-40BC-A060-A7356F5FDD1A}" srcOrd="5" destOrd="0" presId="urn:microsoft.com/office/officeart/2005/8/layout/pyramid1"/>
    <dgm:cxn modelId="{AB1E58EE-6F1D-43BA-B259-F0EC9B5AFAA9}" type="presParOf" srcId="{F071BFA0-24AD-40BC-A060-A7356F5FDD1A}" destId="{440821A3-2417-4A85-8178-04DFD02FDB54}" srcOrd="0" destOrd="0" presId="urn:microsoft.com/office/officeart/2005/8/layout/pyramid1"/>
    <dgm:cxn modelId="{9CD81991-4EDC-4A6B-AE5F-730D197EDE3B}" type="presParOf" srcId="{F071BFA0-24AD-40BC-A060-A7356F5FDD1A}" destId="{8EBB5CCB-10B1-4DA0-85BD-9D7E1AE36EE8}" srcOrd="1" destOrd="0" presId="urn:microsoft.com/office/officeart/2005/8/layout/pyramid1"/>
  </dgm:cxnLst>
  <dgm:bg>
    <a:noFill/>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A3B98BF-D9AA-4A40-AA25-95A46CF7B80F}" type="doc">
      <dgm:prSet loTypeId="urn:microsoft.com/office/officeart/2011/layout/TabList" loCatId="list" qsTypeId="urn:microsoft.com/office/officeart/2005/8/quickstyle/3d5#2" qsCatId="3D" csTypeId="urn:microsoft.com/office/officeart/2005/8/colors/accent4_5#2" csCatId="accent4" phldr="1"/>
      <dgm:spPr/>
      <dgm:t>
        <a:bodyPr/>
        <a:lstStyle/>
        <a:p>
          <a:endParaRPr lang="en-US"/>
        </a:p>
      </dgm:t>
    </dgm:pt>
    <dgm:pt modelId="{A2ABBBB8-A674-4A6A-A7E7-7EA0D352A9E7}">
      <dgm:prSet phldrT="[Text]" phldr="0"/>
      <dgm:spPr>
        <a:solidFill>
          <a:schemeClr val="accent4">
            <a:lumMod val="75000"/>
            <a:alpha val="90000"/>
          </a:schemeClr>
        </a:solidFill>
        <a:ln>
          <a:solidFill>
            <a:schemeClr val="bg1"/>
          </a:solidFill>
        </a:ln>
      </dgm:spPr>
      <dgm:t>
        <a:bodyPr/>
        <a:lstStyle/>
        <a:p>
          <a:r>
            <a:rPr lang="en-US" dirty="0"/>
            <a:t>Tough</a:t>
          </a:r>
        </a:p>
      </dgm:t>
    </dgm:pt>
    <dgm:pt modelId="{2F054E77-5FD2-4875-BBAB-DFE3D82BF3A7}" type="parTrans" cxnId="{65D59E21-9C3D-445C-BA25-48C8B63CCAD7}">
      <dgm:prSet/>
      <dgm:spPr/>
      <dgm:t>
        <a:bodyPr/>
        <a:lstStyle/>
        <a:p>
          <a:endParaRPr lang="en-US"/>
        </a:p>
      </dgm:t>
    </dgm:pt>
    <dgm:pt modelId="{148BD9BB-C910-4B12-9123-C92E541A4753}" type="sibTrans" cxnId="{65D59E21-9C3D-445C-BA25-48C8B63CCAD7}">
      <dgm:prSet/>
      <dgm:spPr/>
      <dgm:t>
        <a:bodyPr/>
        <a:lstStyle/>
        <a:p>
          <a:endParaRPr lang="en-US"/>
        </a:p>
      </dgm:t>
    </dgm:pt>
    <dgm:pt modelId="{EFBEE0A1-3188-4EE1-B2BE-4CAB5B6927D5}">
      <dgm:prSet phldrT="[Text]" phldr="0"/>
      <dgm:spPr>
        <a:solidFill>
          <a:schemeClr val="accent4">
            <a:lumMod val="75000"/>
          </a:schemeClr>
        </a:solidFill>
        <a:ln>
          <a:solidFill>
            <a:schemeClr val="bg1"/>
          </a:solidFill>
        </a:ln>
      </dgm:spPr>
      <dgm:t>
        <a:bodyPr/>
        <a:lstStyle/>
        <a:p>
          <a:r>
            <a:rPr lang="en-US"/>
            <a:t>Challeging</a:t>
          </a:r>
          <a:endParaRPr lang="en-US" dirty="0"/>
        </a:p>
      </dgm:t>
    </dgm:pt>
    <dgm:pt modelId="{1755D941-1866-4621-943A-9193FD04D74F}" type="parTrans" cxnId="{11552BD0-ACC0-4256-B1F7-7021B4BE79DF}">
      <dgm:prSet/>
      <dgm:spPr/>
      <dgm:t>
        <a:bodyPr/>
        <a:lstStyle/>
        <a:p>
          <a:endParaRPr lang="en-US"/>
        </a:p>
      </dgm:t>
    </dgm:pt>
    <dgm:pt modelId="{1FF22A06-6791-4233-9E82-7286522C3B54}" type="sibTrans" cxnId="{11552BD0-ACC0-4256-B1F7-7021B4BE79DF}">
      <dgm:prSet/>
      <dgm:spPr/>
      <dgm:t>
        <a:bodyPr/>
        <a:lstStyle/>
        <a:p>
          <a:endParaRPr lang="en-US"/>
        </a:p>
      </dgm:t>
    </dgm:pt>
    <dgm:pt modelId="{C088B908-2D17-4FDC-9AE3-170C5BACF4F6}">
      <dgm:prSet phldrT="[Text]" phldr="0"/>
      <dgm:spPr>
        <a:solidFill>
          <a:schemeClr val="accent4">
            <a:lumMod val="75000"/>
          </a:schemeClr>
        </a:solidFill>
        <a:ln>
          <a:solidFill>
            <a:schemeClr val="bg1"/>
          </a:solidFill>
        </a:ln>
      </dgm:spPr>
      <dgm:t>
        <a:bodyPr/>
        <a:lstStyle/>
        <a:p>
          <a:r>
            <a:rPr lang="en-US"/>
            <a:t>Annoying</a:t>
          </a:r>
          <a:endParaRPr lang="en-US" dirty="0"/>
        </a:p>
      </dgm:t>
    </dgm:pt>
    <dgm:pt modelId="{D188BFFF-6FCD-4525-9157-BBD435276AC7}" type="parTrans" cxnId="{59E26909-866F-4C05-BE0F-40293BDCE3E4}">
      <dgm:prSet/>
      <dgm:spPr/>
      <dgm:t>
        <a:bodyPr/>
        <a:lstStyle/>
        <a:p>
          <a:endParaRPr lang="en-US"/>
        </a:p>
      </dgm:t>
    </dgm:pt>
    <dgm:pt modelId="{105ABC09-B1D1-4E36-AA1B-834768C05A5C}" type="sibTrans" cxnId="{59E26909-866F-4C05-BE0F-40293BDCE3E4}">
      <dgm:prSet/>
      <dgm:spPr/>
      <dgm:t>
        <a:bodyPr/>
        <a:lstStyle/>
        <a:p>
          <a:endParaRPr lang="en-US"/>
        </a:p>
      </dgm:t>
    </dgm:pt>
    <dgm:pt modelId="{F3CF855E-A550-43C2-9E85-D56DED8C5476}">
      <dgm:prSet phldrT="[Text]" phldr="0"/>
      <dgm:spPr>
        <a:solidFill>
          <a:schemeClr val="accent4">
            <a:lumMod val="75000"/>
          </a:schemeClr>
        </a:solidFill>
        <a:ln>
          <a:solidFill>
            <a:schemeClr val="bg1"/>
          </a:solidFill>
        </a:ln>
      </dgm:spPr>
      <dgm:t>
        <a:bodyPr/>
        <a:lstStyle/>
        <a:p>
          <a:r>
            <a:rPr lang="en-US" dirty="0"/>
            <a:t>Easy</a:t>
          </a:r>
        </a:p>
      </dgm:t>
    </dgm:pt>
    <dgm:pt modelId="{E909B657-257C-4F99-8F9A-F9B725C2AB4D}" type="parTrans" cxnId="{E3979072-150D-40E0-914C-A2FEF913AD3D}">
      <dgm:prSet/>
      <dgm:spPr/>
      <dgm:t>
        <a:bodyPr/>
        <a:lstStyle/>
        <a:p>
          <a:endParaRPr lang="en-US"/>
        </a:p>
      </dgm:t>
    </dgm:pt>
    <dgm:pt modelId="{7F5D0F52-6861-4056-B0CE-CA255D4068E1}" type="sibTrans" cxnId="{E3979072-150D-40E0-914C-A2FEF913AD3D}">
      <dgm:prSet/>
      <dgm:spPr/>
      <dgm:t>
        <a:bodyPr/>
        <a:lstStyle/>
        <a:p>
          <a:endParaRPr lang="en-US"/>
        </a:p>
      </dgm:t>
    </dgm:pt>
    <dgm:pt modelId="{E1FDE7CA-24B8-4213-A817-62F1896FB7DA}">
      <dgm:prSet phldrT="[Text]" phldr="0"/>
      <dgm:spPr>
        <a:solidFill>
          <a:schemeClr val="accent4">
            <a:lumMod val="75000"/>
          </a:schemeClr>
        </a:solidFill>
        <a:ln>
          <a:solidFill>
            <a:schemeClr val="bg1"/>
          </a:solidFill>
        </a:ln>
      </dgm:spPr>
      <dgm:t>
        <a:bodyPr/>
        <a:lstStyle/>
        <a:p>
          <a:r>
            <a:rPr lang="en-US"/>
            <a:t>Trivial</a:t>
          </a:r>
          <a:endParaRPr lang="en-US" dirty="0"/>
        </a:p>
      </dgm:t>
    </dgm:pt>
    <dgm:pt modelId="{D1E0B9A1-8646-4F0F-BCAB-2C97F66C6F00}" type="parTrans" cxnId="{68A05A8F-4FD8-46B5-B020-24AB187EFEF1}">
      <dgm:prSet/>
      <dgm:spPr/>
      <dgm:t>
        <a:bodyPr/>
        <a:lstStyle/>
        <a:p>
          <a:endParaRPr lang="en-US"/>
        </a:p>
      </dgm:t>
    </dgm:pt>
    <dgm:pt modelId="{A7BBCF14-8C88-46E8-91A4-A63CCE3152EF}" type="sibTrans" cxnId="{68A05A8F-4FD8-46B5-B020-24AB187EFEF1}">
      <dgm:prSet/>
      <dgm:spPr/>
      <dgm:t>
        <a:bodyPr/>
        <a:lstStyle/>
        <a:p>
          <a:endParaRPr lang="en-US"/>
        </a:p>
      </dgm:t>
    </dgm:pt>
    <dgm:pt modelId="{5DA006A3-5B2D-4D4C-80E2-410062050CC6}" type="pres">
      <dgm:prSet presAssocID="{CA3B98BF-D9AA-4A40-AA25-95A46CF7B80F}" presName="Name0" presStyleCnt="0">
        <dgm:presLayoutVars>
          <dgm:chMax/>
          <dgm:chPref val="3"/>
          <dgm:dir/>
          <dgm:animOne val="branch"/>
          <dgm:animLvl val="lvl"/>
        </dgm:presLayoutVars>
      </dgm:prSet>
      <dgm:spPr/>
    </dgm:pt>
    <dgm:pt modelId="{E0E2B86D-6496-4C60-BA8C-05355233575C}" type="pres">
      <dgm:prSet presAssocID="{A2ABBBB8-A674-4A6A-A7E7-7EA0D352A9E7}" presName="composite" presStyleCnt="0"/>
      <dgm:spPr/>
    </dgm:pt>
    <dgm:pt modelId="{48428292-8C45-4F52-A1F8-27CBD62E4CEE}" type="pres">
      <dgm:prSet presAssocID="{A2ABBBB8-A674-4A6A-A7E7-7EA0D352A9E7}" presName="FirstChild" presStyleLbl="revTx" presStyleIdx="0" presStyleCnt="5">
        <dgm:presLayoutVars>
          <dgm:chMax val="0"/>
          <dgm:chPref val="0"/>
          <dgm:bulletEnabled val="1"/>
        </dgm:presLayoutVars>
      </dgm:prSet>
      <dgm:spPr/>
    </dgm:pt>
    <dgm:pt modelId="{80BA1378-8676-4015-AFD9-D89C3B528DD4}" type="pres">
      <dgm:prSet presAssocID="{A2ABBBB8-A674-4A6A-A7E7-7EA0D352A9E7}" presName="Parent" presStyleLbl="alignNode1" presStyleIdx="0" presStyleCnt="5">
        <dgm:presLayoutVars>
          <dgm:chMax val="3"/>
          <dgm:chPref val="3"/>
          <dgm:bulletEnabled val="1"/>
        </dgm:presLayoutVars>
      </dgm:prSet>
      <dgm:spPr/>
    </dgm:pt>
    <dgm:pt modelId="{3FCDB23D-29EE-44F3-AF9B-84ED29834AF5}" type="pres">
      <dgm:prSet presAssocID="{A2ABBBB8-A674-4A6A-A7E7-7EA0D352A9E7}" presName="Accent" presStyleLbl="parChTrans1D1" presStyleIdx="0" presStyleCnt="5"/>
      <dgm:spPr/>
    </dgm:pt>
    <dgm:pt modelId="{4AC4CF83-A493-426B-8CAC-407B6E84F5CC}" type="pres">
      <dgm:prSet presAssocID="{148BD9BB-C910-4B12-9123-C92E541A4753}" presName="sibTrans" presStyleCnt="0"/>
      <dgm:spPr/>
    </dgm:pt>
    <dgm:pt modelId="{47E6A642-F019-4F62-BFF9-11894D2F1C1D}" type="pres">
      <dgm:prSet presAssocID="{EFBEE0A1-3188-4EE1-B2BE-4CAB5B6927D5}" presName="composite" presStyleCnt="0"/>
      <dgm:spPr/>
    </dgm:pt>
    <dgm:pt modelId="{0B5D1059-CB79-4388-ABBE-4E5E1C2B5CB3}" type="pres">
      <dgm:prSet presAssocID="{EFBEE0A1-3188-4EE1-B2BE-4CAB5B6927D5}" presName="FirstChild" presStyleLbl="revTx" presStyleIdx="1" presStyleCnt="5">
        <dgm:presLayoutVars>
          <dgm:chMax val="0"/>
          <dgm:chPref val="0"/>
          <dgm:bulletEnabled val="1"/>
        </dgm:presLayoutVars>
      </dgm:prSet>
      <dgm:spPr/>
    </dgm:pt>
    <dgm:pt modelId="{EDAFBF3D-8FA3-4D5E-95E9-08F2F28AB65D}" type="pres">
      <dgm:prSet presAssocID="{EFBEE0A1-3188-4EE1-B2BE-4CAB5B6927D5}" presName="Parent" presStyleLbl="alignNode1" presStyleIdx="1" presStyleCnt="5">
        <dgm:presLayoutVars>
          <dgm:chMax val="3"/>
          <dgm:chPref val="3"/>
          <dgm:bulletEnabled val="1"/>
        </dgm:presLayoutVars>
      </dgm:prSet>
      <dgm:spPr/>
    </dgm:pt>
    <dgm:pt modelId="{31F0E6F8-C8EA-4EE1-9091-04D21FEEF2BF}" type="pres">
      <dgm:prSet presAssocID="{EFBEE0A1-3188-4EE1-B2BE-4CAB5B6927D5}" presName="Accent" presStyleLbl="parChTrans1D1" presStyleIdx="1" presStyleCnt="5"/>
      <dgm:spPr/>
    </dgm:pt>
    <dgm:pt modelId="{9B73C671-EFEF-4AB6-8E51-41633578F281}" type="pres">
      <dgm:prSet presAssocID="{1FF22A06-6791-4233-9E82-7286522C3B54}" presName="sibTrans" presStyleCnt="0"/>
      <dgm:spPr/>
    </dgm:pt>
    <dgm:pt modelId="{65A2E58C-57B9-4973-8533-4AFC7F2929AF}" type="pres">
      <dgm:prSet presAssocID="{C088B908-2D17-4FDC-9AE3-170C5BACF4F6}" presName="composite" presStyleCnt="0"/>
      <dgm:spPr/>
    </dgm:pt>
    <dgm:pt modelId="{A379D700-E7EE-4AFD-86E3-D091D2045E1D}" type="pres">
      <dgm:prSet presAssocID="{C088B908-2D17-4FDC-9AE3-170C5BACF4F6}" presName="FirstChild" presStyleLbl="revTx" presStyleIdx="2" presStyleCnt="5">
        <dgm:presLayoutVars>
          <dgm:chMax val="0"/>
          <dgm:chPref val="0"/>
          <dgm:bulletEnabled val="1"/>
        </dgm:presLayoutVars>
      </dgm:prSet>
      <dgm:spPr/>
    </dgm:pt>
    <dgm:pt modelId="{1FE12FA7-E5D9-4C07-A430-6081A5714B7A}" type="pres">
      <dgm:prSet presAssocID="{C088B908-2D17-4FDC-9AE3-170C5BACF4F6}" presName="Parent" presStyleLbl="alignNode1" presStyleIdx="2" presStyleCnt="5">
        <dgm:presLayoutVars>
          <dgm:chMax val="3"/>
          <dgm:chPref val="3"/>
          <dgm:bulletEnabled val="1"/>
        </dgm:presLayoutVars>
      </dgm:prSet>
      <dgm:spPr/>
    </dgm:pt>
    <dgm:pt modelId="{C068A163-6D82-4214-9C02-317956B513CE}" type="pres">
      <dgm:prSet presAssocID="{C088B908-2D17-4FDC-9AE3-170C5BACF4F6}" presName="Accent" presStyleLbl="parChTrans1D1" presStyleIdx="2" presStyleCnt="5"/>
      <dgm:spPr/>
    </dgm:pt>
    <dgm:pt modelId="{1482835E-AC6C-4549-89AE-EA6F7A8F1CBF}" type="pres">
      <dgm:prSet presAssocID="{105ABC09-B1D1-4E36-AA1B-834768C05A5C}" presName="sibTrans" presStyleCnt="0"/>
      <dgm:spPr/>
    </dgm:pt>
    <dgm:pt modelId="{4A9E4F67-C362-49A8-860B-2D664D872ED1}" type="pres">
      <dgm:prSet presAssocID="{F3CF855E-A550-43C2-9E85-D56DED8C5476}" presName="composite" presStyleCnt="0"/>
      <dgm:spPr/>
    </dgm:pt>
    <dgm:pt modelId="{50CB441B-5347-4D89-8AB8-3AEE3DE2351A}" type="pres">
      <dgm:prSet presAssocID="{F3CF855E-A550-43C2-9E85-D56DED8C5476}" presName="FirstChild" presStyleLbl="revTx" presStyleIdx="3" presStyleCnt="5">
        <dgm:presLayoutVars>
          <dgm:chMax val="0"/>
          <dgm:chPref val="0"/>
          <dgm:bulletEnabled val="1"/>
        </dgm:presLayoutVars>
      </dgm:prSet>
      <dgm:spPr/>
    </dgm:pt>
    <dgm:pt modelId="{ABF918A9-205E-4042-9409-B6E7FE27853A}" type="pres">
      <dgm:prSet presAssocID="{F3CF855E-A550-43C2-9E85-D56DED8C5476}" presName="Parent" presStyleLbl="alignNode1" presStyleIdx="3" presStyleCnt="5">
        <dgm:presLayoutVars>
          <dgm:chMax val="3"/>
          <dgm:chPref val="3"/>
          <dgm:bulletEnabled val="1"/>
        </dgm:presLayoutVars>
      </dgm:prSet>
      <dgm:spPr/>
    </dgm:pt>
    <dgm:pt modelId="{CFFC132A-B65B-4DA6-9D9A-DCC4C92F7FAA}" type="pres">
      <dgm:prSet presAssocID="{F3CF855E-A550-43C2-9E85-D56DED8C5476}" presName="Accent" presStyleLbl="parChTrans1D1" presStyleIdx="3" presStyleCnt="5"/>
      <dgm:spPr/>
    </dgm:pt>
    <dgm:pt modelId="{DE87219F-22E3-473B-B0BF-261420BF7BAB}" type="pres">
      <dgm:prSet presAssocID="{7F5D0F52-6861-4056-B0CE-CA255D4068E1}" presName="sibTrans" presStyleCnt="0"/>
      <dgm:spPr/>
    </dgm:pt>
    <dgm:pt modelId="{38915F32-7DE2-4D4C-82FA-3786A464F6E4}" type="pres">
      <dgm:prSet presAssocID="{E1FDE7CA-24B8-4213-A817-62F1896FB7DA}" presName="composite" presStyleCnt="0"/>
      <dgm:spPr/>
    </dgm:pt>
    <dgm:pt modelId="{7A1D92D7-6EF3-42E0-9C16-48540DDE53F9}" type="pres">
      <dgm:prSet presAssocID="{E1FDE7CA-24B8-4213-A817-62F1896FB7DA}" presName="FirstChild" presStyleLbl="revTx" presStyleIdx="4" presStyleCnt="5">
        <dgm:presLayoutVars>
          <dgm:chMax val="0"/>
          <dgm:chPref val="0"/>
          <dgm:bulletEnabled val="1"/>
        </dgm:presLayoutVars>
      </dgm:prSet>
      <dgm:spPr/>
    </dgm:pt>
    <dgm:pt modelId="{8D615FAC-AA23-4D53-8B1A-EBFC5A14595D}" type="pres">
      <dgm:prSet presAssocID="{E1FDE7CA-24B8-4213-A817-62F1896FB7DA}" presName="Parent" presStyleLbl="alignNode1" presStyleIdx="4" presStyleCnt="5">
        <dgm:presLayoutVars>
          <dgm:chMax val="3"/>
          <dgm:chPref val="3"/>
          <dgm:bulletEnabled val="1"/>
        </dgm:presLayoutVars>
      </dgm:prSet>
      <dgm:spPr/>
    </dgm:pt>
    <dgm:pt modelId="{BBF24EF0-5D49-43E7-85A6-8AB4969D4DC4}" type="pres">
      <dgm:prSet presAssocID="{E1FDE7CA-24B8-4213-A817-62F1896FB7DA}" presName="Accent" presStyleLbl="parChTrans1D1" presStyleIdx="4" presStyleCnt="5"/>
      <dgm:spPr/>
    </dgm:pt>
  </dgm:ptLst>
  <dgm:cxnLst>
    <dgm:cxn modelId="{93FCA705-46C4-4D7A-8170-7FC1DB9EE477}" type="presOf" srcId="{F3CF855E-A550-43C2-9E85-D56DED8C5476}" destId="{ABF918A9-205E-4042-9409-B6E7FE27853A}" srcOrd="0" destOrd="0" presId="urn:microsoft.com/office/officeart/2011/layout/TabList"/>
    <dgm:cxn modelId="{59E26909-866F-4C05-BE0F-40293BDCE3E4}" srcId="{CA3B98BF-D9AA-4A40-AA25-95A46CF7B80F}" destId="{C088B908-2D17-4FDC-9AE3-170C5BACF4F6}" srcOrd="2" destOrd="0" parTransId="{D188BFFF-6FCD-4525-9157-BBD435276AC7}" sibTransId="{105ABC09-B1D1-4E36-AA1B-834768C05A5C}"/>
    <dgm:cxn modelId="{65D59E21-9C3D-445C-BA25-48C8B63CCAD7}" srcId="{CA3B98BF-D9AA-4A40-AA25-95A46CF7B80F}" destId="{A2ABBBB8-A674-4A6A-A7E7-7EA0D352A9E7}" srcOrd="0" destOrd="0" parTransId="{2F054E77-5FD2-4875-BBAB-DFE3D82BF3A7}" sibTransId="{148BD9BB-C910-4B12-9123-C92E541A4753}"/>
    <dgm:cxn modelId="{AC876D2E-B773-4537-B240-DF09E198E83A}" type="presOf" srcId="{A2ABBBB8-A674-4A6A-A7E7-7EA0D352A9E7}" destId="{80BA1378-8676-4015-AFD9-D89C3B528DD4}" srcOrd="0" destOrd="0" presId="urn:microsoft.com/office/officeart/2011/layout/TabList"/>
    <dgm:cxn modelId="{E3979072-150D-40E0-914C-A2FEF913AD3D}" srcId="{CA3B98BF-D9AA-4A40-AA25-95A46CF7B80F}" destId="{F3CF855E-A550-43C2-9E85-D56DED8C5476}" srcOrd="3" destOrd="0" parTransId="{E909B657-257C-4F99-8F9A-F9B725C2AB4D}" sibTransId="{7F5D0F52-6861-4056-B0CE-CA255D4068E1}"/>
    <dgm:cxn modelId="{68A05A8F-4FD8-46B5-B020-24AB187EFEF1}" srcId="{CA3B98BF-D9AA-4A40-AA25-95A46CF7B80F}" destId="{E1FDE7CA-24B8-4213-A817-62F1896FB7DA}" srcOrd="4" destOrd="0" parTransId="{D1E0B9A1-8646-4F0F-BCAB-2C97F66C6F00}" sibTransId="{A7BBCF14-8C88-46E8-91A4-A63CCE3152EF}"/>
    <dgm:cxn modelId="{16CA06A7-AA77-4098-B709-AC34F2E2838B}" type="presOf" srcId="{EFBEE0A1-3188-4EE1-B2BE-4CAB5B6927D5}" destId="{EDAFBF3D-8FA3-4D5E-95E9-08F2F28AB65D}" srcOrd="0" destOrd="0" presId="urn:microsoft.com/office/officeart/2011/layout/TabList"/>
    <dgm:cxn modelId="{2D3F64B7-34FD-4A75-AE45-8AF9FE101149}" type="presOf" srcId="{C088B908-2D17-4FDC-9AE3-170C5BACF4F6}" destId="{1FE12FA7-E5D9-4C07-A430-6081A5714B7A}" srcOrd="0" destOrd="0" presId="urn:microsoft.com/office/officeart/2011/layout/TabList"/>
    <dgm:cxn modelId="{C75016C9-4733-4F13-A632-FF8E2C3400DF}" type="presOf" srcId="{E1FDE7CA-24B8-4213-A817-62F1896FB7DA}" destId="{8D615FAC-AA23-4D53-8B1A-EBFC5A14595D}" srcOrd="0" destOrd="0" presId="urn:microsoft.com/office/officeart/2011/layout/TabList"/>
    <dgm:cxn modelId="{F26AC1CD-3060-4E54-A5D4-8B3CCF38496F}" type="presOf" srcId="{CA3B98BF-D9AA-4A40-AA25-95A46CF7B80F}" destId="{5DA006A3-5B2D-4D4C-80E2-410062050CC6}" srcOrd="0" destOrd="0" presId="urn:microsoft.com/office/officeart/2011/layout/TabList"/>
    <dgm:cxn modelId="{11552BD0-ACC0-4256-B1F7-7021B4BE79DF}" srcId="{CA3B98BF-D9AA-4A40-AA25-95A46CF7B80F}" destId="{EFBEE0A1-3188-4EE1-B2BE-4CAB5B6927D5}" srcOrd="1" destOrd="0" parTransId="{1755D941-1866-4621-943A-9193FD04D74F}" sibTransId="{1FF22A06-6791-4233-9E82-7286522C3B54}"/>
    <dgm:cxn modelId="{F25EF2DA-A018-43DA-B261-79A470FBE61A}" type="presParOf" srcId="{5DA006A3-5B2D-4D4C-80E2-410062050CC6}" destId="{E0E2B86D-6496-4C60-BA8C-05355233575C}" srcOrd="0" destOrd="0" presId="urn:microsoft.com/office/officeart/2011/layout/TabList"/>
    <dgm:cxn modelId="{CD6BA7E3-D57A-4511-B107-ABFC9D531B0D}" type="presParOf" srcId="{E0E2B86D-6496-4C60-BA8C-05355233575C}" destId="{48428292-8C45-4F52-A1F8-27CBD62E4CEE}" srcOrd="0" destOrd="0" presId="urn:microsoft.com/office/officeart/2011/layout/TabList"/>
    <dgm:cxn modelId="{AB9BBE69-D9DD-40A1-AEAC-2CC08A1EBEDC}" type="presParOf" srcId="{E0E2B86D-6496-4C60-BA8C-05355233575C}" destId="{80BA1378-8676-4015-AFD9-D89C3B528DD4}" srcOrd="1" destOrd="0" presId="urn:microsoft.com/office/officeart/2011/layout/TabList"/>
    <dgm:cxn modelId="{9C64E304-C4A0-4D62-A063-0B2285E7680B}" type="presParOf" srcId="{E0E2B86D-6496-4C60-BA8C-05355233575C}" destId="{3FCDB23D-29EE-44F3-AF9B-84ED29834AF5}" srcOrd="2" destOrd="0" presId="urn:microsoft.com/office/officeart/2011/layout/TabList"/>
    <dgm:cxn modelId="{26275E0E-2775-49FA-966D-3D860FE6427B}" type="presParOf" srcId="{5DA006A3-5B2D-4D4C-80E2-410062050CC6}" destId="{4AC4CF83-A493-426B-8CAC-407B6E84F5CC}" srcOrd="1" destOrd="0" presId="urn:microsoft.com/office/officeart/2011/layout/TabList"/>
    <dgm:cxn modelId="{CC92B83A-4248-4174-9FFF-8407B4E46B23}" type="presParOf" srcId="{5DA006A3-5B2D-4D4C-80E2-410062050CC6}" destId="{47E6A642-F019-4F62-BFF9-11894D2F1C1D}" srcOrd="2" destOrd="0" presId="urn:microsoft.com/office/officeart/2011/layout/TabList"/>
    <dgm:cxn modelId="{C8D0D686-626B-4E54-B072-11404C8F2A48}" type="presParOf" srcId="{47E6A642-F019-4F62-BFF9-11894D2F1C1D}" destId="{0B5D1059-CB79-4388-ABBE-4E5E1C2B5CB3}" srcOrd="0" destOrd="0" presId="urn:microsoft.com/office/officeart/2011/layout/TabList"/>
    <dgm:cxn modelId="{30E49E2E-78A2-49AA-9226-A978F17260A9}" type="presParOf" srcId="{47E6A642-F019-4F62-BFF9-11894D2F1C1D}" destId="{EDAFBF3D-8FA3-4D5E-95E9-08F2F28AB65D}" srcOrd="1" destOrd="0" presId="urn:microsoft.com/office/officeart/2011/layout/TabList"/>
    <dgm:cxn modelId="{334E98A7-A802-4701-9120-CD212D26CFFB}" type="presParOf" srcId="{47E6A642-F019-4F62-BFF9-11894D2F1C1D}" destId="{31F0E6F8-C8EA-4EE1-9091-04D21FEEF2BF}" srcOrd="2" destOrd="0" presId="urn:microsoft.com/office/officeart/2011/layout/TabList"/>
    <dgm:cxn modelId="{59031856-185D-4D48-B2EA-D1D446B95CFC}" type="presParOf" srcId="{5DA006A3-5B2D-4D4C-80E2-410062050CC6}" destId="{9B73C671-EFEF-4AB6-8E51-41633578F281}" srcOrd="3" destOrd="0" presId="urn:microsoft.com/office/officeart/2011/layout/TabList"/>
    <dgm:cxn modelId="{F81E1BAD-7958-49A5-87AB-A2492971F06A}" type="presParOf" srcId="{5DA006A3-5B2D-4D4C-80E2-410062050CC6}" destId="{65A2E58C-57B9-4973-8533-4AFC7F2929AF}" srcOrd="4" destOrd="0" presId="urn:microsoft.com/office/officeart/2011/layout/TabList"/>
    <dgm:cxn modelId="{0B70C945-C346-4B7A-A4DB-FB17A44A8AAE}" type="presParOf" srcId="{65A2E58C-57B9-4973-8533-4AFC7F2929AF}" destId="{A379D700-E7EE-4AFD-86E3-D091D2045E1D}" srcOrd="0" destOrd="0" presId="urn:microsoft.com/office/officeart/2011/layout/TabList"/>
    <dgm:cxn modelId="{BFDCCABA-6E3D-4F6D-A0EB-2B4F7FA19EB4}" type="presParOf" srcId="{65A2E58C-57B9-4973-8533-4AFC7F2929AF}" destId="{1FE12FA7-E5D9-4C07-A430-6081A5714B7A}" srcOrd="1" destOrd="0" presId="urn:microsoft.com/office/officeart/2011/layout/TabList"/>
    <dgm:cxn modelId="{AF77E32F-F96A-4E15-A2E2-A413405CD7EB}" type="presParOf" srcId="{65A2E58C-57B9-4973-8533-4AFC7F2929AF}" destId="{C068A163-6D82-4214-9C02-317956B513CE}" srcOrd="2" destOrd="0" presId="urn:microsoft.com/office/officeart/2011/layout/TabList"/>
    <dgm:cxn modelId="{10B255B0-5B38-49C2-AEAC-23A3748CED65}" type="presParOf" srcId="{5DA006A3-5B2D-4D4C-80E2-410062050CC6}" destId="{1482835E-AC6C-4549-89AE-EA6F7A8F1CBF}" srcOrd="5" destOrd="0" presId="urn:microsoft.com/office/officeart/2011/layout/TabList"/>
    <dgm:cxn modelId="{EB0EF376-19FD-412F-94E3-BCE6AB964CEB}" type="presParOf" srcId="{5DA006A3-5B2D-4D4C-80E2-410062050CC6}" destId="{4A9E4F67-C362-49A8-860B-2D664D872ED1}" srcOrd="6" destOrd="0" presId="urn:microsoft.com/office/officeart/2011/layout/TabList"/>
    <dgm:cxn modelId="{C22BD56E-8CB5-471F-940A-66A618CBDF41}" type="presParOf" srcId="{4A9E4F67-C362-49A8-860B-2D664D872ED1}" destId="{50CB441B-5347-4D89-8AB8-3AEE3DE2351A}" srcOrd="0" destOrd="0" presId="urn:microsoft.com/office/officeart/2011/layout/TabList"/>
    <dgm:cxn modelId="{15D537F0-2A48-41F8-B63B-D2CC927D09EA}" type="presParOf" srcId="{4A9E4F67-C362-49A8-860B-2D664D872ED1}" destId="{ABF918A9-205E-4042-9409-B6E7FE27853A}" srcOrd="1" destOrd="0" presId="urn:microsoft.com/office/officeart/2011/layout/TabList"/>
    <dgm:cxn modelId="{757E5C11-DC94-4EE7-B2A5-D7AB16C5A9FF}" type="presParOf" srcId="{4A9E4F67-C362-49A8-860B-2D664D872ED1}" destId="{CFFC132A-B65B-4DA6-9D9A-DCC4C92F7FAA}" srcOrd="2" destOrd="0" presId="urn:microsoft.com/office/officeart/2011/layout/TabList"/>
    <dgm:cxn modelId="{A1BA2AF1-8D5C-4479-9361-7BB81BD5C050}" type="presParOf" srcId="{5DA006A3-5B2D-4D4C-80E2-410062050CC6}" destId="{DE87219F-22E3-473B-B0BF-261420BF7BAB}" srcOrd="7" destOrd="0" presId="urn:microsoft.com/office/officeart/2011/layout/TabList"/>
    <dgm:cxn modelId="{303FAA54-1EF0-40FE-9C5E-9D3F2E7B6251}" type="presParOf" srcId="{5DA006A3-5B2D-4D4C-80E2-410062050CC6}" destId="{38915F32-7DE2-4D4C-82FA-3786A464F6E4}" srcOrd="8" destOrd="0" presId="urn:microsoft.com/office/officeart/2011/layout/TabList"/>
    <dgm:cxn modelId="{355F67D9-3277-4098-A4C2-2A8D5B422E01}" type="presParOf" srcId="{38915F32-7DE2-4D4C-82FA-3786A464F6E4}" destId="{7A1D92D7-6EF3-42E0-9C16-48540DDE53F9}" srcOrd="0" destOrd="0" presId="urn:microsoft.com/office/officeart/2011/layout/TabList"/>
    <dgm:cxn modelId="{7196A835-C82A-4330-997A-A7F214890131}" type="presParOf" srcId="{38915F32-7DE2-4D4C-82FA-3786A464F6E4}" destId="{8D615FAC-AA23-4D53-8B1A-EBFC5A14595D}" srcOrd="1" destOrd="0" presId="urn:microsoft.com/office/officeart/2011/layout/TabList"/>
    <dgm:cxn modelId="{1E3A8941-AD29-4BBB-9AE7-23DFC37FCE3A}" type="presParOf" srcId="{38915F32-7DE2-4D4C-82FA-3786A464F6E4}" destId="{BBF24EF0-5D49-43E7-85A6-8AB4969D4DC4}" srcOrd="2" destOrd="0" presId="urn:microsoft.com/office/officeart/2011/layout/TabList"/>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069EF0-4752-42C7-831A-8A4751DBCDA0}" type="doc">
      <dgm:prSet loTypeId="urn:microsoft.com/office/officeart/2005/8/layout/hierarchy3" loCatId="list" qsTypeId="urn:microsoft.com/office/officeart/2005/8/quickstyle/3d4#1" qsCatId="3D" csTypeId="urn:microsoft.com/office/officeart/2005/8/colors/accent4_4#1" csCatId="accent4" phldr="1"/>
      <dgm:spPr/>
      <dgm:t>
        <a:bodyPr/>
        <a:lstStyle/>
        <a:p>
          <a:endParaRPr lang="en-US"/>
        </a:p>
      </dgm:t>
    </dgm:pt>
    <dgm:pt modelId="{368C873C-0826-4FBB-9E78-77A49764BD7D}">
      <dgm:prSet phldrT="[Text]" phldr="0"/>
      <dgm:spPr>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gm:spPr>
      <dgm:t>
        <a:bodyPr/>
        <a:lstStyle/>
        <a:p>
          <a:r>
            <a:rPr lang="en-US" b="0" dirty="0">
              <a:gradFill>
                <a:gsLst>
                  <a:gs pos="0">
                    <a:schemeClr val="bg1"/>
                  </a:gs>
                  <a:gs pos="48000">
                    <a:schemeClr val="bg1"/>
                  </a:gs>
                  <a:gs pos="90000">
                    <a:srgbClr val="5E3587"/>
                  </a:gs>
                </a:gsLst>
                <a:lin ang="16200000" scaled="1"/>
              </a:gradFill>
            </a:rPr>
            <a:t>CTI is dynamic</a:t>
          </a:r>
        </a:p>
      </dgm:t>
    </dgm:pt>
    <dgm:pt modelId="{7229D7B8-7008-43A9-9045-8DD1B71F694B}" type="parTrans" cxnId="{BAE62B2E-2F43-4670-B533-7DDBDAFA412F}">
      <dgm:prSet/>
      <dgm:spPr/>
      <dgm:t>
        <a:bodyPr/>
        <a:lstStyle/>
        <a:p>
          <a:endParaRPr lang="en-US"/>
        </a:p>
      </dgm:t>
    </dgm:pt>
    <dgm:pt modelId="{34FD6223-7781-4E8B-9FCD-C1BAA031277F}" type="sibTrans" cxnId="{BAE62B2E-2F43-4670-B533-7DDBDAFA412F}">
      <dgm:prSet/>
      <dgm:spPr/>
      <dgm:t>
        <a:bodyPr/>
        <a:lstStyle/>
        <a:p>
          <a:endParaRPr lang="en-US"/>
        </a:p>
      </dgm:t>
    </dgm:pt>
    <dgm:pt modelId="{80360E8A-FCAB-4A23-936E-E7FCDCEF64B2}">
      <dgm:prSet phldrT="[Text]" phldr="0"/>
      <dgm:spPr>
        <a:solidFill>
          <a:schemeClr val="accent4">
            <a:lumMod val="50000"/>
            <a:alpha val="90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r>
            <a:rPr lang="en-US">
              <a:solidFill>
                <a:schemeClr val="bg1"/>
              </a:solidFill>
              <a:latin typeface="Calibri" pitchFamily="34" charset="0"/>
              <a:ea typeface="Calibri" pitchFamily="34" charset="-122"/>
              <a:cs typeface="Calibri" pitchFamily="34" charset="-120"/>
            </a:rPr>
            <a:t>Adversaries adapt. So must your intelligence</a:t>
          </a:r>
          <a:endParaRPr lang="en-US" dirty="0">
            <a:solidFill>
              <a:schemeClr val="bg1"/>
            </a:solidFill>
          </a:endParaRPr>
        </a:p>
      </dgm:t>
    </dgm:pt>
    <dgm:pt modelId="{7FCD1BF0-35FD-42DF-BB01-40FAA5B4A9AB}" type="parTrans" cxnId="{7AF0528C-6ABF-4D09-8FE7-A8279DAE6250}">
      <dgm:prSet/>
      <dgm:spPr/>
      <dgm:t>
        <a:bodyPr/>
        <a:lstStyle/>
        <a:p>
          <a:endParaRPr lang="en-US"/>
        </a:p>
      </dgm:t>
    </dgm:pt>
    <dgm:pt modelId="{CE5BA179-DF1F-4CA4-8789-F00216E5623A}" type="sibTrans" cxnId="{7AF0528C-6ABF-4D09-8FE7-A8279DAE6250}">
      <dgm:prSet/>
      <dgm:spPr/>
      <dgm:t>
        <a:bodyPr/>
        <a:lstStyle/>
        <a:p>
          <a:endParaRPr lang="en-US"/>
        </a:p>
      </dgm:t>
    </dgm:pt>
    <dgm:pt modelId="{2FD8CD8D-0CA6-43EC-B2C5-50604BFD3F66}">
      <dgm:prSet phldrT="[Text]" phldr="0"/>
      <dgm:spPr>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gm:spPr>
      <dgm:t>
        <a:bodyPr/>
        <a:lstStyle/>
        <a:p>
          <a:r>
            <a:rPr lang="en-US" b="0">
              <a:gradFill>
                <a:gsLst>
                  <a:gs pos="0">
                    <a:schemeClr val="bg1"/>
                  </a:gs>
                  <a:gs pos="48000">
                    <a:schemeClr val="bg1"/>
                  </a:gs>
                  <a:gs pos="90000">
                    <a:srgbClr val="5E3587"/>
                  </a:gs>
                </a:gsLst>
                <a:lin ang="16200000" scaled="1"/>
              </a:gradFill>
            </a:rPr>
            <a:t>Intent &gt; Identity</a:t>
          </a:r>
          <a:endParaRPr lang="en-US" b="0" dirty="0">
            <a:gradFill>
              <a:gsLst>
                <a:gs pos="0">
                  <a:schemeClr val="bg1"/>
                </a:gs>
                <a:gs pos="48000">
                  <a:schemeClr val="bg1"/>
                </a:gs>
                <a:gs pos="90000">
                  <a:srgbClr val="5E3587"/>
                </a:gs>
              </a:gsLst>
              <a:lin ang="16200000" scaled="1"/>
            </a:gradFill>
          </a:endParaRPr>
        </a:p>
      </dgm:t>
    </dgm:pt>
    <dgm:pt modelId="{9EB7842D-EDBD-4FF5-8BF6-F15E90E079D8}" type="parTrans" cxnId="{EC1B3DCA-0EEA-4650-B681-E9CB50E7842D}">
      <dgm:prSet/>
      <dgm:spPr/>
      <dgm:t>
        <a:bodyPr/>
        <a:lstStyle/>
        <a:p>
          <a:endParaRPr lang="en-US"/>
        </a:p>
      </dgm:t>
    </dgm:pt>
    <dgm:pt modelId="{789FAC39-12EE-48D3-AFF4-8E11989EF405}" type="sibTrans" cxnId="{EC1B3DCA-0EEA-4650-B681-E9CB50E7842D}">
      <dgm:prSet/>
      <dgm:spPr/>
      <dgm:t>
        <a:bodyPr/>
        <a:lstStyle/>
        <a:p>
          <a:endParaRPr lang="en-US"/>
        </a:p>
      </dgm:t>
    </dgm:pt>
    <dgm:pt modelId="{46EF9D5E-F32F-4633-92C8-BFFE2C5568C8}">
      <dgm:prSet phldrT="[Text]"/>
      <dgm:spPr>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gm:spPr>
      <dgm:t>
        <a:bodyPr/>
        <a:lstStyle/>
        <a:p>
          <a:pPr>
            <a:buNone/>
          </a:pPr>
          <a:r>
            <a:rPr lang="en-US" b="0" dirty="0">
              <a:gradFill>
                <a:gsLst>
                  <a:gs pos="0">
                    <a:schemeClr val="bg1"/>
                  </a:gs>
                  <a:gs pos="48000">
                    <a:schemeClr val="bg1"/>
                  </a:gs>
                  <a:gs pos="90000">
                    <a:srgbClr val="5E3587"/>
                  </a:gs>
                </a:gsLst>
                <a:lin ang="16200000" scaled="1"/>
              </a:gradFill>
              <a:latin typeface="Calibri" pitchFamily="34" charset="0"/>
              <a:ea typeface="Calibri" pitchFamily="34" charset="-122"/>
              <a:cs typeface="Calibri" pitchFamily="34" charset="-120"/>
            </a:rPr>
            <a:t>Behavior &gt;  Indicators</a:t>
          </a:r>
          <a:endParaRPr lang="en-US" b="0" dirty="0">
            <a:gradFill>
              <a:gsLst>
                <a:gs pos="0">
                  <a:schemeClr val="bg1"/>
                </a:gs>
                <a:gs pos="48000">
                  <a:schemeClr val="bg1"/>
                </a:gs>
                <a:gs pos="90000">
                  <a:srgbClr val="5E3587"/>
                </a:gs>
              </a:gsLst>
              <a:lin ang="16200000" scaled="1"/>
            </a:gradFill>
          </a:endParaRPr>
        </a:p>
      </dgm:t>
    </dgm:pt>
    <dgm:pt modelId="{FA147545-336B-4347-8E73-CF1BD8AD03AF}" type="parTrans" cxnId="{232A2B90-B5AB-4C12-9B02-CB332E959E4F}">
      <dgm:prSet/>
      <dgm:spPr/>
      <dgm:t>
        <a:bodyPr/>
        <a:lstStyle/>
        <a:p>
          <a:endParaRPr lang="en-US"/>
        </a:p>
      </dgm:t>
    </dgm:pt>
    <dgm:pt modelId="{DE4BAFFA-A210-41F2-BE9E-A16096942739}" type="sibTrans" cxnId="{232A2B90-B5AB-4C12-9B02-CB332E959E4F}">
      <dgm:prSet/>
      <dgm:spPr/>
      <dgm:t>
        <a:bodyPr/>
        <a:lstStyle/>
        <a:p>
          <a:endParaRPr lang="en-US"/>
        </a:p>
      </dgm:t>
    </dgm:pt>
    <dgm:pt modelId="{B3468EFE-45B0-4450-AF9A-77812B79EFBA}">
      <dgm:prSet phldrT="[Text]"/>
      <dgm:spPr>
        <a:solidFill>
          <a:schemeClr val="accent4">
            <a:lumMod val="50000"/>
            <a:alpha val="90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pPr>
            <a:buNone/>
          </a:pPr>
          <a:r>
            <a:rPr lang="en-US">
              <a:solidFill>
                <a:schemeClr val="bg1"/>
              </a:solidFill>
              <a:latin typeface="Calibri" pitchFamily="34" charset="0"/>
              <a:ea typeface="Calibri" pitchFamily="34" charset="-122"/>
              <a:cs typeface="Calibri" pitchFamily="34" charset="-120"/>
            </a:rPr>
            <a:t>TTPs outlive IPs by years.</a:t>
          </a:r>
          <a:endParaRPr lang="en-US" dirty="0">
            <a:solidFill>
              <a:schemeClr val="bg1"/>
            </a:solidFill>
          </a:endParaRPr>
        </a:p>
      </dgm:t>
    </dgm:pt>
    <dgm:pt modelId="{496D5C29-B282-407F-A084-A424D59DACDF}" type="parTrans" cxnId="{7A4F243D-001F-44FA-AB0D-F9E0BA00903F}">
      <dgm:prSet/>
      <dgm:spPr/>
      <dgm:t>
        <a:bodyPr/>
        <a:lstStyle/>
        <a:p>
          <a:endParaRPr lang="en-US"/>
        </a:p>
      </dgm:t>
    </dgm:pt>
    <dgm:pt modelId="{4A1A7550-C5E1-4655-B984-457F2C219C3B}" type="sibTrans" cxnId="{7A4F243D-001F-44FA-AB0D-F9E0BA00903F}">
      <dgm:prSet/>
      <dgm:spPr/>
      <dgm:t>
        <a:bodyPr/>
        <a:lstStyle/>
        <a:p>
          <a:endParaRPr lang="en-US"/>
        </a:p>
      </dgm:t>
    </dgm:pt>
    <dgm:pt modelId="{88C57D8D-92B1-4B1F-B081-0711EC400CAD}">
      <dgm:prSet phldrT="[Text]"/>
      <dgm:spPr>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gm:spPr>
      <dgm:t>
        <a:bodyPr/>
        <a:lstStyle/>
        <a:p>
          <a:pPr>
            <a:buNone/>
          </a:pPr>
          <a:r>
            <a:rPr lang="en-US" b="0">
              <a:gradFill>
                <a:gsLst>
                  <a:gs pos="0">
                    <a:schemeClr val="bg1"/>
                  </a:gs>
                  <a:gs pos="48000">
                    <a:schemeClr val="bg1"/>
                  </a:gs>
                  <a:gs pos="90000">
                    <a:srgbClr val="5E3587"/>
                  </a:gs>
                </a:gsLst>
                <a:lin ang="16200000" scaled="1"/>
              </a:gradFill>
              <a:latin typeface="Calibri" pitchFamily="34" charset="0"/>
              <a:ea typeface="Calibri" pitchFamily="34" charset="-122"/>
              <a:cs typeface="Calibri" pitchFamily="34" charset="-120"/>
            </a:rPr>
            <a:t>Humans decide</a:t>
          </a:r>
          <a:endParaRPr lang="en-US" b="0" dirty="0">
            <a:gradFill>
              <a:gsLst>
                <a:gs pos="0">
                  <a:schemeClr val="bg1"/>
                </a:gs>
                <a:gs pos="48000">
                  <a:schemeClr val="bg1"/>
                </a:gs>
                <a:gs pos="90000">
                  <a:srgbClr val="5E3587"/>
                </a:gs>
              </a:gsLst>
              <a:lin ang="16200000" scaled="1"/>
            </a:gradFill>
          </a:endParaRPr>
        </a:p>
      </dgm:t>
    </dgm:pt>
    <dgm:pt modelId="{304DDCA2-8F71-4B33-8D24-008FD31BE8D1}" type="parTrans" cxnId="{77406D7B-7334-40C9-8353-BA632ECEBC50}">
      <dgm:prSet/>
      <dgm:spPr/>
      <dgm:t>
        <a:bodyPr/>
        <a:lstStyle/>
        <a:p>
          <a:endParaRPr lang="en-US"/>
        </a:p>
      </dgm:t>
    </dgm:pt>
    <dgm:pt modelId="{06D82E00-F2B5-4824-9BFD-8637EBAE1CB8}" type="sibTrans" cxnId="{77406D7B-7334-40C9-8353-BA632ECEBC50}">
      <dgm:prSet/>
      <dgm:spPr/>
      <dgm:t>
        <a:bodyPr/>
        <a:lstStyle/>
        <a:p>
          <a:endParaRPr lang="en-US"/>
        </a:p>
      </dgm:t>
    </dgm:pt>
    <dgm:pt modelId="{8988B392-4547-496F-AE88-B992FDE86A71}">
      <dgm:prSet phldrT="[Text]" phldr="0"/>
      <dgm:spPr>
        <a:solidFill>
          <a:schemeClr val="accent4">
            <a:lumMod val="50000"/>
            <a:alpha val="90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pPr>
            <a:buNone/>
          </a:pPr>
          <a:r>
            <a:rPr lang="en-US">
              <a:solidFill>
                <a:schemeClr val="bg1"/>
              </a:solidFill>
              <a:latin typeface="Calibri" pitchFamily="34" charset="0"/>
              <a:ea typeface="Calibri" pitchFamily="34" charset="-122"/>
              <a:cs typeface="Calibri" pitchFamily="34" charset="-120"/>
            </a:rPr>
            <a:t>Who matters less than why.</a:t>
          </a:r>
          <a:endParaRPr lang="en-US" dirty="0">
            <a:solidFill>
              <a:schemeClr val="bg1"/>
            </a:solidFill>
          </a:endParaRPr>
        </a:p>
      </dgm:t>
    </dgm:pt>
    <dgm:pt modelId="{036EED48-CDDB-49C3-9B9E-9ECE3A4A7657}" type="parTrans" cxnId="{BCBAD199-0911-4FEC-81D1-25BEB6A09F29}">
      <dgm:prSet/>
      <dgm:spPr/>
      <dgm:t>
        <a:bodyPr/>
        <a:lstStyle/>
        <a:p>
          <a:endParaRPr lang="en-US"/>
        </a:p>
      </dgm:t>
    </dgm:pt>
    <dgm:pt modelId="{D78BDB1D-52B3-438F-B39F-C02C481D16FA}" type="sibTrans" cxnId="{BCBAD199-0911-4FEC-81D1-25BEB6A09F29}">
      <dgm:prSet/>
      <dgm:spPr/>
      <dgm:t>
        <a:bodyPr/>
        <a:lstStyle/>
        <a:p>
          <a:endParaRPr lang="en-US"/>
        </a:p>
      </dgm:t>
    </dgm:pt>
    <dgm:pt modelId="{261E5735-5D70-4F25-A64A-BEEB8343856A}">
      <dgm:prSet phldrT="[Text]"/>
      <dgm:spPr>
        <a:solidFill>
          <a:schemeClr val="accent4">
            <a:lumMod val="50000"/>
            <a:alpha val="90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pPr>
            <a:buNone/>
          </a:pPr>
          <a:r>
            <a:rPr lang="en-US">
              <a:solidFill>
                <a:schemeClr val="bg1"/>
              </a:solidFill>
              <a:latin typeface="Calibri" pitchFamily="34" charset="0"/>
              <a:ea typeface="Calibri" pitchFamily="34" charset="-122"/>
              <a:cs typeface="Calibri" pitchFamily="34" charset="-120"/>
            </a:rPr>
            <a:t>Tools produce data. Analysts produce intelligence.</a:t>
          </a:r>
          <a:endParaRPr lang="en-US" dirty="0">
            <a:solidFill>
              <a:schemeClr val="bg1"/>
            </a:solidFill>
          </a:endParaRPr>
        </a:p>
      </dgm:t>
    </dgm:pt>
    <dgm:pt modelId="{8FF58FD6-7A6D-4103-A7E6-E51DED6424A4}" type="parTrans" cxnId="{25491AEE-A7F1-4219-9366-7F1ED8B77F42}">
      <dgm:prSet/>
      <dgm:spPr/>
      <dgm:t>
        <a:bodyPr/>
        <a:lstStyle/>
        <a:p>
          <a:endParaRPr lang="en-US"/>
        </a:p>
      </dgm:t>
    </dgm:pt>
    <dgm:pt modelId="{FB7E1B79-0F8A-4072-AFB3-806B1E6A6BEF}" type="sibTrans" cxnId="{25491AEE-A7F1-4219-9366-7F1ED8B77F42}">
      <dgm:prSet/>
      <dgm:spPr/>
      <dgm:t>
        <a:bodyPr/>
        <a:lstStyle/>
        <a:p>
          <a:endParaRPr lang="en-US"/>
        </a:p>
      </dgm:t>
    </dgm:pt>
    <dgm:pt modelId="{2EF45661-BD13-48C3-B49B-A1105320A4BF}">
      <dgm:prSet phldrT="[Text]"/>
      <dgm:spPr>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gm:spPr>
      <dgm:t>
        <a:bodyPr/>
        <a:lstStyle/>
        <a:p>
          <a:pPr>
            <a:buNone/>
          </a:pPr>
          <a:r>
            <a:rPr lang="en-US" b="0" dirty="0">
              <a:gradFill>
                <a:gsLst>
                  <a:gs pos="0">
                    <a:schemeClr val="bg1"/>
                  </a:gs>
                  <a:gs pos="48000">
                    <a:schemeClr val="bg1"/>
                  </a:gs>
                  <a:gs pos="90000">
                    <a:srgbClr val="5E3587"/>
                  </a:gs>
                </a:gsLst>
                <a:lin ang="16200000" scaled="1"/>
              </a:gradFill>
              <a:latin typeface="Calibri" pitchFamily="34" charset="0"/>
              <a:ea typeface="Calibri" pitchFamily="34" charset="-122"/>
              <a:cs typeface="Calibri" pitchFamily="34" charset="-120"/>
            </a:rPr>
            <a:t>Share to win</a:t>
          </a:r>
          <a:endParaRPr lang="en-US" b="0" dirty="0">
            <a:gradFill>
              <a:gsLst>
                <a:gs pos="0">
                  <a:schemeClr val="bg1"/>
                </a:gs>
                <a:gs pos="48000">
                  <a:schemeClr val="bg1"/>
                </a:gs>
                <a:gs pos="90000">
                  <a:srgbClr val="5E3587"/>
                </a:gs>
              </a:gsLst>
              <a:lin ang="16200000" scaled="1"/>
            </a:gradFill>
          </a:endParaRPr>
        </a:p>
      </dgm:t>
    </dgm:pt>
    <dgm:pt modelId="{6812CB18-48FB-4840-9B29-64F69AEC7E23}" type="parTrans" cxnId="{D716C859-36DF-42E0-9423-D5142CDCC311}">
      <dgm:prSet/>
      <dgm:spPr/>
      <dgm:t>
        <a:bodyPr/>
        <a:lstStyle/>
        <a:p>
          <a:endParaRPr lang="en-US"/>
        </a:p>
      </dgm:t>
    </dgm:pt>
    <dgm:pt modelId="{4335E16C-E306-4785-A6E5-26E8FA5748FF}" type="sibTrans" cxnId="{D716C859-36DF-42E0-9423-D5142CDCC311}">
      <dgm:prSet/>
      <dgm:spPr/>
      <dgm:t>
        <a:bodyPr/>
        <a:lstStyle/>
        <a:p>
          <a:endParaRPr lang="en-US"/>
        </a:p>
      </dgm:t>
    </dgm:pt>
    <dgm:pt modelId="{B8FDACF8-BEEE-41DB-B0D6-AF66AFFCCDFC}">
      <dgm:prSet phldrT="[Text]"/>
      <dgm:spPr>
        <a:solidFill>
          <a:schemeClr val="accent4">
            <a:lumMod val="50000"/>
            <a:alpha val="90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dgm:spPr>
      <dgm:t>
        <a:bodyPr/>
        <a:lstStyle/>
        <a:p>
          <a:pPr>
            <a:buNone/>
          </a:pPr>
          <a:r>
            <a:rPr lang="en-US" dirty="0">
              <a:solidFill>
                <a:schemeClr val="bg1"/>
              </a:solidFill>
              <a:latin typeface="Calibri" pitchFamily="34" charset="0"/>
              <a:ea typeface="Calibri" pitchFamily="34" charset="-122"/>
              <a:cs typeface="Calibri" pitchFamily="34" charset="-120"/>
            </a:rPr>
            <a:t>No single org sees  the full picture.</a:t>
          </a:r>
          <a:endParaRPr lang="en-US" dirty="0">
            <a:solidFill>
              <a:schemeClr val="bg1"/>
            </a:solidFill>
          </a:endParaRPr>
        </a:p>
      </dgm:t>
    </dgm:pt>
    <dgm:pt modelId="{CD2E9C18-C861-4651-861B-E6E434FF142A}" type="parTrans" cxnId="{E93B53F2-8FC5-4595-8F00-AB5FE33B7356}">
      <dgm:prSet/>
      <dgm:spPr/>
      <dgm:t>
        <a:bodyPr/>
        <a:lstStyle/>
        <a:p>
          <a:endParaRPr lang="en-US"/>
        </a:p>
      </dgm:t>
    </dgm:pt>
    <dgm:pt modelId="{E5B17A52-1C29-4A73-85A7-619FD6186231}" type="sibTrans" cxnId="{E93B53F2-8FC5-4595-8F00-AB5FE33B7356}">
      <dgm:prSet/>
      <dgm:spPr/>
      <dgm:t>
        <a:bodyPr/>
        <a:lstStyle/>
        <a:p>
          <a:endParaRPr lang="en-US"/>
        </a:p>
      </dgm:t>
    </dgm:pt>
    <dgm:pt modelId="{ECF208D6-D51E-4ABB-894E-D323DBAC45E0}" type="pres">
      <dgm:prSet presAssocID="{19069EF0-4752-42C7-831A-8A4751DBCDA0}" presName="diagram" presStyleCnt="0">
        <dgm:presLayoutVars>
          <dgm:chPref val="1"/>
          <dgm:dir/>
          <dgm:animOne val="branch"/>
          <dgm:animLvl val="lvl"/>
          <dgm:resizeHandles/>
        </dgm:presLayoutVars>
      </dgm:prSet>
      <dgm:spPr/>
    </dgm:pt>
    <dgm:pt modelId="{245DAE6D-AA8C-4E60-8A36-D68C7B77DAA1}" type="pres">
      <dgm:prSet presAssocID="{368C873C-0826-4FBB-9E78-77A49764BD7D}" presName="root" presStyleCnt="0"/>
      <dgm:spPr/>
    </dgm:pt>
    <dgm:pt modelId="{F091AE58-5102-4C31-B9AF-4EE837A6B5B4}" type="pres">
      <dgm:prSet presAssocID="{368C873C-0826-4FBB-9E78-77A49764BD7D}" presName="rootComposite" presStyleCnt="0"/>
      <dgm:spPr/>
    </dgm:pt>
    <dgm:pt modelId="{586E9F39-2FFD-4672-B084-3E55467C3E60}" type="pres">
      <dgm:prSet presAssocID="{368C873C-0826-4FBB-9E78-77A49764BD7D}" presName="rootText" presStyleLbl="node1" presStyleIdx="0" presStyleCnt="5"/>
      <dgm:spPr/>
    </dgm:pt>
    <dgm:pt modelId="{6CE6276F-9B7D-429E-977B-AF0A7510CC10}" type="pres">
      <dgm:prSet presAssocID="{368C873C-0826-4FBB-9E78-77A49764BD7D}" presName="rootConnector" presStyleLbl="node1" presStyleIdx="0" presStyleCnt="5"/>
      <dgm:spPr/>
    </dgm:pt>
    <dgm:pt modelId="{453724ED-AF52-4E7A-83E6-9D6ADAF9493D}" type="pres">
      <dgm:prSet presAssocID="{368C873C-0826-4FBB-9E78-77A49764BD7D}" presName="childShape" presStyleCnt="0"/>
      <dgm:spPr/>
    </dgm:pt>
    <dgm:pt modelId="{C52901FB-5C47-45AF-A68E-FF4B7DAB1317}" type="pres">
      <dgm:prSet presAssocID="{7FCD1BF0-35FD-42DF-BB01-40FAA5B4A9AB}" presName="Name13" presStyleLbl="parChTrans1D2" presStyleIdx="0" presStyleCnt="5"/>
      <dgm:spPr/>
    </dgm:pt>
    <dgm:pt modelId="{3454003F-D837-43C2-B776-A4C6E265791E}" type="pres">
      <dgm:prSet presAssocID="{80360E8A-FCAB-4A23-936E-E7FCDCEF64B2}" presName="childText" presStyleLbl="bgAcc1" presStyleIdx="0" presStyleCnt="5">
        <dgm:presLayoutVars>
          <dgm:bulletEnabled val="1"/>
        </dgm:presLayoutVars>
      </dgm:prSet>
      <dgm:spPr/>
    </dgm:pt>
    <dgm:pt modelId="{BA3CE4AC-4DD6-4EAE-B5F6-C722693B1B12}" type="pres">
      <dgm:prSet presAssocID="{2FD8CD8D-0CA6-43EC-B2C5-50604BFD3F66}" presName="root" presStyleCnt="0"/>
      <dgm:spPr/>
    </dgm:pt>
    <dgm:pt modelId="{14B01A3B-530B-4282-89DF-E794165E19FB}" type="pres">
      <dgm:prSet presAssocID="{2FD8CD8D-0CA6-43EC-B2C5-50604BFD3F66}" presName="rootComposite" presStyleCnt="0"/>
      <dgm:spPr/>
    </dgm:pt>
    <dgm:pt modelId="{7D43A623-6F2C-4942-AC74-304854C1DA6C}" type="pres">
      <dgm:prSet presAssocID="{2FD8CD8D-0CA6-43EC-B2C5-50604BFD3F66}" presName="rootText" presStyleLbl="node1" presStyleIdx="1" presStyleCnt="5"/>
      <dgm:spPr/>
    </dgm:pt>
    <dgm:pt modelId="{C9F8D149-A05F-4B3B-81B3-B21259BE6A0B}" type="pres">
      <dgm:prSet presAssocID="{2FD8CD8D-0CA6-43EC-B2C5-50604BFD3F66}" presName="rootConnector" presStyleLbl="node1" presStyleIdx="1" presStyleCnt="5"/>
      <dgm:spPr/>
    </dgm:pt>
    <dgm:pt modelId="{F3B193E9-684F-4763-A48D-7AC82FD21215}" type="pres">
      <dgm:prSet presAssocID="{2FD8CD8D-0CA6-43EC-B2C5-50604BFD3F66}" presName="childShape" presStyleCnt="0"/>
      <dgm:spPr/>
    </dgm:pt>
    <dgm:pt modelId="{A1077D81-F149-4E89-BF09-6006185235D9}" type="pres">
      <dgm:prSet presAssocID="{036EED48-CDDB-49C3-9B9E-9ECE3A4A7657}" presName="Name13" presStyleLbl="parChTrans1D2" presStyleIdx="1" presStyleCnt="5"/>
      <dgm:spPr/>
    </dgm:pt>
    <dgm:pt modelId="{BD373BE4-4586-4362-903B-DBE5F7F88005}" type="pres">
      <dgm:prSet presAssocID="{8988B392-4547-496F-AE88-B992FDE86A71}" presName="childText" presStyleLbl="bgAcc1" presStyleIdx="1" presStyleCnt="5">
        <dgm:presLayoutVars>
          <dgm:bulletEnabled val="1"/>
        </dgm:presLayoutVars>
      </dgm:prSet>
      <dgm:spPr/>
    </dgm:pt>
    <dgm:pt modelId="{ACD48A29-F14B-4D87-B5E2-DA6092C33E0A}" type="pres">
      <dgm:prSet presAssocID="{46EF9D5E-F32F-4633-92C8-BFFE2C5568C8}" presName="root" presStyleCnt="0"/>
      <dgm:spPr/>
    </dgm:pt>
    <dgm:pt modelId="{56C85FD4-F36B-4211-9B35-4E36A4A19FB5}" type="pres">
      <dgm:prSet presAssocID="{46EF9D5E-F32F-4633-92C8-BFFE2C5568C8}" presName="rootComposite" presStyleCnt="0"/>
      <dgm:spPr/>
    </dgm:pt>
    <dgm:pt modelId="{4FBBDA01-1470-4B48-972A-701AC3006F37}" type="pres">
      <dgm:prSet presAssocID="{46EF9D5E-F32F-4633-92C8-BFFE2C5568C8}" presName="rootText" presStyleLbl="node1" presStyleIdx="2" presStyleCnt="5"/>
      <dgm:spPr/>
    </dgm:pt>
    <dgm:pt modelId="{2D2C7460-FC1B-4AEC-9CD8-9972FECE6A80}" type="pres">
      <dgm:prSet presAssocID="{46EF9D5E-F32F-4633-92C8-BFFE2C5568C8}" presName="rootConnector" presStyleLbl="node1" presStyleIdx="2" presStyleCnt="5"/>
      <dgm:spPr/>
    </dgm:pt>
    <dgm:pt modelId="{8F541453-B1D1-4374-A46F-2E83E277AC67}" type="pres">
      <dgm:prSet presAssocID="{46EF9D5E-F32F-4633-92C8-BFFE2C5568C8}" presName="childShape" presStyleCnt="0"/>
      <dgm:spPr/>
    </dgm:pt>
    <dgm:pt modelId="{F0E8A35B-9C9A-4B27-9E05-CBD38D697649}" type="pres">
      <dgm:prSet presAssocID="{496D5C29-B282-407F-A084-A424D59DACDF}" presName="Name13" presStyleLbl="parChTrans1D2" presStyleIdx="2" presStyleCnt="5"/>
      <dgm:spPr/>
    </dgm:pt>
    <dgm:pt modelId="{1E89FC50-AC22-494E-86D1-B387B661CA6C}" type="pres">
      <dgm:prSet presAssocID="{B3468EFE-45B0-4450-AF9A-77812B79EFBA}" presName="childText" presStyleLbl="bgAcc1" presStyleIdx="2" presStyleCnt="5">
        <dgm:presLayoutVars>
          <dgm:bulletEnabled val="1"/>
        </dgm:presLayoutVars>
      </dgm:prSet>
      <dgm:spPr/>
    </dgm:pt>
    <dgm:pt modelId="{2ADA37BF-6C7C-4719-9D23-9EEBC82E0DAD}" type="pres">
      <dgm:prSet presAssocID="{88C57D8D-92B1-4B1F-B081-0711EC400CAD}" presName="root" presStyleCnt="0"/>
      <dgm:spPr/>
    </dgm:pt>
    <dgm:pt modelId="{42FC555A-F9F1-4EAC-89B5-F2B87952FB12}" type="pres">
      <dgm:prSet presAssocID="{88C57D8D-92B1-4B1F-B081-0711EC400CAD}" presName="rootComposite" presStyleCnt="0"/>
      <dgm:spPr/>
    </dgm:pt>
    <dgm:pt modelId="{5D493598-FD38-46AE-83DE-4F42E3D38AAA}" type="pres">
      <dgm:prSet presAssocID="{88C57D8D-92B1-4B1F-B081-0711EC400CAD}" presName="rootText" presStyleLbl="node1" presStyleIdx="3" presStyleCnt="5"/>
      <dgm:spPr/>
    </dgm:pt>
    <dgm:pt modelId="{C5426CFD-4E49-46CE-A51D-73BFD29C19CF}" type="pres">
      <dgm:prSet presAssocID="{88C57D8D-92B1-4B1F-B081-0711EC400CAD}" presName="rootConnector" presStyleLbl="node1" presStyleIdx="3" presStyleCnt="5"/>
      <dgm:spPr/>
    </dgm:pt>
    <dgm:pt modelId="{DB1D6B8E-7251-4F24-9E2D-704B7FE5FDA2}" type="pres">
      <dgm:prSet presAssocID="{88C57D8D-92B1-4B1F-B081-0711EC400CAD}" presName="childShape" presStyleCnt="0"/>
      <dgm:spPr/>
    </dgm:pt>
    <dgm:pt modelId="{A97ABC89-B516-4DDA-BC67-90E01DE6F644}" type="pres">
      <dgm:prSet presAssocID="{8FF58FD6-7A6D-4103-A7E6-E51DED6424A4}" presName="Name13" presStyleLbl="parChTrans1D2" presStyleIdx="3" presStyleCnt="5"/>
      <dgm:spPr/>
    </dgm:pt>
    <dgm:pt modelId="{AC46A4CE-C8E5-4359-84DB-96CFFB469885}" type="pres">
      <dgm:prSet presAssocID="{261E5735-5D70-4F25-A64A-BEEB8343856A}" presName="childText" presStyleLbl="bgAcc1" presStyleIdx="3" presStyleCnt="5">
        <dgm:presLayoutVars>
          <dgm:bulletEnabled val="1"/>
        </dgm:presLayoutVars>
      </dgm:prSet>
      <dgm:spPr/>
    </dgm:pt>
    <dgm:pt modelId="{4ACA5E4B-B009-4569-904A-585D19825573}" type="pres">
      <dgm:prSet presAssocID="{2EF45661-BD13-48C3-B49B-A1105320A4BF}" presName="root" presStyleCnt="0"/>
      <dgm:spPr/>
    </dgm:pt>
    <dgm:pt modelId="{98680A52-11AD-48A0-BA86-C23C2DDCE6BA}" type="pres">
      <dgm:prSet presAssocID="{2EF45661-BD13-48C3-B49B-A1105320A4BF}" presName="rootComposite" presStyleCnt="0"/>
      <dgm:spPr/>
    </dgm:pt>
    <dgm:pt modelId="{D63BB540-0111-42D5-BEB1-96018364265F}" type="pres">
      <dgm:prSet presAssocID="{2EF45661-BD13-48C3-B49B-A1105320A4BF}" presName="rootText" presStyleLbl="node1" presStyleIdx="4" presStyleCnt="5"/>
      <dgm:spPr/>
    </dgm:pt>
    <dgm:pt modelId="{A2578DFA-8AA3-4ED6-966B-21E88B9B5FC1}" type="pres">
      <dgm:prSet presAssocID="{2EF45661-BD13-48C3-B49B-A1105320A4BF}" presName="rootConnector" presStyleLbl="node1" presStyleIdx="4" presStyleCnt="5"/>
      <dgm:spPr/>
    </dgm:pt>
    <dgm:pt modelId="{6C2632E2-607D-4781-A064-C761FC33DB1C}" type="pres">
      <dgm:prSet presAssocID="{2EF45661-BD13-48C3-B49B-A1105320A4BF}" presName="childShape" presStyleCnt="0"/>
      <dgm:spPr/>
    </dgm:pt>
    <dgm:pt modelId="{26C64ABC-2528-4650-AE21-3BB9D0A48428}" type="pres">
      <dgm:prSet presAssocID="{CD2E9C18-C861-4651-861B-E6E434FF142A}" presName="Name13" presStyleLbl="parChTrans1D2" presStyleIdx="4" presStyleCnt="5"/>
      <dgm:spPr/>
    </dgm:pt>
    <dgm:pt modelId="{3988DE90-CB4B-48AA-A144-8D77FE9C9CD9}" type="pres">
      <dgm:prSet presAssocID="{B8FDACF8-BEEE-41DB-B0D6-AF66AFFCCDFC}" presName="childText" presStyleLbl="bgAcc1" presStyleIdx="4" presStyleCnt="5">
        <dgm:presLayoutVars>
          <dgm:bulletEnabled val="1"/>
        </dgm:presLayoutVars>
      </dgm:prSet>
      <dgm:spPr/>
    </dgm:pt>
  </dgm:ptLst>
  <dgm:cxnLst>
    <dgm:cxn modelId="{B5A9FD08-3254-4A69-89C6-0339473E1485}" type="presOf" srcId="{46EF9D5E-F32F-4633-92C8-BFFE2C5568C8}" destId="{2D2C7460-FC1B-4AEC-9CD8-9972FECE6A80}" srcOrd="1" destOrd="0" presId="urn:microsoft.com/office/officeart/2005/8/layout/hierarchy3"/>
    <dgm:cxn modelId="{B749AD0D-ACE4-4160-83A1-9E8F57F61FCB}" type="presOf" srcId="{2EF45661-BD13-48C3-B49B-A1105320A4BF}" destId="{A2578DFA-8AA3-4ED6-966B-21E88B9B5FC1}" srcOrd="1" destOrd="0" presId="urn:microsoft.com/office/officeart/2005/8/layout/hierarchy3"/>
    <dgm:cxn modelId="{71F8A723-A214-45DB-B596-98CEEE360A62}" type="presOf" srcId="{2FD8CD8D-0CA6-43EC-B2C5-50604BFD3F66}" destId="{C9F8D149-A05F-4B3B-81B3-B21259BE6A0B}" srcOrd="1" destOrd="0" presId="urn:microsoft.com/office/officeart/2005/8/layout/hierarchy3"/>
    <dgm:cxn modelId="{69F5B926-6655-44DD-B8BA-2C2A54032A0C}" type="presOf" srcId="{80360E8A-FCAB-4A23-936E-E7FCDCEF64B2}" destId="{3454003F-D837-43C2-B776-A4C6E265791E}" srcOrd="0" destOrd="0" presId="urn:microsoft.com/office/officeart/2005/8/layout/hierarchy3"/>
    <dgm:cxn modelId="{A737062C-6219-407D-8E99-5A14C2377F25}" type="presOf" srcId="{036EED48-CDDB-49C3-9B9E-9ECE3A4A7657}" destId="{A1077D81-F149-4E89-BF09-6006185235D9}" srcOrd="0" destOrd="0" presId="urn:microsoft.com/office/officeart/2005/8/layout/hierarchy3"/>
    <dgm:cxn modelId="{BAE62B2E-2F43-4670-B533-7DDBDAFA412F}" srcId="{19069EF0-4752-42C7-831A-8A4751DBCDA0}" destId="{368C873C-0826-4FBB-9E78-77A49764BD7D}" srcOrd="0" destOrd="0" parTransId="{7229D7B8-7008-43A9-9045-8DD1B71F694B}" sibTransId="{34FD6223-7781-4E8B-9FCD-C1BAA031277F}"/>
    <dgm:cxn modelId="{E24B6E39-847C-4CE6-8DC9-FA7618802F84}" type="presOf" srcId="{7FCD1BF0-35FD-42DF-BB01-40FAA5B4A9AB}" destId="{C52901FB-5C47-45AF-A68E-FF4B7DAB1317}" srcOrd="0" destOrd="0" presId="urn:microsoft.com/office/officeart/2005/8/layout/hierarchy3"/>
    <dgm:cxn modelId="{7A4F243D-001F-44FA-AB0D-F9E0BA00903F}" srcId="{46EF9D5E-F32F-4633-92C8-BFFE2C5568C8}" destId="{B3468EFE-45B0-4450-AF9A-77812B79EFBA}" srcOrd="0" destOrd="0" parTransId="{496D5C29-B282-407F-A084-A424D59DACDF}" sibTransId="{4A1A7550-C5E1-4655-B984-457F2C219C3B}"/>
    <dgm:cxn modelId="{6B11F26C-9367-409C-8153-0A0976304E09}" type="presOf" srcId="{2EF45661-BD13-48C3-B49B-A1105320A4BF}" destId="{D63BB540-0111-42D5-BEB1-96018364265F}" srcOrd="0" destOrd="0" presId="urn:microsoft.com/office/officeart/2005/8/layout/hierarchy3"/>
    <dgm:cxn modelId="{7BFBEF74-A4D4-45AD-901D-47A7A291DDF6}" type="presOf" srcId="{261E5735-5D70-4F25-A64A-BEEB8343856A}" destId="{AC46A4CE-C8E5-4359-84DB-96CFFB469885}" srcOrd="0" destOrd="0" presId="urn:microsoft.com/office/officeart/2005/8/layout/hierarchy3"/>
    <dgm:cxn modelId="{D716C859-36DF-42E0-9423-D5142CDCC311}" srcId="{19069EF0-4752-42C7-831A-8A4751DBCDA0}" destId="{2EF45661-BD13-48C3-B49B-A1105320A4BF}" srcOrd="4" destOrd="0" parTransId="{6812CB18-48FB-4840-9B29-64F69AEC7E23}" sibTransId="{4335E16C-E306-4785-A6E5-26E8FA5748FF}"/>
    <dgm:cxn modelId="{77406D7B-7334-40C9-8353-BA632ECEBC50}" srcId="{19069EF0-4752-42C7-831A-8A4751DBCDA0}" destId="{88C57D8D-92B1-4B1F-B081-0711EC400CAD}" srcOrd="3" destOrd="0" parTransId="{304DDCA2-8F71-4B33-8D24-008FD31BE8D1}" sibTransId="{06D82E00-F2B5-4824-9BFD-8637EBAE1CB8}"/>
    <dgm:cxn modelId="{2228917E-FD3F-4E32-9DFC-8E4BE2A0E977}" type="presOf" srcId="{2FD8CD8D-0CA6-43EC-B2C5-50604BFD3F66}" destId="{7D43A623-6F2C-4942-AC74-304854C1DA6C}" srcOrd="0" destOrd="0" presId="urn:microsoft.com/office/officeart/2005/8/layout/hierarchy3"/>
    <dgm:cxn modelId="{62846884-98F1-4783-96D4-548AF67FF88E}" type="presOf" srcId="{8FF58FD6-7A6D-4103-A7E6-E51DED6424A4}" destId="{A97ABC89-B516-4DDA-BC67-90E01DE6F644}" srcOrd="0" destOrd="0" presId="urn:microsoft.com/office/officeart/2005/8/layout/hierarchy3"/>
    <dgm:cxn modelId="{D8B23A86-620B-4687-9625-43A54CD04173}" type="presOf" srcId="{368C873C-0826-4FBB-9E78-77A49764BD7D}" destId="{586E9F39-2FFD-4672-B084-3E55467C3E60}" srcOrd="0" destOrd="0" presId="urn:microsoft.com/office/officeart/2005/8/layout/hierarchy3"/>
    <dgm:cxn modelId="{7AF0528C-6ABF-4D09-8FE7-A8279DAE6250}" srcId="{368C873C-0826-4FBB-9E78-77A49764BD7D}" destId="{80360E8A-FCAB-4A23-936E-E7FCDCEF64B2}" srcOrd="0" destOrd="0" parTransId="{7FCD1BF0-35FD-42DF-BB01-40FAA5B4A9AB}" sibTransId="{CE5BA179-DF1F-4CA4-8789-F00216E5623A}"/>
    <dgm:cxn modelId="{2DA0398D-F2AB-43B5-820F-44DD6482BA2F}" type="presOf" srcId="{B8FDACF8-BEEE-41DB-B0D6-AF66AFFCCDFC}" destId="{3988DE90-CB4B-48AA-A144-8D77FE9C9CD9}" srcOrd="0" destOrd="0" presId="urn:microsoft.com/office/officeart/2005/8/layout/hierarchy3"/>
    <dgm:cxn modelId="{0AC8E08E-08C5-42F1-9F80-DD2C9338F7BE}" type="presOf" srcId="{88C57D8D-92B1-4B1F-B081-0711EC400CAD}" destId="{C5426CFD-4E49-46CE-A51D-73BFD29C19CF}" srcOrd="1" destOrd="0" presId="urn:microsoft.com/office/officeart/2005/8/layout/hierarchy3"/>
    <dgm:cxn modelId="{232A2B90-B5AB-4C12-9B02-CB332E959E4F}" srcId="{19069EF0-4752-42C7-831A-8A4751DBCDA0}" destId="{46EF9D5E-F32F-4633-92C8-BFFE2C5568C8}" srcOrd="2" destOrd="0" parTransId="{FA147545-336B-4347-8E73-CF1BD8AD03AF}" sibTransId="{DE4BAFFA-A210-41F2-BE9E-A16096942739}"/>
    <dgm:cxn modelId="{ED235291-4E7F-45B9-9111-6C3C264AB9CD}" type="presOf" srcId="{8988B392-4547-496F-AE88-B992FDE86A71}" destId="{BD373BE4-4586-4362-903B-DBE5F7F88005}" srcOrd="0" destOrd="0" presId="urn:microsoft.com/office/officeart/2005/8/layout/hierarchy3"/>
    <dgm:cxn modelId="{4788ED94-672C-434B-B331-D1F514DAE4F8}" type="presOf" srcId="{19069EF0-4752-42C7-831A-8A4751DBCDA0}" destId="{ECF208D6-D51E-4ABB-894E-D323DBAC45E0}" srcOrd="0" destOrd="0" presId="urn:microsoft.com/office/officeart/2005/8/layout/hierarchy3"/>
    <dgm:cxn modelId="{BCBAD199-0911-4FEC-81D1-25BEB6A09F29}" srcId="{2FD8CD8D-0CA6-43EC-B2C5-50604BFD3F66}" destId="{8988B392-4547-496F-AE88-B992FDE86A71}" srcOrd="0" destOrd="0" parTransId="{036EED48-CDDB-49C3-9B9E-9ECE3A4A7657}" sibTransId="{D78BDB1D-52B3-438F-B39F-C02C481D16FA}"/>
    <dgm:cxn modelId="{002719B9-5A54-4EBE-B1AE-C3786C91166F}" type="presOf" srcId="{88C57D8D-92B1-4B1F-B081-0711EC400CAD}" destId="{5D493598-FD38-46AE-83DE-4F42E3D38AAA}" srcOrd="0" destOrd="0" presId="urn:microsoft.com/office/officeart/2005/8/layout/hierarchy3"/>
    <dgm:cxn modelId="{8F9849C8-FA5B-43A1-8DAE-265CB034A01C}" type="presOf" srcId="{46EF9D5E-F32F-4633-92C8-BFFE2C5568C8}" destId="{4FBBDA01-1470-4B48-972A-701AC3006F37}" srcOrd="0" destOrd="0" presId="urn:microsoft.com/office/officeart/2005/8/layout/hierarchy3"/>
    <dgm:cxn modelId="{EC1B3DCA-0EEA-4650-B681-E9CB50E7842D}" srcId="{19069EF0-4752-42C7-831A-8A4751DBCDA0}" destId="{2FD8CD8D-0CA6-43EC-B2C5-50604BFD3F66}" srcOrd="1" destOrd="0" parTransId="{9EB7842D-EDBD-4FF5-8BF6-F15E90E079D8}" sibTransId="{789FAC39-12EE-48D3-AFF4-8E11989EF405}"/>
    <dgm:cxn modelId="{E9503ACF-BFA8-4460-9189-AF85F5B02320}" type="presOf" srcId="{368C873C-0826-4FBB-9E78-77A49764BD7D}" destId="{6CE6276F-9B7D-429E-977B-AF0A7510CC10}" srcOrd="1" destOrd="0" presId="urn:microsoft.com/office/officeart/2005/8/layout/hierarchy3"/>
    <dgm:cxn modelId="{71D606EE-8338-4490-BECA-49A8C706BB2B}" type="presOf" srcId="{B3468EFE-45B0-4450-AF9A-77812B79EFBA}" destId="{1E89FC50-AC22-494E-86D1-B387B661CA6C}" srcOrd="0" destOrd="0" presId="urn:microsoft.com/office/officeart/2005/8/layout/hierarchy3"/>
    <dgm:cxn modelId="{25491AEE-A7F1-4219-9366-7F1ED8B77F42}" srcId="{88C57D8D-92B1-4B1F-B081-0711EC400CAD}" destId="{261E5735-5D70-4F25-A64A-BEEB8343856A}" srcOrd="0" destOrd="0" parTransId="{8FF58FD6-7A6D-4103-A7E6-E51DED6424A4}" sibTransId="{FB7E1B79-0F8A-4072-AFB3-806B1E6A6BEF}"/>
    <dgm:cxn modelId="{E93B53F2-8FC5-4595-8F00-AB5FE33B7356}" srcId="{2EF45661-BD13-48C3-B49B-A1105320A4BF}" destId="{B8FDACF8-BEEE-41DB-B0D6-AF66AFFCCDFC}" srcOrd="0" destOrd="0" parTransId="{CD2E9C18-C861-4651-861B-E6E434FF142A}" sibTransId="{E5B17A52-1C29-4A73-85A7-619FD6186231}"/>
    <dgm:cxn modelId="{DC098EF3-A6B7-4911-AB93-64DCB11CB306}" type="presOf" srcId="{496D5C29-B282-407F-A084-A424D59DACDF}" destId="{F0E8A35B-9C9A-4B27-9E05-CBD38D697649}" srcOrd="0" destOrd="0" presId="urn:microsoft.com/office/officeart/2005/8/layout/hierarchy3"/>
    <dgm:cxn modelId="{103664FB-F096-428A-85D3-3CE5AED5C3FE}" type="presOf" srcId="{CD2E9C18-C861-4651-861B-E6E434FF142A}" destId="{26C64ABC-2528-4650-AE21-3BB9D0A48428}" srcOrd="0" destOrd="0" presId="urn:microsoft.com/office/officeart/2005/8/layout/hierarchy3"/>
    <dgm:cxn modelId="{2D7A08E9-186C-499A-A96B-327F69F1952D}" type="presParOf" srcId="{ECF208D6-D51E-4ABB-894E-D323DBAC45E0}" destId="{245DAE6D-AA8C-4E60-8A36-D68C7B77DAA1}" srcOrd="0" destOrd="0" presId="urn:microsoft.com/office/officeart/2005/8/layout/hierarchy3"/>
    <dgm:cxn modelId="{F8268B6E-85AE-4884-BD45-2E251DD2BB9C}" type="presParOf" srcId="{245DAE6D-AA8C-4E60-8A36-D68C7B77DAA1}" destId="{F091AE58-5102-4C31-B9AF-4EE837A6B5B4}" srcOrd="0" destOrd="0" presId="urn:microsoft.com/office/officeart/2005/8/layout/hierarchy3"/>
    <dgm:cxn modelId="{47549A19-8733-452D-83D8-ECF77FF3EDD5}" type="presParOf" srcId="{F091AE58-5102-4C31-B9AF-4EE837A6B5B4}" destId="{586E9F39-2FFD-4672-B084-3E55467C3E60}" srcOrd="0" destOrd="0" presId="urn:microsoft.com/office/officeart/2005/8/layout/hierarchy3"/>
    <dgm:cxn modelId="{279D1D34-A071-4070-8B3F-F2CA87F4612A}" type="presParOf" srcId="{F091AE58-5102-4C31-B9AF-4EE837A6B5B4}" destId="{6CE6276F-9B7D-429E-977B-AF0A7510CC10}" srcOrd="1" destOrd="0" presId="urn:microsoft.com/office/officeart/2005/8/layout/hierarchy3"/>
    <dgm:cxn modelId="{E1F79EF0-4035-4D7F-A32A-4552CF8EF46A}" type="presParOf" srcId="{245DAE6D-AA8C-4E60-8A36-D68C7B77DAA1}" destId="{453724ED-AF52-4E7A-83E6-9D6ADAF9493D}" srcOrd="1" destOrd="0" presId="urn:microsoft.com/office/officeart/2005/8/layout/hierarchy3"/>
    <dgm:cxn modelId="{F975DA39-D26C-4909-9FDE-C2F7DD903E18}" type="presParOf" srcId="{453724ED-AF52-4E7A-83E6-9D6ADAF9493D}" destId="{C52901FB-5C47-45AF-A68E-FF4B7DAB1317}" srcOrd="0" destOrd="0" presId="urn:microsoft.com/office/officeart/2005/8/layout/hierarchy3"/>
    <dgm:cxn modelId="{BDCCD604-2CC5-431F-BFF9-51D6661F0D3E}" type="presParOf" srcId="{453724ED-AF52-4E7A-83E6-9D6ADAF9493D}" destId="{3454003F-D837-43C2-B776-A4C6E265791E}" srcOrd="1" destOrd="0" presId="urn:microsoft.com/office/officeart/2005/8/layout/hierarchy3"/>
    <dgm:cxn modelId="{50AD9268-03F0-4FF4-AC31-AF855A8F39F7}" type="presParOf" srcId="{ECF208D6-D51E-4ABB-894E-D323DBAC45E0}" destId="{BA3CE4AC-4DD6-4EAE-B5F6-C722693B1B12}" srcOrd="1" destOrd="0" presId="urn:microsoft.com/office/officeart/2005/8/layout/hierarchy3"/>
    <dgm:cxn modelId="{37C33997-AB27-4014-8E37-255AD5232666}" type="presParOf" srcId="{BA3CE4AC-4DD6-4EAE-B5F6-C722693B1B12}" destId="{14B01A3B-530B-4282-89DF-E794165E19FB}" srcOrd="0" destOrd="0" presId="urn:microsoft.com/office/officeart/2005/8/layout/hierarchy3"/>
    <dgm:cxn modelId="{4A342B7B-1037-4B46-AACF-34C8AEEE0894}" type="presParOf" srcId="{14B01A3B-530B-4282-89DF-E794165E19FB}" destId="{7D43A623-6F2C-4942-AC74-304854C1DA6C}" srcOrd="0" destOrd="0" presId="urn:microsoft.com/office/officeart/2005/8/layout/hierarchy3"/>
    <dgm:cxn modelId="{BF886087-1B3A-4A7B-BEE1-0F4A14E5C568}" type="presParOf" srcId="{14B01A3B-530B-4282-89DF-E794165E19FB}" destId="{C9F8D149-A05F-4B3B-81B3-B21259BE6A0B}" srcOrd="1" destOrd="0" presId="urn:microsoft.com/office/officeart/2005/8/layout/hierarchy3"/>
    <dgm:cxn modelId="{23CFD180-A72F-404B-B4E5-5CE0247767E1}" type="presParOf" srcId="{BA3CE4AC-4DD6-4EAE-B5F6-C722693B1B12}" destId="{F3B193E9-684F-4763-A48D-7AC82FD21215}" srcOrd="1" destOrd="0" presId="urn:microsoft.com/office/officeart/2005/8/layout/hierarchy3"/>
    <dgm:cxn modelId="{7FBAA896-C2F8-4405-A9B8-7DDC85AF5076}" type="presParOf" srcId="{F3B193E9-684F-4763-A48D-7AC82FD21215}" destId="{A1077D81-F149-4E89-BF09-6006185235D9}" srcOrd="0" destOrd="0" presId="urn:microsoft.com/office/officeart/2005/8/layout/hierarchy3"/>
    <dgm:cxn modelId="{4799FB84-63D6-4CE9-BE06-9D71D1F4E0DD}" type="presParOf" srcId="{F3B193E9-684F-4763-A48D-7AC82FD21215}" destId="{BD373BE4-4586-4362-903B-DBE5F7F88005}" srcOrd="1" destOrd="0" presId="urn:microsoft.com/office/officeart/2005/8/layout/hierarchy3"/>
    <dgm:cxn modelId="{6161B78E-8CFE-4828-A926-FEBF2C3F3FAD}" type="presParOf" srcId="{ECF208D6-D51E-4ABB-894E-D323DBAC45E0}" destId="{ACD48A29-F14B-4D87-B5E2-DA6092C33E0A}" srcOrd="2" destOrd="0" presId="urn:microsoft.com/office/officeart/2005/8/layout/hierarchy3"/>
    <dgm:cxn modelId="{3D2A05F3-7710-4D17-8DBC-42FB35EF2543}" type="presParOf" srcId="{ACD48A29-F14B-4D87-B5E2-DA6092C33E0A}" destId="{56C85FD4-F36B-4211-9B35-4E36A4A19FB5}" srcOrd="0" destOrd="0" presId="urn:microsoft.com/office/officeart/2005/8/layout/hierarchy3"/>
    <dgm:cxn modelId="{4C294A9A-D304-43CC-93C9-8BB9BA31BEA4}" type="presParOf" srcId="{56C85FD4-F36B-4211-9B35-4E36A4A19FB5}" destId="{4FBBDA01-1470-4B48-972A-701AC3006F37}" srcOrd="0" destOrd="0" presId="urn:microsoft.com/office/officeart/2005/8/layout/hierarchy3"/>
    <dgm:cxn modelId="{50C3C18E-11E0-4655-B4F6-F2B1524C0A2D}" type="presParOf" srcId="{56C85FD4-F36B-4211-9B35-4E36A4A19FB5}" destId="{2D2C7460-FC1B-4AEC-9CD8-9972FECE6A80}" srcOrd="1" destOrd="0" presId="urn:microsoft.com/office/officeart/2005/8/layout/hierarchy3"/>
    <dgm:cxn modelId="{9C914E20-C5EF-42E9-916A-7FC8E053A657}" type="presParOf" srcId="{ACD48A29-F14B-4D87-B5E2-DA6092C33E0A}" destId="{8F541453-B1D1-4374-A46F-2E83E277AC67}" srcOrd="1" destOrd="0" presId="urn:microsoft.com/office/officeart/2005/8/layout/hierarchy3"/>
    <dgm:cxn modelId="{0680E053-A7E3-4BA3-A166-B01BE25924E8}" type="presParOf" srcId="{8F541453-B1D1-4374-A46F-2E83E277AC67}" destId="{F0E8A35B-9C9A-4B27-9E05-CBD38D697649}" srcOrd="0" destOrd="0" presId="urn:microsoft.com/office/officeart/2005/8/layout/hierarchy3"/>
    <dgm:cxn modelId="{39683A64-7E1D-4192-A344-744890AAD0B0}" type="presParOf" srcId="{8F541453-B1D1-4374-A46F-2E83E277AC67}" destId="{1E89FC50-AC22-494E-86D1-B387B661CA6C}" srcOrd="1" destOrd="0" presId="urn:microsoft.com/office/officeart/2005/8/layout/hierarchy3"/>
    <dgm:cxn modelId="{DF411FD4-2D79-495F-9836-B5F7D502E3B2}" type="presParOf" srcId="{ECF208D6-D51E-4ABB-894E-D323DBAC45E0}" destId="{2ADA37BF-6C7C-4719-9D23-9EEBC82E0DAD}" srcOrd="3" destOrd="0" presId="urn:microsoft.com/office/officeart/2005/8/layout/hierarchy3"/>
    <dgm:cxn modelId="{BEBC8577-9371-4F29-A1AC-D113668C3221}" type="presParOf" srcId="{2ADA37BF-6C7C-4719-9D23-9EEBC82E0DAD}" destId="{42FC555A-F9F1-4EAC-89B5-F2B87952FB12}" srcOrd="0" destOrd="0" presId="urn:microsoft.com/office/officeart/2005/8/layout/hierarchy3"/>
    <dgm:cxn modelId="{17DCCCCE-9498-486C-A6C8-2EAE56922350}" type="presParOf" srcId="{42FC555A-F9F1-4EAC-89B5-F2B87952FB12}" destId="{5D493598-FD38-46AE-83DE-4F42E3D38AAA}" srcOrd="0" destOrd="0" presId="urn:microsoft.com/office/officeart/2005/8/layout/hierarchy3"/>
    <dgm:cxn modelId="{972EA9E5-50A6-4235-AE37-86FBFA46F0AF}" type="presParOf" srcId="{42FC555A-F9F1-4EAC-89B5-F2B87952FB12}" destId="{C5426CFD-4E49-46CE-A51D-73BFD29C19CF}" srcOrd="1" destOrd="0" presId="urn:microsoft.com/office/officeart/2005/8/layout/hierarchy3"/>
    <dgm:cxn modelId="{DD3FCE74-99EA-4F20-B080-BD6DC5438682}" type="presParOf" srcId="{2ADA37BF-6C7C-4719-9D23-9EEBC82E0DAD}" destId="{DB1D6B8E-7251-4F24-9E2D-704B7FE5FDA2}" srcOrd="1" destOrd="0" presId="urn:microsoft.com/office/officeart/2005/8/layout/hierarchy3"/>
    <dgm:cxn modelId="{27379F71-81C5-4059-97E0-8FC66A8E3C9D}" type="presParOf" srcId="{DB1D6B8E-7251-4F24-9E2D-704B7FE5FDA2}" destId="{A97ABC89-B516-4DDA-BC67-90E01DE6F644}" srcOrd="0" destOrd="0" presId="urn:microsoft.com/office/officeart/2005/8/layout/hierarchy3"/>
    <dgm:cxn modelId="{F2FA5A23-98A6-4859-BF46-7509DBB843B4}" type="presParOf" srcId="{DB1D6B8E-7251-4F24-9E2D-704B7FE5FDA2}" destId="{AC46A4CE-C8E5-4359-84DB-96CFFB469885}" srcOrd="1" destOrd="0" presId="urn:microsoft.com/office/officeart/2005/8/layout/hierarchy3"/>
    <dgm:cxn modelId="{EAA32F9B-EB8E-4966-B55E-116093963761}" type="presParOf" srcId="{ECF208D6-D51E-4ABB-894E-D323DBAC45E0}" destId="{4ACA5E4B-B009-4569-904A-585D19825573}" srcOrd="4" destOrd="0" presId="urn:microsoft.com/office/officeart/2005/8/layout/hierarchy3"/>
    <dgm:cxn modelId="{FCB99B02-DA0A-43F9-A681-E0C74B5879F9}" type="presParOf" srcId="{4ACA5E4B-B009-4569-904A-585D19825573}" destId="{98680A52-11AD-48A0-BA86-C23C2DDCE6BA}" srcOrd="0" destOrd="0" presId="urn:microsoft.com/office/officeart/2005/8/layout/hierarchy3"/>
    <dgm:cxn modelId="{C64D5062-7E2C-4268-924E-1B5A98785B9F}" type="presParOf" srcId="{98680A52-11AD-48A0-BA86-C23C2DDCE6BA}" destId="{D63BB540-0111-42D5-BEB1-96018364265F}" srcOrd="0" destOrd="0" presId="urn:microsoft.com/office/officeart/2005/8/layout/hierarchy3"/>
    <dgm:cxn modelId="{C3B94658-4C8B-4885-B0A1-A4E2863AA6CA}" type="presParOf" srcId="{98680A52-11AD-48A0-BA86-C23C2DDCE6BA}" destId="{A2578DFA-8AA3-4ED6-966B-21E88B9B5FC1}" srcOrd="1" destOrd="0" presId="urn:microsoft.com/office/officeart/2005/8/layout/hierarchy3"/>
    <dgm:cxn modelId="{C10665FA-6613-4EDC-9A5C-BA86EEEE0916}" type="presParOf" srcId="{4ACA5E4B-B009-4569-904A-585D19825573}" destId="{6C2632E2-607D-4781-A064-C761FC33DB1C}" srcOrd="1" destOrd="0" presId="urn:microsoft.com/office/officeart/2005/8/layout/hierarchy3"/>
    <dgm:cxn modelId="{B76B0183-905F-4EDF-B505-1FA1B7E8EF95}" type="presParOf" srcId="{6C2632E2-607D-4781-A064-C761FC33DB1C}" destId="{26C64ABC-2528-4650-AE21-3BB9D0A48428}" srcOrd="0" destOrd="0" presId="urn:microsoft.com/office/officeart/2005/8/layout/hierarchy3"/>
    <dgm:cxn modelId="{FA188319-D55F-426F-83E7-E4C1F1C6DEF4}" type="presParOf" srcId="{6C2632E2-607D-4781-A064-C761FC33DB1C}" destId="{3988DE90-CB4B-48AA-A144-8D77FE9C9CD9}" srcOrd="1"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55B7A-4378-4F79-AEB3-44629EA494F0}">
      <dsp:nvSpPr>
        <dsp:cNvPr id="0" name=""/>
        <dsp:cNvSpPr/>
      </dsp:nvSpPr>
      <dsp:spPr>
        <a:xfrm>
          <a:off x="2357311" y="83063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0"/>
              <a:satOff val="0"/>
              <a:lumOff val="0"/>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99061" y="873651"/>
        <a:ext cx="27057" cy="5411"/>
      </dsp:txXfrm>
    </dsp:sp>
    <dsp:sp modelId="{46BBB1CF-3BF4-4204-9058-1FA3B14DF81D}">
      <dsp:nvSpPr>
        <dsp:cNvPr id="0" name=""/>
        <dsp:cNvSpPr/>
      </dsp:nvSpPr>
      <dsp:spPr>
        <a:xfrm>
          <a:off x="6250" y="170498"/>
          <a:ext cx="2352861" cy="1411716"/>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Open Browser Search IP</a:t>
          </a:r>
        </a:p>
      </dsp:txBody>
      <dsp:txXfrm>
        <a:off x="6250" y="170498"/>
        <a:ext cx="2352861" cy="1411716"/>
      </dsp:txXfrm>
    </dsp:sp>
    <dsp:sp modelId="{D8C9F722-9EC0-45B1-958A-BA5A4825F66A}">
      <dsp:nvSpPr>
        <dsp:cNvPr id="0" name=""/>
        <dsp:cNvSpPr/>
      </dsp:nvSpPr>
      <dsp:spPr>
        <a:xfrm>
          <a:off x="5251330" y="83063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25196"/>
              <a:satOff val="-604"/>
              <a:lumOff val="3197"/>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93080" y="873651"/>
        <a:ext cx="27057" cy="5411"/>
      </dsp:txXfrm>
    </dsp:sp>
    <dsp:sp modelId="{34C39139-9C02-4B14-9E4B-FD02B1EA5186}">
      <dsp:nvSpPr>
        <dsp:cNvPr id="0" name=""/>
        <dsp:cNvSpPr/>
      </dsp:nvSpPr>
      <dsp:spPr>
        <a:xfrm>
          <a:off x="2900269" y="170498"/>
          <a:ext cx="2352861" cy="1411716"/>
        </a:xfrm>
        <a:prstGeom prst="rect">
          <a:avLst/>
        </a:prstGeom>
        <a:gradFill rotWithShape="0">
          <a:gsLst>
            <a:gs pos="0">
              <a:schemeClr val="accent4">
                <a:shade val="80000"/>
                <a:hueOff val="-22070"/>
                <a:satOff val="-546"/>
                <a:lumOff val="3124"/>
                <a:alphaOff val="0"/>
                <a:shade val="51000"/>
                <a:satMod val="130000"/>
              </a:schemeClr>
            </a:gs>
            <a:gs pos="80000">
              <a:schemeClr val="accent4">
                <a:shade val="80000"/>
                <a:hueOff val="-22070"/>
                <a:satOff val="-546"/>
                <a:lumOff val="3124"/>
                <a:alphaOff val="0"/>
                <a:shade val="93000"/>
                <a:satMod val="130000"/>
              </a:schemeClr>
            </a:gs>
            <a:gs pos="100000">
              <a:schemeClr val="accent4">
                <a:shade val="80000"/>
                <a:hueOff val="-22070"/>
                <a:satOff val="-546"/>
                <a:lumOff val="312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VirusTotal Lookup</a:t>
          </a:r>
        </a:p>
      </dsp:txBody>
      <dsp:txXfrm>
        <a:off x="2900269" y="170498"/>
        <a:ext cx="2352861" cy="1411716"/>
      </dsp:txXfrm>
    </dsp:sp>
    <dsp:sp modelId="{D004365D-1F04-4C4A-BEBC-007D3808EBA1}">
      <dsp:nvSpPr>
        <dsp:cNvPr id="0" name=""/>
        <dsp:cNvSpPr/>
      </dsp:nvSpPr>
      <dsp:spPr>
        <a:xfrm>
          <a:off x="1182680" y="1580415"/>
          <a:ext cx="5788038" cy="510558"/>
        </a:xfrm>
        <a:custGeom>
          <a:avLst/>
          <a:gdLst/>
          <a:ahLst/>
          <a:cxnLst/>
          <a:rect l="0" t="0" r="0" b="0"/>
          <a:pathLst>
            <a:path>
              <a:moveTo>
                <a:pt x="5788038" y="0"/>
              </a:moveTo>
              <a:lnTo>
                <a:pt x="5788038" y="272379"/>
              </a:lnTo>
              <a:lnTo>
                <a:pt x="0" y="272379"/>
              </a:lnTo>
              <a:lnTo>
                <a:pt x="0" y="510558"/>
              </a:lnTo>
            </a:path>
          </a:pathLst>
        </a:custGeom>
        <a:noFill/>
        <a:ln w="9525" cap="flat" cmpd="sng" algn="ctr">
          <a:solidFill>
            <a:schemeClr val="accent4">
              <a:shade val="90000"/>
              <a:hueOff val="-50392"/>
              <a:satOff val="-1208"/>
              <a:lumOff val="6395"/>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31367" y="1832988"/>
        <a:ext cx="290664" cy="5411"/>
      </dsp:txXfrm>
    </dsp:sp>
    <dsp:sp modelId="{0532401B-5D3C-4191-B549-9A5795D732D9}">
      <dsp:nvSpPr>
        <dsp:cNvPr id="0" name=""/>
        <dsp:cNvSpPr/>
      </dsp:nvSpPr>
      <dsp:spPr>
        <a:xfrm>
          <a:off x="5794288" y="170498"/>
          <a:ext cx="2352861" cy="1411716"/>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WHOIS lookup</a:t>
          </a:r>
          <a:endParaRPr lang="en-US" sz="2500" kern="1200" dirty="0"/>
        </a:p>
      </dsp:txBody>
      <dsp:txXfrm>
        <a:off x="5794288" y="170498"/>
        <a:ext cx="2352861" cy="1411716"/>
      </dsp:txXfrm>
    </dsp:sp>
    <dsp:sp modelId="{3BC05B54-7514-4657-B33D-BA663437A155}">
      <dsp:nvSpPr>
        <dsp:cNvPr id="0" name=""/>
        <dsp:cNvSpPr/>
      </dsp:nvSpPr>
      <dsp:spPr>
        <a:xfrm>
          <a:off x="2357311" y="2783511"/>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75588"/>
              <a:satOff val="-1812"/>
              <a:lumOff val="9592"/>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99061" y="2826525"/>
        <a:ext cx="27057" cy="5411"/>
      </dsp:txXfrm>
    </dsp:sp>
    <dsp:sp modelId="{F3097572-F708-40A4-A4EE-76D3805BA1A7}">
      <dsp:nvSpPr>
        <dsp:cNvPr id="0" name=""/>
        <dsp:cNvSpPr/>
      </dsp:nvSpPr>
      <dsp:spPr>
        <a:xfrm>
          <a:off x="6250" y="2123373"/>
          <a:ext cx="2352861" cy="1411716"/>
        </a:xfrm>
        <a:prstGeom prst="rect">
          <a:avLst/>
        </a:prstGeom>
        <a:gradFill rotWithShape="0">
          <a:gsLst>
            <a:gs pos="0">
              <a:schemeClr val="accent4">
                <a:shade val="80000"/>
                <a:hueOff val="-66209"/>
                <a:satOff val="-1637"/>
                <a:lumOff val="9371"/>
                <a:alphaOff val="0"/>
                <a:shade val="51000"/>
                <a:satMod val="130000"/>
              </a:schemeClr>
            </a:gs>
            <a:gs pos="80000">
              <a:schemeClr val="accent4">
                <a:shade val="80000"/>
                <a:hueOff val="-66209"/>
                <a:satOff val="-1637"/>
                <a:lumOff val="9371"/>
                <a:alphaOff val="0"/>
                <a:shade val="93000"/>
                <a:satMod val="130000"/>
              </a:schemeClr>
            </a:gs>
            <a:gs pos="100000">
              <a:schemeClr val="accent4">
                <a:shade val="80000"/>
                <a:hueOff val="-66209"/>
                <a:satOff val="-1637"/>
                <a:lumOff val="937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Check passive DNS </a:t>
          </a:r>
          <a:endParaRPr lang="en-US" sz="2500" kern="1200" dirty="0"/>
        </a:p>
      </dsp:txBody>
      <dsp:txXfrm>
        <a:off x="6250" y="2123373"/>
        <a:ext cx="2352861" cy="1411716"/>
      </dsp:txXfrm>
    </dsp:sp>
    <dsp:sp modelId="{C87C69CD-FDD0-496F-94E6-05A490FAD43F}">
      <dsp:nvSpPr>
        <dsp:cNvPr id="0" name=""/>
        <dsp:cNvSpPr/>
      </dsp:nvSpPr>
      <dsp:spPr>
        <a:xfrm>
          <a:off x="5251330" y="2783511"/>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100784"/>
              <a:satOff val="-2416"/>
              <a:lumOff val="12789"/>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93080" y="2826525"/>
        <a:ext cx="27057" cy="5411"/>
      </dsp:txXfrm>
    </dsp:sp>
    <dsp:sp modelId="{EBA6C552-9A97-43AD-972A-19332440F388}">
      <dsp:nvSpPr>
        <dsp:cNvPr id="0" name=""/>
        <dsp:cNvSpPr/>
      </dsp:nvSpPr>
      <dsp:spPr>
        <a:xfrm>
          <a:off x="2900269" y="2123373"/>
          <a:ext cx="2352861" cy="1411716"/>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Google the Domain</a:t>
          </a:r>
          <a:endParaRPr lang="en-US" sz="2500" kern="1200" dirty="0"/>
        </a:p>
      </dsp:txBody>
      <dsp:txXfrm>
        <a:off x="2900269" y="2123373"/>
        <a:ext cx="2352861" cy="1411716"/>
      </dsp:txXfrm>
    </dsp:sp>
    <dsp:sp modelId="{20EEE331-85F0-4B73-BE47-673D0FA0751A}">
      <dsp:nvSpPr>
        <dsp:cNvPr id="0" name=""/>
        <dsp:cNvSpPr/>
      </dsp:nvSpPr>
      <dsp:spPr>
        <a:xfrm>
          <a:off x="1182680" y="3533289"/>
          <a:ext cx="5788038" cy="510558"/>
        </a:xfrm>
        <a:custGeom>
          <a:avLst/>
          <a:gdLst/>
          <a:ahLst/>
          <a:cxnLst/>
          <a:rect l="0" t="0" r="0" b="0"/>
          <a:pathLst>
            <a:path>
              <a:moveTo>
                <a:pt x="5788038" y="0"/>
              </a:moveTo>
              <a:lnTo>
                <a:pt x="5788038" y="272379"/>
              </a:lnTo>
              <a:lnTo>
                <a:pt x="0" y="272379"/>
              </a:lnTo>
              <a:lnTo>
                <a:pt x="0" y="510558"/>
              </a:lnTo>
            </a:path>
          </a:pathLst>
        </a:custGeom>
        <a:noFill/>
        <a:ln w="9525" cap="flat" cmpd="sng" algn="ctr">
          <a:solidFill>
            <a:schemeClr val="accent4">
              <a:shade val="90000"/>
              <a:hueOff val="-125980"/>
              <a:satOff val="-3020"/>
              <a:lumOff val="15986"/>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31367" y="3785863"/>
        <a:ext cx="290664" cy="5411"/>
      </dsp:txXfrm>
    </dsp:sp>
    <dsp:sp modelId="{134D9101-E52D-479E-AD0F-E3EEE67AC195}">
      <dsp:nvSpPr>
        <dsp:cNvPr id="0" name=""/>
        <dsp:cNvSpPr/>
      </dsp:nvSpPr>
      <dsp:spPr>
        <a:xfrm>
          <a:off x="5794288" y="2123373"/>
          <a:ext cx="2352861" cy="1411716"/>
        </a:xfrm>
        <a:prstGeom prst="rect">
          <a:avLst/>
        </a:prstGeom>
        <a:gradFill rotWithShape="0">
          <a:gsLst>
            <a:gs pos="0">
              <a:schemeClr val="accent4">
                <a:shade val="80000"/>
                <a:hueOff val="-110349"/>
                <a:satOff val="-2728"/>
                <a:lumOff val="15618"/>
                <a:alphaOff val="0"/>
                <a:shade val="51000"/>
                <a:satMod val="130000"/>
              </a:schemeClr>
            </a:gs>
            <a:gs pos="80000">
              <a:schemeClr val="accent4">
                <a:shade val="80000"/>
                <a:hueOff val="-110349"/>
                <a:satOff val="-2728"/>
                <a:lumOff val="15618"/>
                <a:alphaOff val="0"/>
                <a:shade val="93000"/>
                <a:satMod val="130000"/>
              </a:schemeClr>
            </a:gs>
            <a:gs pos="100000">
              <a:schemeClr val="accent4">
                <a:shade val="80000"/>
                <a:hueOff val="-110349"/>
                <a:satOff val="-2728"/>
                <a:lumOff val="156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Try find campaign context</a:t>
          </a:r>
        </a:p>
      </dsp:txBody>
      <dsp:txXfrm>
        <a:off x="5794288" y="2123373"/>
        <a:ext cx="2352861" cy="1411716"/>
      </dsp:txXfrm>
    </dsp:sp>
    <dsp:sp modelId="{088BAB1E-A234-47E5-8C13-2C16A6C47521}">
      <dsp:nvSpPr>
        <dsp:cNvPr id="0" name=""/>
        <dsp:cNvSpPr/>
      </dsp:nvSpPr>
      <dsp:spPr>
        <a:xfrm>
          <a:off x="2357311" y="473638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151177"/>
              <a:satOff val="-3624"/>
              <a:lumOff val="19184"/>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99061" y="4779400"/>
        <a:ext cx="27057" cy="5411"/>
      </dsp:txXfrm>
    </dsp:sp>
    <dsp:sp modelId="{7C5282DE-5787-4548-A7EE-76B502BAA1F9}">
      <dsp:nvSpPr>
        <dsp:cNvPr id="0" name=""/>
        <dsp:cNvSpPr/>
      </dsp:nvSpPr>
      <dsp:spPr>
        <a:xfrm>
          <a:off x="6250" y="4076247"/>
          <a:ext cx="2352861" cy="1411716"/>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Pivot to Sandbox reports</a:t>
          </a:r>
        </a:p>
      </dsp:txBody>
      <dsp:txXfrm>
        <a:off x="6250" y="4076247"/>
        <a:ext cx="2352861" cy="1411716"/>
      </dsp:txXfrm>
    </dsp:sp>
    <dsp:sp modelId="{F431DE57-5761-4CE7-A8D4-8526513FCFA9}">
      <dsp:nvSpPr>
        <dsp:cNvPr id="0" name=""/>
        <dsp:cNvSpPr/>
      </dsp:nvSpPr>
      <dsp:spPr>
        <a:xfrm>
          <a:off x="5251330" y="473638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176373"/>
              <a:satOff val="-4228"/>
              <a:lumOff val="22381"/>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93080" y="4779400"/>
        <a:ext cx="27057" cy="5411"/>
      </dsp:txXfrm>
    </dsp:sp>
    <dsp:sp modelId="{6E799CD7-B316-485F-94B3-8A4D435D4ED2}">
      <dsp:nvSpPr>
        <dsp:cNvPr id="0" name=""/>
        <dsp:cNvSpPr/>
      </dsp:nvSpPr>
      <dsp:spPr>
        <a:xfrm>
          <a:off x="2900269" y="4076247"/>
          <a:ext cx="2352861" cy="1411716"/>
        </a:xfrm>
        <a:prstGeom prst="rect">
          <a:avLst/>
        </a:prstGeom>
        <a:gradFill rotWithShape="0">
          <a:gsLst>
            <a:gs pos="0">
              <a:schemeClr val="accent4">
                <a:shade val="80000"/>
                <a:hueOff val="-154488"/>
                <a:satOff val="-3819"/>
                <a:lumOff val="21865"/>
                <a:alphaOff val="0"/>
                <a:shade val="51000"/>
                <a:satMod val="130000"/>
              </a:schemeClr>
            </a:gs>
            <a:gs pos="80000">
              <a:schemeClr val="accent4">
                <a:shade val="80000"/>
                <a:hueOff val="-154488"/>
                <a:satOff val="-3819"/>
                <a:lumOff val="21865"/>
                <a:alphaOff val="0"/>
                <a:shade val="93000"/>
                <a:satMod val="130000"/>
              </a:schemeClr>
            </a:gs>
            <a:gs pos="100000">
              <a:schemeClr val="accent4">
                <a:shade val="80000"/>
                <a:hueOff val="-154488"/>
                <a:satOff val="-3819"/>
                <a:lumOff val="2186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Escalate – no context</a:t>
          </a:r>
        </a:p>
      </dsp:txBody>
      <dsp:txXfrm>
        <a:off x="2900269" y="4076247"/>
        <a:ext cx="2352861" cy="1411716"/>
      </dsp:txXfrm>
    </dsp:sp>
    <dsp:sp modelId="{6DE9517B-3560-4853-ACAE-89D0ADEC0637}">
      <dsp:nvSpPr>
        <dsp:cNvPr id="0" name=""/>
        <dsp:cNvSpPr/>
      </dsp:nvSpPr>
      <dsp:spPr>
        <a:xfrm>
          <a:off x="5794288" y="4076247"/>
          <a:ext cx="2352861" cy="1411716"/>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kern="1200" dirty="0"/>
            <a:t>45 minutes later: still uncertain</a:t>
          </a:r>
        </a:p>
      </dsp:txBody>
      <dsp:txXfrm>
        <a:off x="5794288" y="4076247"/>
        <a:ext cx="2352861" cy="1411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55B7A-4378-4F79-AEB3-44629EA494F0}">
      <dsp:nvSpPr>
        <dsp:cNvPr id="0" name=""/>
        <dsp:cNvSpPr/>
      </dsp:nvSpPr>
      <dsp:spPr>
        <a:xfrm>
          <a:off x="2357311" y="83063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0"/>
              <a:satOff val="0"/>
              <a:lumOff val="0"/>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2599061" y="873651"/>
        <a:ext cx="27057" cy="5411"/>
      </dsp:txXfrm>
    </dsp:sp>
    <dsp:sp modelId="{46BBB1CF-3BF4-4204-9058-1FA3B14DF81D}">
      <dsp:nvSpPr>
        <dsp:cNvPr id="0" name=""/>
        <dsp:cNvSpPr/>
      </dsp:nvSpPr>
      <dsp:spPr>
        <a:xfrm>
          <a:off x="6250" y="170498"/>
          <a:ext cx="2352861" cy="1411716"/>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WHOIS: 3 days old, privacy service -&gt; high suspicious</a:t>
          </a:r>
          <a:endParaRPr lang="en-US" sz="1800" kern="1200" dirty="0"/>
        </a:p>
      </dsp:txBody>
      <dsp:txXfrm>
        <a:off x="6250" y="170498"/>
        <a:ext cx="2352861" cy="1411716"/>
      </dsp:txXfrm>
    </dsp:sp>
    <dsp:sp modelId="{D8C9F722-9EC0-45B1-958A-BA5A4825F66A}">
      <dsp:nvSpPr>
        <dsp:cNvPr id="0" name=""/>
        <dsp:cNvSpPr/>
      </dsp:nvSpPr>
      <dsp:spPr>
        <a:xfrm>
          <a:off x="5251330" y="83063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29395"/>
              <a:satOff val="-705"/>
              <a:lumOff val="3730"/>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5493080" y="873651"/>
        <a:ext cx="27057" cy="5411"/>
      </dsp:txXfrm>
    </dsp:sp>
    <dsp:sp modelId="{34C39139-9C02-4B14-9E4B-FD02B1EA5186}">
      <dsp:nvSpPr>
        <dsp:cNvPr id="0" name=""/>
        <dsp:cNvSpPr/>
      </dsp:nvSpPr>
      <dsp:spPr>
        <a:xfrm>
          <a:off x="2900269" y="170498"/>
          <a:ext cx="2352861" cy="1411716"/>
        </a:xfrm>
        <a:prstGeom prst="rect">
          <a:avLst/>
        </a:prstGeom>
        <a:gradFill rotWithShape="0">
          <a:gsLst>
            <a:gs pos="0">
              <a:schemeClr val="accent4">
                <a:shade val="80000"/>
                <a:hueOff val="-25223"/>
                <a:satOff val="-624"/>
                <a:lumOff val="3570"/>
                <a:alphaOff val="0"/>
                <a:shade val="51000"/>
                <a:satMod val="130000"/>
              </a:schemeClr>
            </a:gs>
            <a:gs pos="80000">
              <a:schemeClr val="accent4">
                <a:shade val="80000"/>
                <a:hueOff val="-25223"/>
                <a:satOff val="-624"/>
                <a:lumOff val="3570"/>
                <a:alphaOff val="0"/>
                <a:shade val="93000"/>
                <a:satMod val="130000"/>
              </a:schemeClr>
            </a:gs>
            <a:gs pos="100000">
              <a:schemeClr val="accent4">
                <a:shade val="80000"/>
                <a:hueOff val="-25223"/>
                <a:satOff val="-624"/>
                <a:lumOff val="357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ea typeface="Calibri" pitchFamily="34" charset="-122"/>
              <a:cs typeface="Calibri" pitchFamily="34" charset="-120"/>
            </a:rPr>
            <a:t>GreyNoise: Scanning SSH globally → opportunistic actor</a:t>
          </a:r>
          <a:endParaRPr lang="en-US" sz="1800" kern="1200" dirty="0"/>
        </a:p>
      </dsp:txBody>
      <dsp:txXfrm>
        <a:off x="2900269" y="170498"/>
        <a:ext cx="2352861" cy="1411716"/>
      </dsp:txXfrm>
    </dsp:sp>
    <dsp:sp modelId="{D004365D-1F04-4C4A-BEBC-007D3808EBA1}">
      <dsp:nvSpPr>
        <dsp:cNvPr id="0" name=""/>
        <dsp:cNvSpPr/>
      </dsp:nvSpPr>
      <dsp:spPr>
        <a:xfrm>
          <a:off x="1182680" y="1580415"/>
          <a:ext cx="5788038" cy="510558"/>
        </a:xfrm>
        <a:custGeom>
          <a:avLst/>
          <a:gdLst/>
          <a:ahLst/>
          <a:cxnLst/>
          <a:rect l="0" t="0" r="0" b="0"/>
          <a:pathLst>
            <a:path>
              <a:moveTo>
                <a:pt x="5788038" y="0"/>
              </a:moveTo>
              <a:lnTo>
                <a:pt x="5788038" y="272379"/>
              </a:lnTo>
              <a:lnTo>
                <a:pt x="0" y="272379"/>
              </a:lnTo>
              <a:lnTo>
                <a:pt x="0" y="510558"/>
              </a:lnTo>
            </a:path>
          </a:pathLst>
        </a:custGeom>
        <a:noFill/>
        <a:ln w="9525" cap="flat" cmpd="sng" algn="ctr">
          <a:solidFill>
            <a:schemeClr val="accent4">
              <a:shade val="90000"/>
              <a:hueOff val="-58791"/>
              <a:satOff val="-1409"/>
              <a:lumOff val="7460"/>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3931367" y="1832988"/>
        <a:ext cx="290664" cy="5411"/>
      </dsp:txXfrm>
    </dsp:sp>
    <dsp:sp modelId="{0532401B-5D3C-4191-B549-9A5795D732D9}">
      <dsp:nvSpPr>
        <dsp:cNvPr id="0" name=""/>
        <dsp:cNvSpPr/>
      </dsp:nvSpPr>
      <dsp:spPr>
        <a:xfrm>
          <a:off x="5794288" y="170498"/>
          <a:ext cx="2352861" cy="1411716"/>
        </a:xfrm>
        <a:prstGeom prst="rect">
          <a:avLst/>
        </a:prstGeom>
        <a:gradFill rotWithShape="0">
          <a:gsLst>
            <a:gs pos="0">
              <a:schemeClr val="accent4">
                <a:shade val="80000"/>
                <a:hueOff val="-50445"/>
                <a:satOff val="-1247"/>
                <a:lumOff val="7139"/>
                <a:alphaOff val="0"/>
                <a:shade val="51000"/>
                <a:satMod val="130000"/>
              </a:schemeClr>
            </a:gs>
            <a:gs pos="80000">
              <a:schemeClr val="accent4">
                <a:shade val="80000"/>
                <a:hueOff val="-50445"/>
                <a:satOff val="-1247"/>
                <a:lumOff val="7139"/>
                <a:alphaOff val="0"/>
                <a:shade val="93000"/>
                <a:satMod val="130000"/>
              </a:schemeClr>
            </a:gs>
            <a:gs pos="100000">
              <a:schemeClr val="accent4">
                <a:shade val="80000"/>
                <a:hueOff val="-50445"/>
                <a:satOff val="-1247"/>
                <a:lumOff val="71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ea typeface="Calibri" pitchFamily="34" charset="-122"/>
              <a:cs typeface="Calibri" pitchFamily="34" charset="-120"/>
            </a:rPr>
            <a:t>VirusTotal: 3 engines flagged → confirmed malicious</a:t>
          </a:r>
          <a:endParaRPr lang="en-US" sz="1800" kern="1200" dirty="0"/>
        </a:p>
      </dsp:txBody>
      <dsp:txXfrm>
        <a:off x="5794288" y="170498"/>
        <a:ext cx="2352861" cy="1411716"/>
      </dsp:txXfrm>
    </dsp:sp>
    <dsp:sp modelId="{3BC05B54-7514-4657-B33D-BA663437A155}">
      <dsp:nvSpPr>
        <dsp:cNvPr id="0" name=""/>
        <dsp:cNvSpPr/>
      </dsp:nvSpPr>
      <dsp:spPr>
        <a:xfrm>
          <a:off x="2357311" y="2783511"/>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88186"/>
              <a:satOff val="-2114"/>
              <a:lumOff val="11191"/>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2599061" y="2826525"/>
        <a:ext cx="27057" cy="5411"/>
      </dsp:txXfrm>
    </dsp:sp>
    <dsp:sp modelId="{F3097572-F708-40A4-A4EE-76D3805BA1A7}">
      <dsp:nvSpPr>
        <dsp:cNvPr id="0" name=""/>
        <dsp:cNvSpPr/>
      </dsp:nvSpPr>
      <dsp:spPr>
        <a:xfrm>
          <a:off x="6250" y="2123373"/>
          <a:ext cx="2352861" cy="1411716"/>
        </a:xfrm>
        <a:prstGeom prst="rect">
          <a:avLst/>
        </a:prstGeom>
        <a:gradFill rotWithShape="0">
          <a:gsLst>
            <a:gs pos="0">
              <a:schemeClr val="accent4">
                <a:shade val="80000"/>
                <a:hueOff val="-75668"/>
                <a:satOff val="-1871"/>
                <a:lumOff val="10709"/>
                <a:alphaOff val="0"/>
                <a:shade val="51000"/>
                <a:satMod val="130000"/>
              </a:schemeClr>
            </a:gs>
            <a:gs pos="80000">
              <a:schemeClr val="accent4">
                <a:shade val="80000"/>
                <a:hueOff val="-75668"/>
                <a:satOff val="-1871"/>
                <a:lumOff val="10709"/>
                <a:alphaOff val="0"/>
                <a:shade val="93000"/>
                <a:satMod val="130000"/>
              </a:schemeClr>
            </a:gs>
            <a:gs pos="100000">
              <a:schemeClr val="accent4">
                <a:shade val="80000"/>
                <a:hueOff val="-75668"/>
                <a:satOff val="-1871"/>
                <a:lumOff val="1070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ea typeface="Calibri" pitchFamily="34" charset="-122"/>
              <a:cs typeface="Calibri" pitchFamily="34" charset="-120"/>
            </a:rPr>
            <a:t>PassiveDNS: Resolved from akudate.evilcorp.com</a:t>
          </a:r>
          <a:endParaRPr lang="en-US" sz="1800" kern="1200" dirty="0"/>
        </a:p>
      </dsp:txBody>
      <dsp:txXfrm>
        <a:off x="6250" y="2123373"/>
        <a:ext cx="2352861" cy="1411716"/>
      </dsp:txXfrm>
    </dsp:sp>
    <dsp:sp modelId="{C87C69CD-FDD0-496F-94E6-05A490FAD43F}">
      <dsp:nvSpPr>
        <dsp:cNvPr id="0" name=""/>
        <dsp:cNvSpPr/>
      </dsp:nvSpPr>
      <dsp:spPr>
        <a:xfrm>
          <a:off x="5251330" y="2783511"/>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117582"/>
              <a:satOff val="-2819"/>
              <a:lumOff val="14921"/>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5493080" y="2826525"/>
        <a:ext cx="27057" cy="5411"/>
      </dsp:txXfrm>
    </dsp:sp>
    <dsp:sp modelId="{EBA6C552-9A97-43AD-972A-19332440F388}">
      <dsp:nvSpPr>
        <dsp:cNvPr id="0" name=""/>
        <dsp:cNvSpPr/>
      </dsp:nvSpPr>
      <dsp:spPr>
        <a:xfrm>
          <a:off x="2900269" y="2123373"/>
          <a:ext cx="2352861" cy="1411716"/>
        </a:xfrm>
        <a:prstGeom prst="rect">
          <a:avLst/>
        </a:prstGeom>
        <a:gradFill rotWithShape="0">
          <a:gsLst>
            <a:gs pos="0">
              <a:schemeClr val="accent4">
                <a:shade val="80000"/>
                <a:hueOff val="-100890"/>
                <a:satOff val="-2494"/>
                <a:lumOff val="14279"/>
                <a:alphaOff val="0"/>
                <a:shade val="51000"/>
                <a:satMod val="130000"/>
              </a:schemeClr>
            </a:gs>
            <a:gs pos="80000">
              <a:schemeClr val="accent4">
                <a:shade val="80000"/>
                <a:hueOff val="-100890"/>
                <a:satOff val="-2494"/>
                <a:lumOff val="14279"/>
                <a:alphaOff val="0"/>
                <a:shade val="93000"/>
                <a:satMod val="130000"/>
              </a:schemeClr>
            </a:gs>
            <a:gs pos="100000">
              <a:schemeClr val="accent4">
                <a:shade val="80000"/>
                <a:hueOff val="-100890"/>
                <a:satOff val="-2494"/>
                <a:lumOff val="1427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ea typeface="Calibri" pitchFamily="34" charset="-122"/>
              <a:cs typeface="Calibri" pitchFamily="34" charset="-120"/>
            </a:rPr>
            <a:t>Sandbox: Dropped Emotet payload → confirmed</a:t>
          </a:r>
          <a:endParaRPr lang="en-US" sz="1800" kern="1200" dirty="0"/>
        </a:p>
      </dsp:txBody>
      <dsp:txXfrm>
        <a:off x="2900269" y="2123373"/>
        <a:ext cx="2352861" cy="1411716"/>
      </dsp:txXfrm>
    </dsp:sp>
    <dsp:sp modelId="{20EEE331-85F0-4B73-BE47-673D0FA0751A}">
      <dsp:nvSpPr>
        <dsp:cNvPr id="0" name=""/>
        <dsp:cNvSpPr/>
      </dsp:nvSpPr>
      <dsp:spPr>
        <a:xfrm>
          <a:off x="1182680" y="3533289"/>
          <a:ext cx="5788038" cy="510558"/>
        </a:xfrm>
        <a:custGeom>
          <a:avLst/>
          <a:gdLst/>
          <a:ahLst/>
          <a:cxnLst/>
          <a:rect l="0" t="0" r="0" b="0"/>
          <a:pathLst>
            <a:path>
              <a:moveTo>
                <a:pt x="5788038" y="0"/>
              </a:moveTo>
              <a:lnTo>
                <a:pt x="5788038" y="272379"/>
              </a:lnTo>
              <a:lnTo>
                <a:pt x="0" y="272379"/>
              </a:lnTo>
              <a:lnTo>
                <a:pt x="0" y="510558"/>
              </a:lnTo>
            </a:path>
          </a:pathLst>
        </a:custGeom>
        <a:noFill/>
        <a:ln w="9525" cap="flat" cmpd="sng" algn="ctr">
          <a:solidFill>
            <a:schemeClr val="accent4">
              <a:shade val="90000"/>
              <a:hueOff val="-146977"/>
              <a:satOff val="-3523"/>
              <a:lumOff val="18651"/>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3931367" y="3785863"/>
        <a:ext cx="290664" cy="5411"/>
      </dsp:txXfrm>
    </dsp:sp>
    <dsp:sp modelId="{134D9101-E52D-479E-AD0F-E3EEE67AC195}">
      <dsp:nvSpPr>
        <dsp:cNvPr id="0" name=""/>
        <dsp:cNvSpPr/>
      </dsp:nvSpPr>
      <dsp:spPr>
        <a:xfrm>
          <a:off x="5794288" y="2123373"/>
          <a:ext cx="2352861" cy="1411716"/>
        </a:xfrm>
        <a:prstGeom prst="rect">
          <a:avLst/>
        </a:prstGeom>
        <a:gradFill rotWithShape="0">
          <a:gsLst>
            <a:gs pos="0">
              <a:schemeClr val="accent4">
                <a:shade val="80000"/>
                <a:hueOff val="-126113"/>
                <a:satOff val="-3118"/>
                <a:lumOff val="17849"/>
                <a:alphaOff val="0"/>
                <a:shade val="51000"/>
                <a:satMod val="130000"/>
              </a:schemeClr>
            </a:gs>
            <a:gs pos="80000">
              <a:schemeClr val="accent4">
                <a:shade val="80000"/>
                <a:hueOff val="-126113"/>
                <a:satOff val="-3118"/>
                <a:lumOff val="17849"/>
                <a:alphaOff val="0"/>
                <a:shade val="93000"/>
                <a:satMod val="130000"/>
              </a:schemeClr>
            </a:gs>
            <a:gs pos="100000">
              <a:schemeClr val="accent4">
                <a:shade val="80000"/>
                <a:hueOff val="-126113"/>
                <a:satOff val="-3118"/>
                <a:lumOff val="178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ea typeface="Calibri" pitchFamily="34" charset="-122"/>
              <a:cs typeface="Calibri" pitchFamily="34" charset="-120"/>
            </a:rPr>
            <a:t>Campaign: Active logistics phishing · past 7 days</a:t>
          </a:r>
          <a:endParaRPr lang="en-US" sz="1800" kern="1200" dirty="0"/>
        </a:p>
      </dsp:txBody>
      <dsp:txXfrm>
        <a:off x="5794288" y="2123373"/>
        <a:ext cx="2352861" cy="1411716"/>
      </dsp:txXfrm>
    </dsp:sp>
    <dsp:sp modelId="{DFB2942A-7FEF-4442-A3BC-5BE8934B5FC8}">
      <dsp:nvSpPr>
        <dsp:cNvPr id="0" name=""/>
        <dsp:cNvSpPr/>
      </dsp:nvSpPr>
      <dsp:spPr>
        <a:xfrm>
          <a:off x="2357311" y="4736386"/>
          <a:ext cx="510558" cy="91440"/>
        </a:xfrm>
        <a:custGeom>
          <a:avLst/>
          <a:gdLst/>
          <a:ahLst/>
          <a:cxnLst/>
          <a:rect l="0" t="0" r="0" b="0"/>
          <a:pathLst>
            <a:path>
              <a:moveTo>
                <a:pt x="0" y="45720"/>
              </a:moveTo>
              <a:lnTo>
                <a:pt x="510558" y="45720"/>
              </a:lnTo>
            </a:path>
          </a:pathLst>
        </a:custGeom>
        <a:noFill/>
        <a:ln w="9525" cap="flat" cmpd="sng" algn="ctr">
          <a:solidFill>
            <a:schemeClr val="accent4">
              <a:shade val="90000"/>
              <a:hueOff val="-176373"/>
              <a:satOff val="-4228"/>
              <a:lumOff val="22381"/>
              <a:alphaOff val="0"/>
            </a:schemeClr>
          </a:solidFill>
          <a:prstDash val="solid"/>
          <a:tailEnd type="arrow"/>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bg1"/>
            </a:solidFill>
          </a:endParaRPr>
        </a:p>
      </dsp:txBody>
      <dsp:txXfrm>
        <a:off x="2599061" y="4779400"/>
        <a:ext cx="27057" cy="5411"/>
      </dsp:txXfrm>
    </dsp:sp>
    <dsp:sp modelId="{7C5282DE-5787-4548-A7EE-76B502BAA1F9}">
      <dsp:nvSpPr>
        <dsp:cNvPr id="0" name=""/>
        <dsp:cNvSpPr/>
      </dsp:nvSpPr>
      <dsp:spPr>
        <a:xfrm>
          <a:off x="6250" y="4076247"/>
          <a:ext cx="2352861" cy="1411716"/>
        </a:xfrm>
        <a:prstGeom prst="rect">
          <a:avLst/>
        </a:prstGeom>
        <a:gradFill rotWithShape="0">
          <a:gsLst>
            <a:gs pos="0">
              <a:schemeClr val="accent4">
                <a:shade val="80000"/>
                <a:hueOff val="-151335"/>
                <a:satOff val="-3741"/>
                <a:lumOff val="21418"/>
                <a:alphaOff val="0"/>
                <a:shade val="51000"/>
                <a:satMod val="130000"/>
              </a:schemeClr>
            </a:gs>
            <a:gs pos="80000">
              <a:schemeClr val="accent4">
                <a:shade val="80000"/>
                <a:hueOff val="-151335"/>
                <a:satOff val="-3741"/>
                <a:lumOff val="21418"/>
                <a:alphaOff val="0"/>
                <a:shade val="93000"/>
                <a:satMod val="130000"/>
              </a:schemeClr>
            </a:gs>
            <a:gs pos="100000">
              <a:schemeClr val="accent4">
                <a:shade val="80000"/>
                <a:hueOff val="-151335"/>
                <a:satOff val="-3741"/>
                <a:lumOff val="214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ea typeface="Calibri" pitchFamily="34" charset="-122"/>
              <a:cs typeface="Calibri" pitchFamily="34" charset="-120"/>
            </a:rPr>
            <a:t>MITRE ATT&amp;CK: T1071.001 · C2 over HTTP · TA542</a:t>
          </a:r>
          <a:endParaRPr lang="en-US" sz="1800" kern="1200" dirty="0"/>
        </a:p>
      </dsp:txBody>
      <dsp:txXfrm>
        <a:off x="6250" y="4076247"/>
        <a:ext cx="2352861" cy="1411716"/>
      </dsp:txXfrm>
    </dsp:sp>
    <dsp:sp modelId="{AEF3027D-92A4-4576-AAF7-A29A7DAF752B}">
      <dsp:nvSpPr>
        <dsp:cNvPr id="0" name=""/>
        <dsp:cNvSpPr/>
      </dsp:nvSpPr>
      <dsp:spPr>
        <a:xfrm>
          <a:off x="2900269" y="4076247"/>
          <a:ext cx="2352861" cy="1411716"/>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a:t>Full context. Clear response path. 90 seconds.</a:t>
          </a:r>
          <a:endParaRPr lang="en-US" sz="1800" b="1" kern="1200" dirty="0"/>
        </a:p>
      </dsp:txBody>
      <dsp:txXfrm>
        <a:off x="2900269" y="4076247"/>
        <a:ext cx="2352861" cy="14117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153E6-8022-42E0-9747-A9E18F4EBA38}">
      <dsp:nvSpPr>
        <dsp:cNvPr id="0" name=""/>
        <dsp:cNvSpPr/>
      </dsp:nvSpPr>
      <dsp:spPr>
        <a:xfrm>
          <a:off x="4088520" y="0"/>
          <a:ext cx="1635407" cy="1142822"/>
        </a:xfrm>
        <a:prstGeom prst="trapezoid">
          <a:avLst>
            <a:gd name="adj" fmla="val 71551"/>
          </a:avLst>
        </a:prstGeom>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 </a:t>
          </a:r>
          <a:r>
            <a:rPr lang="en-US" sz="2400" kern="1200" dirty="0">
              <a:solidFill>
                <a:schemeClr val="bg1"/>
              </a:solidFill>
            </a:rPr>
            <a:t>TTPs</a:t>
          </a:r>
        </a:p>
      </dsp:txBody>
      <dsp:txXfrm>
        <a:off x="4088520" y="0"/>
        <a:ext cx="1635407" cy="1142822"/>
      </dsp:txXfrm>
    </dsp:sp>
    <dsp:sp modelId="{AAC1AF77-95B1-415D-AAFD-C013C5A4E5C0}">
      <dsp:nvSpPr>
        <dsp:cNvPr id="0" name=""/>
        <dsp:cNvSpPr/>
      </dsp:nvSpPr>
      <dsp:spPr>
        <a:xfrm>
          <a:off x="3270815" y="1142822"/>
          <a:ext cx="3270815" cy="1142822"/>
        </a:xfrm>
        <a:prstGeom prst="trapezoid">
          <a:avLst>
            <a:gd name="adj" fmla="val 71551"/>
          </a:avLst>
        </a:prstGeom>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Tools</a:t>
          </a:r>
        </a:p>
      </dsp:txBody>
      <dsp:txXfrm>
        <a:off x="3843208" y="1142822"/>
        <a:ext cx="2126030" cy="1142822"/>
      </dsp:txXfrm>
    </dsp:sp>
    <dsp:sp modelId="{9F226D5B-AA63-49A2-BB06-4284D63E6590}">
      <dsp:nvSpPr>
        <dsp:cNvPr id="0" name=""/>
        <dsp:cNvSpPr/>
      </dsp:nvSpPr>
      <dsp:spPr>
        <a:xfrm>
          <a:off x="2453112" y="2285644"/>
          <a:ext cx="4906224" cy="1142822"/>
        </a:xfrm>
        <a:prstGeom prst="trapezoid">
          <a:avLst>
            <a:gd name="adj" fmla="val 71551"/>
          </a:avLst>
        </a:prstGeom>
        <a:solidFill>
          <a:schemeClr val="accent4">
            <a:lumMod val="75000"/>
            <a:alpha val="75000"/>
          </a:schemeClr>
        </a:solidFill>
        <a:ln>
          <a:gradFill flip="none" rotWithShape="1">
            <a:gsLst>
              <a:gs pos="0">
                <a:schemeClr val="accent4">
                  <a:lumMod val="40000"/>
                  <a:lumOff val="60000"/>
                </a:schemeClr>
              </a:gs>
              <a:gs pos="45000">
                <a:schemeClr val="bg1"/>
              </a:gs>
              <a:gs pos="100000">
                <a:srgbClr val="5E3587"/>
              </a:gs>
            </a:gsLst>
            <a:path path="circle">
              <a:fillToRect l="50000" t="130000" r="50000" b="-30000"/>
            </a:path>
            <a:tileRect/>
          </a:grad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Network &amp; Host Artifacts</a:t>
          </a:r>
        </a:p>
      </dsp:txBody>
      <dsp:txXfrm>
        <a:off x="3311701" y="2285644"/>
        <a:ext cx="3189045" cy="1142822"/>
      </dsp:txXfrm>
    </dsp:sp>
    <dsp:sp modelId="{E6F55D71-7B50-4640-ACF7-CBD46DB5032B}">
      <dsp:nvSpPr>
        <dsp:cNvPr id="0" name=""/>
        <dsp:cNvSpPr/>
      </dsp:nvSpPr>
      <dsp:spPr>
        <a:xfrm>
          <a:off x="1635407" y="3428466"/>
          <a:ext cx="6541631" cy="1142822"/>
        </a:xfrm>
        <a:prstGeom prst="trapezoid">
          <a:avLst>
            <a:gd name="adj" fmla="val 71551"/>
          </a:avLst>
        </a:prstGeom>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Domain Names</a:t>
          </a:r>
        </a:p>
      </dsp:txBody>
      <dsp:txXfrm>
        <a:off x="2780193" y="3428466"/>
        <a:ext cx="4252060" cy="1142822"/>
      </dsp:txXfrm>
    </dsp:sp>
    <dsp:sp modelId="{653B1BEC-855B-4753-B83F-AB93F57BEA74}">
      <dsp:nvSpPr>
        <dsp:cNvPr id="0" name=""/>
        <dsp:cNvSpPr/>
      </dsp:nvSpPr>
      <dsp:spPr>
        <a:xfrm>
          <a:off x="787285" y="4551940"/>
          <a:ext cx="8177040" cy="1142822"/>
        </a:xfrm>
        <a:prstGeom prst="trapezoid">
          <a:avLst>
            <a:gd name="adj" fmla="val 71551"/>
          </a:avLst>
        </a:prstGeom>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IP Addresses</a:t>
          </a:r>
        </a:p>
      </dsp:txBody>
      <dsp:txXfrm>
        <a:off x="2218267" y="4551940"/>
        <a:ext cx="5315076" cy="1142822"/>
      </dsp:txXfrm>
    </dsp:sp>
    <dsp:sp modelId="{440821A3-2417-4A85-8178-04DFD02FDB54}">
      <dsp:nvSpPr>
        <dsp:cNvPr id="0" name=""/>
        <dsp:cNvSpPr/>
      </dsp:nvSpPr>
      <dsp:spPr>
        <a:xfrm>
          <a:off x="0" y="5714110"/>
          <a:ext cx="9812448" cy="1142822"/>
        </a:xfrm>
        <a:prstGeom prst="trapezoid">
          <a:avLst>
            <a:gd name="adj" fmla="val 71551"/>
          </a:avLst>
        </a:prstGeom>
        <a:solidFill>
          <a:schemeClr val="accent4">
            <a:lumMod val="75000"/>
            <a:alpha val="75000"/>
          </a:schemeClr>
        </a:solidFill>
        <a:ln>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rPr>
            <a:t>Hash Values</a:t>
          </a:r>
        </a:p>
      </dsp:txBody>
      <dsp:txXfrm>
        <a:off x="1717178" y="5714110"/>
        <a:ext cx="6378091" cy="11428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24EF0-5D49-43E7-85A6-8AB4969D4DC4}">
      <dsp:nvSpPr>
        <dsp:cNvPr id="0" name=""/>
        <dsp:cNvSpPr/>
      </dsp:nvSpPr>
      <dsp:spPr>
        <a:xfrm>
          <a:off x="0" y="5603515"/>
          <a:ext cx="7467415" cy="0"/>
        </a:xfrm>
        <a:prstGeom prst="line">
          <a:avLst/>
        </a:prstGeom>
        <a:noFill/>
        <a:ln w="25400" cap="flat" cmpd="sng" algn="ctr">
          <a:solidFill>
            <a:schemeClr val="accent4">
              <a:shade val="8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CFFC132A-B65B-4DA6-9D9A-DCC4C92F7FAA}">
      <dsp:nvSpPr>
        <dsp:cNvPr id="0" name=""/>
        <dsp:cNvSpPr/>
      </dsp:nvSpPr>
      <dsp:spPr>
        <a:xfrm>
          <a:off x="0" y="4472829"/>
          <a:ext cx="7467415" cy="0"/>
        </a:xfrm>
        <a:prstGeom prst="line">
          <a:avLst/>
        </a:prstGeom>
        <a:noFill/>
        <a:ln w="25400" cap="flat" cmpd="sng" algn="ctr">
          <a:solidFill>
            <a:schemeClr val="accent4">
              <a:shade val="8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C068A163-6D82-4214-9C02-317956B513CE}">
      <dsp:nvSpPr>
        <dsp:cNvPr id="0" name=""/>
        <dsp:cNvSpPr/>
      </dsp:nvSpPr>
      <dsp:spPr>
        <a:xfrm>
          <a:off x="0" y="3342144"/>
          <a:ext cx="7467415" cy="0"/>
        </a:xfrm>
        <a:prstGeom prst="line">
          <a:avLst/>
        </a:prstGeom>
        <a:noFill/>
        <a:ln w="25400" cap="flat" cmpd="sng" algn="ctr">
          <a:solidFill>
            <a:schemeClr val="accent4">
              <a:shade val="8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31F0E6F8-C8EA-4EE1-9091-04D21FEEF2BF}">
      <dsp:nvSpPr>
        <dsp:cNvPr id="0" name=""/>
        <dsp:cNvSpPr/>
      </dsp:nvSpPr>
      <dsp:spPr>
        <a:xfrm>
          <a:off x="0" y="2211459"/>
          <a:ext cx="7467415" cy="0"/>
        </a:xfrm>
        <a:prstGeom prst="line">
          <a:avLst/>
        </a:prstGeom>
        <a:noFill/>
        <a:ln w="25400" cap="flat" cmpd="sng" algn="ctr">
          <a:solidFill>
            <a:schemeClr val="accent4">
              <a:shade val="8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3FCDB23D-29EE-44F3-AF9B-84ED29834AF5}">
      <dsp:nvSpPr>
        <dsp:cNvPr id="0" name=""/>
        <dsp:cNvSpPr/>
      </dsp:nvSpPr>
      <dsp:spPr>
        <a:xfrm>
          <a:off x="0" y="1080773"/>
          <a:ext cx="7467415" cy="0"/>
        </a:xfrm>
        <a:prstGeom prst="line">
          <a:avLst/>
        </a:prstGeom>
        <a:noFill/>
        <a:ln w="25400" cap="flat" cmpd="sng" algn="ctr">
          <a:solidFill>
            <a:schemeClr val="accent4">
              <a:shade val="8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48428292-8C45-4F52-A1F8-27CBD62E4CEE}">
      <dsp:nvSpPr>
        <dsp:cNvPr id="0" name=""/>
        <dsp:cNvSpPr/>
      </dsp:nvSpPr>
      <dsp:spPr>
        <a:xfrm>
          <a:off x="1941527" y="3930"/>
          <a:ext cx="5525887" cy="1076843"/>
        </a:xfrm>
        <a:prstGeom prst="rect">
          <a:avLst/>
        </a:prstGeom>
        <a:noFill/>
        <a:ln>
          <a:noFill/>
        </a:ln>
        <a:effectLst/>
      </dsp:spPr>
      <dsp:style>
        <a:lnRef idx="0">
          <a:scrgbClr r="0" g="0" b="0"/>
        </a:lnRef>
        <a:fillRef idx="0">
          <a:scrgbClr r="0" g="0" b="0"/>
        </a:fillRef>
        <a:effectRef idx="0">
          <a:scrgbClr r="0" g="0" b="0"/>
        </a:effectRef>
        <a:fontRef idx="minor"/>
      </dsp:style>
    </dsp:sp>
    <dsp:sp modelId="{80BA1378-8676-4015-AFD9-D89C3B528DD4}">
      <dsp:nvSpPr>
        <dsp:cNvPr id="0" name=""/>
        <dsp:cNvSpPr/>
      </dsp:nvSpPr>
      <dsp:spPr>
        <a:xfrm>
          <a:off x="0" y="3930"/>
          <a:ext cx="1941527" cy="1076843"/>
        </a:xfrm>
        <a:prstGeom prst="round2SameRect">
          <a:avLst>
            <a:gd name="adj1" fmla="val 16670"/>
            <a:gd name="adj2" fmla="val 0"/>
          </a:avLst>
        </a:prstGeom>
        <a:solidFill>
          <a:schemeClr val="accent4">
            <a:lumMod val="75000"/>
            <a:alpha val="90000"/>
          </a:schemeClr>
        </a:solidFill>
        <a:ln w="9525" cap="flat" cmpd="sng" algn="ctr">
          <a:solidFill>
            <a:schemeClr val="bg1"/>
          </a:solidFill>
          <a:prstDash val="solid"/>
        </a:ln>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Tough</a:t>
          </a:r>
        </a:p>
      </dsp:txBody>
      <dsp:txXfrm>
        <a:off x="52577" y="56507"/>
        <a:ext cx="1836373" cy="1024266"/>
      </dsp:txXfrm>
    </dsp:sp>
    <dsp:sp modelId="{0B5D1059-CB79-4388-ABBE-4E5E1C2B5CB3}">
      <dsp:nvSpPr>
        <dsp:cNvPr id="0" name=""/>
        <dsp:cNvSpPr/>
      </dsp:nvSpPr>
      <dsp:spPr>
        <a:xfrm>
          <a:off x="1941527" y="1134616"/>
          <a:ext cx="5525887" cy="1076843"/>
        </a:xfrm>
        <a:prstGeom prst="rect">
          <a:avLst/>
        </a:prstGeom>
        <a:noFill/>
        <a:ln>
          <a:noFill/>
        </a:ln>
        <a:effectLst/>
      </dsp:spPr>
      <dsp:style>
        <a:lnRef idx="0">
          <a:scrgbClr r="0" g="0" b="0"/>
        </a:lnRef>
        <a:fillRef idx="0">
          <a:scrgbClr r="0" g="0" b="0"/>
        </a:fillRef>
        <a:effectRef idx="0">
          <a:scrgbClr r="0" g="0" b="0"/>
        </a:effectRef>
        <a:fontRef idx="minor"/>
      </dsp:style>
    </dsp:sp>
    <dsp:sp modelId="{EDAFBF3D-8FA3-4D5E-95E9-08F2F28AB65D}">
      <dsp:nvSpPr>
        <dsp:cNvPr id="0" name=""/>
        <dsp:cNvSpPr/>
      </dsp:nvSpPr>
      <dsp:spPr>
        <a:xfrm>
          <a:off x="0" y="1134616"/>
          <a:ext cx="1941527" cy="1076843"/>
        </a:xfrm>
        <a:prstGeom prst="round2SameRect">
          <a:avLst>
            <a:gd name="adj1" fmla="val 16670"/>
            <a:gd name="adj2" fmla="val 0"/>
          </a:avLst>
        </a:prstGeom>
        <a:solidFill>
          <a:schemeClr val="accent4">
            <a:lumMod val="75000"/>
          </a:schemeClr>
        </a:solidFill>
        <a:ln w="9525" cap="flat" cmpd="sng" algn="ctr">
          <a:solidFill>
            <a:schemeClr val="bg1"/>
          </a:solidFill>
          <a:prstDash val="solid"/>
        </a:ln>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en-US" sz="3000" kern="1200"/>
            <a:t>Challeging</a:t>
          </a:r>
          <a:endParaRPr lang="en-US" sz="3000" kern="1200" dirty="0"/>
        </a:p>
      </dsp:txBody>
      <dsp:txXfrm>
        <a:off x="52577" y="1187193"/>
        <a:ext cx="1836373" cy="1024266"/>
      </dsp:txXfrm>
    </dsp:sp>
    <dsp:sp modelId="{A379D700-E7EE-4AFD-86E3-D091D2045E1D}">
      <dsp:nvSpPr>
        <dsp:cNvPr id="0" name=""/>
        <dsp:cNvSpPr/>
      </dsp:nvSpPr>
      <dsp:spPr>
        <a:xfrm>
          <a:off x="1941527" y="2265301"/>
          <a:ext cx="5525887" cy="1076843"/>
        </a:xfrm>
        <a:prstGeom prst="rect">
          <a:avLst/>
        </a:prstGeom>
        <a:noFill/>
        <a:ln>
          <a:noFill/>
        </a:ln>
        <a:effectLst/>
      </dsp:spPr>
      <dsp:style>
        <a:lnRef idx="0">
          <a:scrgbClr r="0" g="0" b="0"/>
        </a:lnRef>
        <a:fillRef idx="0">
          <a:scrgbClr r="0" g="0" b="0"/>
        </a:fillRef>
        <a:effectRef idx="0">
          <a:scrgbClr r="0" g="0" b="0"/>
        </a:effectRef>
        <a:fontRef idx="minor"/>
      </dsp:style>
    </dsp:sp>
    <dsp:sp modelId="{1FE12FA7-E5D9-4C07-A430-6081A5714B7A}">
      <dsp:nvSpPr>
        <dsp:cNvPr id="0" name=""/>
        <dsp:cNvSpPr/>
      </dsp:nvSpPr>
      <dsp:spPr>
        <a:xfrm>
          <a:off x="0" y="2265301"/>
          <a:ext cx="1941527" cy="1076843"/>
        </a:xfrm>
        <a:prstGeom prst="round2SameRect">
          <a:avLst>
            <a:gd name="adj1" fmla="val 16670"/>
            <a:gd name="adj2" fmla="val 0"/>
          </a:avLst>
        </a:prstGeom>
        <a:solidFill>
          <a:schemeClr val="accent4">
            <a:lumMod val="75000"/>
          </a:schemeClr>
        </a:solidFill>
        <a:ln w="9525" cap="flat" cmpd="sng" algn="ctr">
          <a:solidFill>
            <a:schemeClr val="bg1"/>
          </a:solidFill>
          <a:prstDash val="solid"/>
        </a:ln>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en-US" sz="3000" kern="1200"/>
            <a:t>Annoying</a:t>
          </a:r>
          <a:endParaRPr lang="en-US" sz="3000" kern="1200" dirty="0"/>
        </a:p>
      </dsp:txBody>
      <dsp:txXfrm>
        <a:off x="52577" y="2317878"/>
        <a:ext cx="1836373" cy="1024266"/>
      </dsp:txXfrm>
    </dsp:sp>
    <dsp:sp modelId="{50CB441B-5347-4D89-8AB8-3AEE3DE2351A}">
      <dsp:nvSpPr>
        <dsp:cNvPr id="0" name=""/>
        <dsp:cNvSpPr/>
      </dsp:nvSpPr>
      <dsp:spPr>
        <a:xfrm>
          <a:off x="1941527" y="3395986"/>
          <a:ext cx="5525887" cy="1076843"/>
        </a:xfrm>
        <a:prstGeom prst="rect">
          <a:avLst/>
        </a:prstGeom>
        <a:noFill/>
        <a:ln>
          <a:noFill/>
        </a:ln>
        <a:effectLst/>
      </dsp:spPr>
      <dsp:style>
        <a:lnRef idx="0">
          <a:scrgbClr r="0" g="0" b="0"/>
        </a:lnRef>
        <a:fillRef idx="0">
          <a:scrgbClr r="0" g="0" b="0"/>
        </a:fillRef>
        <a:effectRef idx="0">
          <a:scrgbClr r="0" g="0" b="0"/>
        </a:effectRef>
        <a:fontRef idx="minor"/>
      </dsp:style>
    </dsp:sp>
    <dsp:sp modelId="{ABF918A9-205E-4042-9409-B6E7FE27853A}">
      <dsp:nvSpPr>
        <dsp:cNvPr id="0" name=""/>
        <dsp:cNvSpPr/>
      </dsp:nvSpPr>
      <dsp:spPr>
        <a:xfrm>
          <a:off x="0" y="3395986"/>
          <a:ext cx="1941527" cy="1076843"/>
        </a:xfrm>
        <a:prstGeom prst="round2SameRect">
          <a:avLst>
            <a:gd name="adj1" fmla="val 16670"/>
            <a:gd name="adj2" fmla="val 0"/>
          </a:avLst>
        </a:prstGeom>
        <a:solidFill>
          <a:schemeClr val="accent4">
            <a:lumMod val="75000"/>
          </a:schemeClr>
        </a:solidFill>
        <a:ln w="9525" cap="flat" cmpd="sng" algn="ctr">
          <a:solidFill>
            <a:schemeClr val="bg1"/>
          </a:solidFill>
          <a:prstDash val="solid"/>
        </a:ln>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en-US" sz="3000" kern="1200" dirty="0"/>
            <a:t>Easy</a:t>
          </a:r>
        </a:p>
      </dsp:txBody>
      <dsp:txXfrm>
        <a:off x="52577" y="3448563"/>
        <a:ext cx="1836373" cy="1024266"/>
      </dsp:txXfrm>
    </dsp:sp>
    <dsp:sp modelId="{7A1D92D7-6EF3-42E0-9C16-48540DDE53F9}">
      <dsp:nvSpPr>
        <dsp:cNvPr id="0" name=""/>
        <dsp:cNvSpPr/>
      </dsp:nvSpPr>
      <dsp:spPr>
        <a:xfrm>
          <a:off x="1941527" y="4526672"/>
          <a:ext cx="5525887" cy="1076843"/>
        </a:xfrm>
        <a:prstGeom prst="rect">
          <a:avLst/>
        </a:prstGeom>
        <a:noFill/>
        <a:ln>
          <a:noFill/>
        </a:ln>
        <a:effectLst/>
      </dsp:spPr>
      <dsp:style>
        <a:lnRef idx="0">
          <a:scrgbClr r="0" g="0" b="0"/>
        </a:lnRef>
        <a:fillRef idx="0">
          <a:scrgbClr r="0" g="0" b="0"/>
        </a:fillRef>
        <a:effectRef idx="0">
          <a:scrgbClr r="0" g="0" b="0"/>
        </a:effectRef>
        <a:fontRef idx="minor"/>
      </dsp:style>
    </dsp:sp>
    <dsp:sp modelId="{8D615FAC-AA23-4D53-8B1A-EBFC5A14595D}">
      <dsp:nvSpPr>
        <dsp:cNvPr id="0" name=""/>
        <dsp:cNvSpPr/>
      </dsp:nvSpPr>
      <dsp:spPr>
        <a:xfrm>
          <a:off x="0" y="4526672"/>
          <a:ext cx="1941527" cy="1076843"/>
        </a:xfrm>
        <a:prstGeom prst="round2SameRect">
          <a:avLst>
            <a:gd name="adj1" fmla="val 16670"/>
            <a:gd name="adj2" fmla="val 0"/>
          </a:avLst>
        </a:prstGeom>
        <a:solidFill>
          <a:schemeClr val="accent4">
            <a:lumMod val="75000"/>
          </a:schemeClr>
        </a:solidFill>
        <a:ln w="9525" cap="flat" cmpd="sng" algn="ctr">
          <a:solidFill>
            <a:schemeClr val="bg1"/>
          </a:solidFill>
          <a:prstDash val="solid"/>
        </a:ln>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en-US" sz="3000" kern="1200"/>
            <a:t>Trivial</a:t>
          </a:r>
          <a:endParaRPr lang="en-US" sz="3000" kern="1200" dirty="0"/>
        </a:p>
      </dsp:txBody>
      <dsp:txXfrm>
        <a:off x="52577" y="4579249"/>
        <a:ext cx="1836373" cy="10242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6E9F39-2FFD-4672-B084-3E55467C3E60}">
      <dsp:nvSpPr>
        <dsp:cNvPr id="0" name=""/>
        <dsp:cNvSpPr/>
      </dsp:nvSpPr>
      <dsp:spPr>
        <a:xfrm>
          <a:off x="7663" y="1876792"/>
          <a:ext cx="2613168" cy="1306584"/>
        </a:xfrm>
        <a:prstGeom prst="roundRect">
          <a:avLst>
            <a:gd name="adj" fmla="val 10000"/>
          </a:avLst>
        </a:prstGeom>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US" sz="4000" b="0" kern="1200" dirty="0">
              <a:gradFill>
                <a:gsLst>
                  <a:gs pos="0">
                    <a:schemeClr val="bg1"/>
                  </a:gs>
                  <a:gs pos="48000">
                    <a:schemeClr val="bg1"/>
                  </a:gs>
                  <a:gs pos="90000">
                    <a:srgbClr val="5E3587"/>
                  </a:gs>
                </a:gsLst>
                <a:lin ang="16200000" scaled="1"/>
              </a:gradFill>
            </a:rPr>
            <a:t>CTI is dynamic</a:t>
          </a:r>
        </a:p>
      </dsp:txBody>
      <dsp:txXfrm>
        <a:off x="45932" y="1915061"/>
        <a:ext cx="2536630" cy="1230046"/>
      </dsp:txXfrm>
    </dsp:sp>
    <dsp:sp modelId="{C52901FB-5C47-45AF-A68E-FF4B7DAB1317}">
      <dsp:nvSpPr>
        <dsp:cNvPr id="0" name=""/>
        <dsp:cNvSpPr/>
      </dsp:nvSpPr>
      <dsp:spPr>
        <a:xfrm>
          <a:off x="268980" y="3183376"/>
          <a:ext cx="261316" cy="979938"/>
        </a:xfrm>
        <a:custGeom>
          <a:avLst/>
          <a:gdLst/>
          <a:ahLst/>
          <a:cxnLst/>
          <a:rect l="0" t="0" r="0" b="0"/>
          <a:pathLst>
            <a:path>
              <a:moveTo>
                <a:pt x="0" y="0"/>
              </a:moveTo>
              <a:lnTo>
                <a:pt x="0" y="979938"/>
              </a:lnTo>
              <a:lnTo>
                <a:pt x="261316" y="979938"/>
              </a:lnTo>
            </a:path>
          </a:pathLst>
        </a:custGeom>
        <a:noFill/>
        <a:ln w="25400" cap="flat" cmpd="sng" algn="ctr">
          <a:solidFill>
            <a:schemeClr val="accent4">
              <a:tint val="9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3454003F-D837-43C2-B776-A4C6E265791E}">
      <dsp:nvSpPr>
        <dsp:cNvPr id="0" name=""/>
        <dsp:cNvSpPr/>
      </dsp:nvSpPr>
      <dsp:spPr>
        <a:xfrm>
          <a:off x="530296" y="3510023"/>
          <a:ext cx="2090534" cy="1306584"/>
        </a:xfrm>
        <a:prstGeom prst="roundRect">
          <a:avLst>
            <a:gd name="adj" fmla="val 10000"/>
          </a:avLst>
        </a:prstGeom>
        <a:solidFill>
          <a:schemeClr val="accent4">
            <a:lumMod val="50000"/>
            <a:alpha val="90000"/>
          </a:schemeClr>
        </a:solidFill>
        <a:ln w="9525" cap="flat" cmpd="sng" algn="ctr">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bg1"/>
              </a:solidFill>
              <a:latin typeface="Calibri" pitchFamily="34" charset="0"/>
              <a:ea typeface="Calibri" pitchFamily="34" charset="-122"/>
              <a:cs typeface="Calibri" pitchFamily="34" charset="-120"/>
            </a:rPr>
            <a:t>Adversaries adapt. So must your intelligence</a:t>
          </a:r>
          <a:endParaRPr lang="en-US" sz="2100" kern="1200" dirty="0">
            <a:solidFill>
              <a:schemeClr val="bg1"/>
            </a:solidFill>
          </a:endParaRPr>
        </a:p>
      </dsp:txBody>
      <dsp:txXfrm>
        <a:off x="568565" y="3548292"/>
        <a:ext cx="2013996" cy="1230046"/>
      </dsp:txXfrm>
    </dsp:sp>
    <dsp:sp modelId="{7D43A623-6F2C-4942-AC74-304854C1DA6C}">
      <dsp:nvSpPr>
        <dsp:cNvPr id="0" name=""/>
        <dsp:cNvSpPr/>
      </dsp:nvSpPr>
      <dsp:spPr>
        <a:xfrm>
          <a:off x="3274123" y="1876792"/>
          <a:ext cx="2613168" cy="1306584"/>
        </a:xfrm>
        <a:prstGeom prst="roundRect">
          <a:avLst>
            <a:gd name="adj" fmla="val 10000"/>
          </a:avLst>
        </a:prstGeom>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US" sz="4000" b="0" kern="1200">
              <a:gradFill>
                <a:gsLst>
                  <a:gs pos="0">
                    <a:schemeClr val="bg1"/>
                  </a:gs>
                  <a:gs pos="48000">
                    <a:schemeClr val="bg1"/>
                  </a:gs>
                  <a:gs pos="90000">
                    <a:srgbClr val="5E3587"/>
                  </a:gs>
                </a:gsLst>
                <a:lin ang="16200000" scaled="1"/>
              </a:gradFill>
            </a:rPr>
            <a:t>Intent &gt; Identity</a:t>
          </a:r>
          <a:endParaRPr lang="en-US" sz="4000" b="0" kern="1200" dirty="0">
            <a:gradFill>
              <a:gsLst>
                <a:gs pos="0">
                  <a:schemeClr val="bg1"/>
                </a:gs>
                <a:gs pos="48000">
                  <a:schemeClr val="bg1"/>
                </a:gs>
                <a:gs pos="90000">
                  <a:srgbClr val="5E3587"/>
                </a:gs>
              </a:gsLst>
              <a:lin ang="16200000" scaled="1"/>
            </a:gradFill>
          </a:endParaRPr>
        </a:p>
      </dsp:txBody>
      <dsp:txXfrm>
        <a:off x="3312392" y="1915061"/>
        <a:ext cx="2536630" cy="1230046"/>
      </dsp:txXfrm>
    </dsp:sp>
    <dsp:sp modelId="{A1077D81-F149-4E89-BF09-6006185235D9}">
      <dsp:nvSpPr>
        <dsp:cNvPr id="0" name=""/>
        <dsp:cNvSpPr/>
      </dsp:nvSpPr>
      <dsp:spPr>
        <a:xfrm>
          <a:off x="3535440" y="3183376"/>
          <a:ext cx="261316" cy="979938"/>
        </a:xfrm>
        <a:custGeom>
          <a:avLst/>
          <a:gdLst/>
          <a:ahLst/>
          <a:cxnLst/>
          <a:rect l="0" t="0" r="0" b="0"/>
          <a:pathLst>
            <a:path>
              <a:moveTo>
                <a:pt x="0" y="0"/>
              </a:moveTo>
              <a:lnTo>
                <a:pt x="0" y="979938"/>
              </a:lnTo>
              <a:lnTo>
                <a:pt x="261316" y="979938"/>
              </a:lnTo>
            </a:path>
          </a:pathLst>
        </a:custGeom>
        <a:noFill/>
        <a:ln w="25400" cap="flat" cmpd="sng" algn="ctr">
          <a:solidFill>
            <a:schemeClr val="accent4">
              <a:tint val="9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BD373BE4-4586-4362-903B-DBE5F7F88005}">
      <dsp:nvSpPr>
        <dsp:cNvPr id="0" name=""/>
        <dsp:cNvSpPr/>
      </dsp:nvSpPr>
      <dsp:spPr>
        <a:xfrm>
          <a:off x="3796756" y="3510023"/>
          <a:ext cx="2090534" cy="1306584"/>
        </a:xfrm>
        <a:prstGeom prst="roundRect">
          <a:avLst>
            <a:gd name="adj" fmla="val 10000"/>
          </a:avLst>
        </a:prstGeom>
        <a:solidFill>
          <a:schemeClr val="accent4">
            <a:lumMod val="50000"/>
            <a:alpha val="90000"/>
          </a:schemeClr>
        </a:solidFill>
        <a:ln w="9525" cap="flat" cmpd="sng" algn="ctr">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bg1"/>
              </a:solidFill>
              <a:latin typeface="Calibri" pitchFamily="34" charset="0"/>
              <a:ea typeface="Calibri" pitchFamily="34" charset="-122"/>
              <a:cs typeface="Calibri" pitchFamily="34" charset="-120"/>
            </a:rPr>
            <a:t>Who matters less than why.</a:t>
          </a:r>
          <a:endParaRPr lang="en-US" sz="2100" kern="1200" dirty="0">
            <a:solidFill>
              <a:schemeClr val="bg1"/>
            </a:solidFill>
          </a:endParaRPr>
        </a:p>
      </dsp:txBody>
      <dsp:txXfrm>
        <a:off x="3835025" y="3548292"/>
        <a:ext cx="2013996" cy="1230046"/>
      </dsp:txXfrm>
    </dsp:sp>
    <dsp:sp modelId="{4FBBDA01-1470-4B48-972A-701AC3006F37}">
      <dsp:nvSpPr>
        <dsp:cNvPr id="0" name=""/>
        <dsp:cNvSpPr/>
      </dsp:nvSpPr>
      <dsp:spPr>
        <a:xfrm>
          <a:off x="6540583" y="1876792"/>
          <a:ext cx="2613168" cy="1306584"/>
        </a:xfrm>
        <a:prstGeom prst="roundRect">
          <a:avLst>
            <a:gd name="adj" fmla="val 10000"/>
          </a:avLst>
        </a:prstGeom>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US" sz="4000" b="0" kern="1200" dirty="0">
              <a:gradFill>
                <a:gsLst>
                  <a:gs pos="0">
                    <a:schemeClr val="bg1"/>
                  </a:gs>
                  <a:gs pos="48000">
                    <a:schemeClr val="bg1"/>
                  </a:gs>
                  <a:gs pos="90000">
                    <a:srgbClr val="5E3587"/>
                  </a:gs>
                </a:gsLst>
                <a:lin ang="16200000" scaled="1"/>
              </a:gradFill>
              <a:latin typeface="Calibri" pitchFamily="34" charset="0"/>
              <a:ea typeface="Calibri" pitchFamily="34" charset="-122"/>
              <a:cs typeface="Calibri" pitchFamily="34" charset="-120"/>
            </a:rPr>
            <a:t>Behavior &gt;  Indicators</a:t>
          </a:r>
          <a:endParaRPr lang="en-US" sz="4000" b="0" kern="1200" dirty="0">
            <a:gradFill>
              <a:gsLst>
                <a:gs pos="0">
                  <a:schemeClr val="bg1"/>
                </a:gs>
                <a:gs pos="48000">
                  <a:schemeClr val="bg1"/>
                </a:gs>
                <a:gs pos="90000">
                  <a:srgbClr val="5E3587"/>
                </a:gs>
              </a:gsLst>
              <a:lin ang="16200000" scaled="1"/>
            </a:gradFill>
          </a:endParaRPr>
        </a:p>
      </dsp:txBody>
      <dsp:txXfrm>
        <a:off x="6578852" y="1915061"/>
        <a:ext cx="2536630" cy="1230046"/>
      </dsp:txXfrm>
    </dsp:sp>
    <dsp:sp modelId="{F0E8A35B-9C9A-4B27-9E05-CBD38D697649}">
      <dsp:nvSpPr>
        <dsp:cNvPr id="0" name=""/>
        <dsp:cNvSpPr/>
      </dsp:nvSpPr>
      <dsp:spPr>
        <a:xfrm>
          <a:off x="6801900" y="3183376"/>
          <a:ext cx="261316" cy="979938"/>
        </a:xfrm>
        <a:custGeom>
          <a:avLst/>
          <a:gdLst/>
          <a:ahLst/>
          <a:cxnLst/>
          <a:rect l="0" t="0" r="0" b="0"/>
          <a:pathLst>
            <a:path>
              <a:moveTo>
                <a:pt x="0" y="0"/>
              </a:moveTo>
              <a:lnTo>
                <a:pt x="0" y="979938"/>
              </a:lnTo>
              <a:lnTo>
                <a:pt x="261316" y="979938"/>
              </a:lnTo>
            </a:path>
          </a:pathLst>
        </a:custGeom>
        <a:noFill/>
        <a:ln w="25400" cap="flat" cmpd="sng" algn="ctr">
          <a:solidFill>
            <a:schemeClr val="accent4">
              <a:tint val="9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1E89FC50-AC22-494E-86D1-B387B661CA6C}">
      <dsp:nvSpPr>
        <dsp:cNvPr id="0" name=""/>
        <dsp:cNvSpPr/>
      </dsp:nvSpPr>
      <dsp:spPr>
        <a:xfrm>
          <a:off x="7063217" y="3510023"/>
          <a:ext cx="2090534" cy="1306584"/>
        </a:xfrm>
        <a:prstGeom prst="roundRect">
          <a:avLst>
            <a:gd name="adj" fmla="val 10000"/>
          </a:avLst>
        </a:prstGeom>
        <a:solidFill>
          <a:schemeClr val="accent4">
            <a:lumMod val="50000"/>
            <a:alpha val="90000"/>
          </a:schemeClr>
        </a:solidFill>
        <a:ln w="9525" cap="flat" cmpd="sng" algn="ctr">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bg1"/>
              </a:solidFill>
              <a:latin typeface="Calibri" pitchFamily="34" charset="0"/>
              <a:ea typeface="Calibri" pitchFamily="34" charset="-122"/>
              <a:cs typeface="Calibri" pitchFamily="34" charset="-120"/>
            </a:rPr>
            <a:t>TTPs outlive IPs by years.</a:t>
          </a:r>
          <a:endParaRPr lang="en-US" sz="2100" kern="1200" dirty="0">
            <a:solidFill>
              <a:schemeClr val="bg1"/>
            </a:solidFill>
          </a:endParaRPr>
        </a:p>
      </dsp:txBody>
      <dsp:txXfrm>
        <a:off x="7101486" y="3548292"/>
        <a:ext cx="2013996" cy="1230046"/>
      </dsp:txXfrm>
    </dsp:sp>
    <dsp:sp modelId="{5D493598-FD38-46AE-83DE-4F42E3D38AAA}">
      <dsp:nvSpPr>
        <dsp:cNvPr id="0" name=""/>
        <dsp:cNvSpPr/>
      </dsp:nvSpPr>
      <dsp:spPr>
        <a:xfrm>
          <a:off x="9807043" y="1876792"/>
          <a:ext cx="2613168" cy="1306584"/>
        </a:xfrm>
        <a:prstGeom prst="roundRect">
          <a:avLst>
            <a:gd name="adj" fmla="val 10000"/>
          </a:avLst>
        </a:prstGeom>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US" sz="4000" b="0" kern="1200">
              <a:gradFill>
                <a:gsLst>
                  <a:gs pos="0">
                    <a:schemeClr val="bg1"/>
                  </a:gs>
                  <a:gs pos="48000">
                    <a:schemeClr val="bg1"/>
                  </a:gs>
                  <a:gs pos="90000">
                    <a:srgbClr val="5E3587"/>
                  </a:gs>
                </a:gsLst>
                <a:lin ang="16200000" scaled="1"/>
              </a:gradFill>
              <a:latin typeface="Calibri" pitchFamily="34" charset="0"/>
              <a:ea typeface="Calibri" pitchFamily="34" charset="-122"/>
              <a:cs typeface="Calibri" pitchFamily="34" charset="-120"/>
            </a:rPr>
            <a:t>Humans decide</a:t>
          </a:r>
          <a:endParaRPr lang="en-US" sz="4000" b="0" kern="1200" dirty="0">
            <a:gradFill>
              <a:gsLst>
                <a:gs pos="0">
                  <a:schemeClr val="bg1"/>
                </a:gs>
                <a:gs pos="48000">
                  <a:schemeClr val="bg1"/>
                </a:gs>
                <a:gs pos="90000">
                  <a:srgbClr val="5E3587"/>
                </a:gs>
              </a:gsLst>
              <a:lin ang="16200000" scaled="1"/>
            </a:gradFill>
          </a:endParaRPr>
        </a:p>
      </dsp:txBody>
      <dsp:txXfrm>
        <a:off x="9845312" y="1915061"/>
        <a:ext cx="2536630" cy="1230046"/>
      </dsp:txXfrm>
    </dsp:sp>
    <dsp:sp modelId="{A97ABC89-B516-4DDA-BC67-90E01DE6F644}">
      <dsp:nvSpPr>
        <dsp:cNvPr id="0" name=""/>
        <dsp:cNvSpPr/>
      </dsp:nvSpPr>
      <dsp:spPr>
        <a:xfrm>
          <a:off x="10068360" y="3183376"/>
          <a:ext cx="261316" cy="979938"/>
        </a:xfrm>
        <a:custGeom>
          <a:avLst/>
          <a:gdLst/>
          <a:ahLst/>
          <a:cxnLst/>
          <a:rect l="0" t="0" r="0" b="0"/>
          <a:pathLst>
            <a:path>
              <a:moveTo>
                <a:pt x="0" y="0"/>
              </a:moveTo>
              <a:lnTo>
                <a:pt x="0" y="979938"/>
              </a:lnTo>
              <a:lnTo>
                <a:pt x="261316" y="979938"/>
              </a:lnTo>
            </a:path>
          </a:pathLst>
        </a:custGeom>
        <a:noFill/>
        <a:ln w="25400" cap="flat" cmpd="sng" algn="ctr">
          <a:solidFill>
            <a:schemeClr val="accent4">
              <a:tint val="9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AC46A4CE-C8E5-4359-84DB-96CFFB469885}">
      <dsp:nvSpPr>
        <dsp:cNvPr id="0" name=""/>
        <dsp:cNvSpPr/>
      </dsp:nvSpPr>
      <dsp:spPr>
        <a:xfrm>
          <a:off x="10329677" y="3510023"/>
          <a:ext cx="2090534" cy="1306584"/>
        </a:xfrm>
        <a:prstGeom prst="roundRect">
          <a:avLst>
            <a:gd name="adj" fmla="val 10000"/>
          </a:avLst>
        </a:prstGeom>
        <a:solidFill>
          <a:schemeClr val="accent4">
            <a:lumMod val="50000"/>
            <a:alpha val="90000"/>
          </a:schemeClr>
        </a:solidFill>
        <a:ln w="9525" cap="flat" cmpd="sng" algn="ctr">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bg1"/>
              </a:solidFill>
              <a:latin typeface="Calibri" pitchFamily="34" charset="0"/>
              <a:ea typeface="Calibri" pitchFamily="34" charset="-122"/>
              <a:cs typeface="Calibri" pitchFamily="34" charset="-120"/>
            </a:rPr>
            <a:t>Tools produce data. Analysts produce intelligence.</a:t>
          </a:r>
          <a:endParaRPr lang="en-US" sz="2100" kern="1200" dirty="0">
            <a:solidFill>
              <a:schemeClr val="bg1"/>
            </a:solidFill>
          </a:endParaRPr>
        </a:p>
      </dsp:txBody>
      <dsp:txXfrm>
        <a:off x="10367946" y="3548292"/>
        <a:ext cx="2013996" cy="1230046"/>
      </dsp:txXfrm>
    </dsp:sp>
    <dsp:sp modelId="{D63BB540-0111-42D5-BEB1-96018364265F}">
      <dsp:nvSpPr>
        <dsp:cNvPr id="0" name=""/>
        <dsp:cNvSpPr/>
      </dsp:nvSpPr>
      <dsp:spPr>
        <a:xfrm>
          <a:off x="13073503" y="1876792"/>
          <a:ext cx="2613168" cy="1306584"/>
        </a:xfrm>
        <a:prstGeom prst="roundRect">
          <a:avLst>
            <a:gd name="adj" fmla="val 10000"/>
          </a:avLst>
        </a:prstGeom>
        <a:solidFill>
          <a:schemeClr val="bg1">
            <a:lumMod val="50000"/>
            <a:alpha val="75000"/>
          </a:schemeClr>
        </a:solidFill>
        <a:ln>
          <a:gradFill flip="none" rotWithShape="1">
            <a:gsLst>
              <a:gs pos="0">
                <a:schemeClr val="bg1"/>
              </a:gs>
              <a:gs pos="48000">
                <a:schemeClr val="bg1"/>
              </a:gs>
              <a:gs pos="90000">
                <a:srgbClr val="5E3587"/>
              </a:gs>
            </a:gsLst>
            <a:lin ang="16200000" scaled="1"/>
            <a:tileRect/>
          </a:gradFill>
        </a:ln>
        <a:effectLst>
          <a:glow rad="1460500">
            <a:srgbClr val="5E3587">
              <a:alpha val="40000"/>
            </a:srgbClr>
          </a:glow>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US" sz="4000" b="0" kern="1200" dirty="0">
              <a:gradFill>
                <a:gsLst>
                  <a:gs pos="0">
                    <a:schemeClr val="bg1"/>
                  </a:gs>
                  <a:gs pos="48000">
                    <a:schemeClr val="bg1"/>
                  </a:gs>
                  <a:gs pos="90000">
                    <a:srgbClr val="5E3587"/>
                  </a:gs>
                </a:gsLst>
                <a:lin ang="16200000" scaled="1"/>
              </a:gradFill>
              <a:latin typeface="Calibri" pitchFamily="34" charset="0"/>
              <a:ea typeface="Calibri" pitchFamily="34" charset="-122"/>
              <a:cs typeface="Calibri" pitchFamily="34" charset="-120"/>
            </a:rPr>
            <a:t>Share to win</a:t>
          </a:r>
          <a:endParaRPr lang="en-US" sz="4000" b="0" kern="1200" dirty="0">
            <a:gradFill>
              <a:gsLst>
                <a:gs pos="0">
                  <a:schemeClr val="bg1"/>
                </a:gs>
                <a:gs pos="48000">
                  <a:schemeClr val="bg1"/>
                </a:gs>
                <a:gs pos="90000">
                  <a:srgbClr val="5E3587"/>
                </a:gs>
              </a:gsLst>
              <a:lin ang="16200000" scaled="1"/>
            </a:gradFill>
          </a:endParaRPr>
        </a:p>
      </dsp:txBody>
      <dsp:txXfrm>
        <a:off x="13111772" y="1915061"/>
        <a:ext cx="2536630" cy="1230046"/>
      </dsp:txXfrm>
    </dsp:sp>
    <dsp:sp modelId="{26C64ABC-2528-4650-AE21-3BB9D0A48428}">
      <dsp:nvSpPr>
        <dsp:cNvPr id="0" name=""/>
        <dsp:cNvSpPr/>
      </dsp:nvSpPr>
      <dsp:spPr>
        <a:xfrm>
          <a:off x="13334820" y="3183376"/>
          <a:ext cx="261316" cy="979938"/>
        </a:xfrm>
        <a:custGeom>
          <a:avLst/>
          <a:gdLst/>
          <a:ahLst/>
          <a:cxnLst/>
          <a:rect l="0" t="0" r="0" b="0"/>
          <a:pathLst>
            <a:path>
              <a:moveTo>
                <a:pt x="0" y="0"/>
              </a:moveTo>
              <a:lnTo>
                <a:pt x="0" y="979938"/>
              </a:lnTo>
              <a:lnTo>
                <a:pt x="261316" y="979938"/>
              </a:lnTo>
            </a:path>
          </a:pathLst>
        </a:custGeom>
        <a:noFill/>
        <a:ln w="25400" cap="flat" cmpd="sng" algn="ctr">
          <a:solidFill>
            <a:schemeClr val="accent4">
              <a:tint val="9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3988DE90-CB4B-48AA-A144-8D77FE9C9CD9}">
      <dsp:nvSpPr>
        <dsp:cNvPr id="0" name=""/>
        <dsp:cNvSpPr/>
      </dsp:nvSpPr>
      <dsp:spPr>
        <a:xfrm>
          <a:off x="13596137" y="3510023"/>
          <a:ext cx="2090534" cy="1306584"/>
        </a:xfrm>
        <a:prstGeom prst="roundRect">
          <a:avLst>
            <a:gd name="adj" fmla="val 10000"/>
          </a:avLst>
        </a:prstGeom>
        <a:solidFill>
          <a:schemeClr val="accent4">
            <a:lumMod val="50000"/>
            <a:alpha val="90000"/>
          </a:schemeClr>
        </a:solidFill>
        <a:ln w="9525" cap="flat" cmpd="sng" algn="ctr">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1"/>
              </a:solidFill>
              <a:latin typeface="Calibri" pitchFamily="34" charset="0"/>
              <a:ea typeface="Calibri" pitchFamily="34" charset="-122"/>
              <a:cs typeface="Calibri" pitchFamily="34" charset="-120"/>
            </a:rPr>
            <a:t>No single org sees  the full picture.</a:t>
          </a:r>
          <a:endParaRPr lang="en-US" sz="2100" kern="1200" dirty="0">
            <a:solidFill>
              <a:schemeClr val="bg1"/>
            </a:solidFill>
          </a:endParaRPr>
        </a:p>
      </dsp:txBody>
      <dsp:txXfrm>
        <a:off x="13634406" y="3548292"/>
        <a:ext cx="2013996" cy="1230046"/>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5#1">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5#2">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1">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diagramQuickStyle" Target="../diagrams/quickStyle2.xml"/><Relationship Id="rId3" Type="http://schemas.openxmlformats.org/officeDocument/2006/relationships/image" Target="../media/image3.png"/><Relationship Id="rId7" Type="http://schemas.openxmlformats.org/officeDocument/2006/relationships/diagramLayout" Target="../diagrams/layout1.xml"/><Relationship Id="rId12" Type="http://schemas.openxmlformats.org/officeDocument/2006/relationships/diagramLayout" Target="../diagrams/layout2.xml"/><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diagramData" Target="../diagrams/data1.xml"/><Relationship Id="rId11" Type="http://schemas.openxmlformats.org/officeDocument/2006/relationships/diagramData" Target="../diagrams/data2.xml"/><Relationship Id="rId5" Type="http://schemas.openxmlformats.org/officeDocument/2006/relationships/image" Target="../media/image10.svg"/><Relationship Id="rId15" Type="http://schemas.microsoft.com/office/2007/relationships/diagramDrawing" Target="../diagrams/drawing2.xml"/><Relationship Id="rId10" Type="http://schemas.microsoft.com/office/2007/relationships/diagramDrawing" Target="../diagrams/drawing1.xml"/><Relationship Id="rId4" Type="http://schemas.openxmlformats.org/officeDocument/2006/relationships/image" Target="../media/image5.svg"/><Relationship Id="rId9" Type="http://schemas.openxmlformats.org/officeDocument/2006/relationships/diagramColors" Target="../diagrams/colors1.xml"/><Relationship Id="rId14" Type="http://schemas.openxmlformats.org/officeDocument/2006/relationships/diagramColors" Target="../diagrams/colors2.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Colors" Target="../diagrams/colors4.xml"/><Relationship Id="rId3" Type="http://schemas.openxmlformats.org/officeDocument/2006/relationships/image" Target="../media/image3.png"/><Relationship Id="rId7" Type="http://schemas.openxmlformats.org/officeDocument/2006/relationships/diagramQuickStyle" Target="../diagrams/quickStyle3.xml"/><Relationship Id="rId12" Type="http://schemas.openxmlformats.org/officeDocument/2006/relationships/diagramQuickStyle" Target="../diagrams/quickStyle4.xml"/><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diagramLayout" Target="../diagrams/layout3.xml"/><Relationship Id="rId11" Type="http://schemas.openxmlformats.org/officeDocument/2006/relationships/diagramLayout" Target="../diagrams/layout4.xml"/><Relationship Id="rId5" Type="http://schemas.openxmlformats.org/officeDocument/2006/relationships/diagramData" Target="../diagrams/data3.xml"/><Relationship Id="rId10" Type="http://schemas.openxmlformats.org/officeDocument/2006/relationships/diagramData" Target="../diagrams/data4.xml"/><Relationship Id="rId4" Type="http://schemas.openxmlformats.org/officeDocument/2006/relationships/image" Target="../media/image5.svg"/><Relationship Id="rId9" Type="http://schemas.microsoft.com/office/2007/relationships/diagramDrawing" Target="../diagrams/drawing3.xml"/><Relationship Id="rId14" Type="http://schemas.microsoft.com/office/2007/relationships/diagramDrawing" Target="../diagrams/drawing4.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3.png"/><Relationship Id="rId7" Type="http://schemas.openxmlformats.org/officeDocument/2006/relationships/diagramQuickStyle" Target="../diagrams/quickStyle5.xml"/><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5.svg"/><Relationship Id="rId9" Type="http://schemas.microsoft.com/office/2007/relationships/diagramDrawing" Target="../diagrams/drawing5.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973F7F19-F9CD-DC19-2BF0-890AE8FC5164}"/>
              </a:ext>
            </a:extLst>
          </p:cNvPr>
          <p:cNvPicPr>
            <a:picLocks noChangeAspect="1"/>
          </p:cNvPicPr>
          <p:nvPr/>
        </p:nvPicPr>
        <p:blipFill>
          <a:blip r:embed="rId2">
            <a:alphaModFix amt="95000"/>
            <a:extLst>
              <a:ext uri="{28A0092B-C50C-407E-A947-70E740481C1C}">
                <a14:useLocalDpi xmlns:a14="http://schemas.microsoft.com/office/drawing/2010/main" val="0"/>
              </a:ext>
            </a:extLst>
          </a:blip>
          <a:stretch>
            <a:fillRect/>
          </a:stretch>
        </p:blipFill>
        <p:spPr>
          <a:xfrm>
            <a:off x="-1" y="0"/>
            <a:ext cx="18535780" cy="10287000"/>
          </a:xfrm>
          <a:prstGeom prst="rect">
            <a:avLst/>
          </a:prstGeom>
        </p:spPr>
      </p:pic>
      <p:grpSp>
        <p:nvGrpSpPr>
          <p:cNvPr id="3" name="Group 3"/>
          <p:cNvGrpSpPr/>
          <p:nvPr/>
        </p:nvGrpSpPr>
        <p:grpSpPr>
          <a:xfrm rot="5400000">
            <a:off x="7595878" y="-8190453"/>
            <a:ext cx="3303502" cy="18640211"/>
            <a:chOff x="0" y="0"/>
            <a:chExt cx="870058" cy="4909356"/>
          </a:xfrm>
        </p:grpSpPr>
        <p:sp>
          <p:nvSpPr>
            <p:cNvPr id="4" name="Freeform 4"/>
            <p:cNvSpPr/>
            <p:nvPr/>
          </p:nvSpPr>
          <p:spPr>
            <a:xfrm>
              <a:off x="0" y="0"/>
              <a:ext cx="870058" cy="4909356"/>
            </a:xfrm>
            <a:custGeom>
              <a:avLst/>
              <a:gdLst/>
              <a:ahLst/>
              <a:cxnLst/>
              <a:rect l="l" t="t" r="r" b="b"/>
              <a:pathLst>
                <a:path w="870058" h="4909356">
                  <a:moveTo>
                    <a:pt x="0" y="0"/>
                  </a:moveTo>
                  <a:lnTo>
                    <a:pt x="870058" y="0"/>
                  </a:lnTo>
                  <a:lnTo>
                    <a:pt x="870058" y="4909356"/>
                  </a:lnTo>
                  <a:lnTo>
                    <a:pt x="0" y="4909356"/>
                  </a:lnTo>
                  <a:close/>
                </a:path>
              </a:pathLst>
            </a:custGeom>
            <a:gradFill rotWithShape="1">
              <a:gsLst>
                <a:gs pos="0">
                  <a:srgbClr val="222222">
                    <a:alpha val="100000"/>
                  </a:srgbClr>
                </a:gs>
                <a:gs pos="100000">
                  <a:srgbClr val="222222">
                    <a:alpha val="0"/>
                  </a:srgbClr>
                </a:gs>
              </a:gsLst>
              <a:lin ang="0"/>
            </a:gradFill>
          </p:spPr>
          <p:txBody>
            <a:bodyPr/>
            <a:lstStyle/>
            <a:p>
              <a:endParaRPr lang="en-US"/>
            </a:p>
          </p:txBody>
        </p:sp>
        <p:sp>
          <p:nvSpPr>
            <p:cNvPr id="5" name="TextBox 5"/>
            <p:cNvSpPr txBox="1"/>
            <p:nvPr/>
          </p:nvSpPr>
          <p:spPr>
            <a:xfrm>
              <a:off x="0" y="-57150"/>
              <a:ext cx="870058" cy="4966506"/>
            </a:xfrm>
            <a:prstGeom prst="rect">
              <a:avLst/>
            </a:prstGeom>
          </p:spPr>
          <p:txBody>
            <a:bodyPr lIns="50800" tIns="50800" rIns="50800" bIns="50800" rtlCol="0" anchor="ctr"/>
            <a:lstStyle/>
            <a:p>
              <a:pPr algn="ctr">
                <a:lnSpc>
                  <a:spcPts val="1960"/>
                </a:lnSpc>
              </a:pPr>
              <a:endParaRPr/>
            </a:p>
          </p:txBody>
        </p:sp>
      </p:grpSp>
      <p:sp>
        <p:nvSpPr>
          <p:cNvPr id="7" name="Freeform 7"/>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p:cNvSpPr txBox="1"/>
          <p:nvPr/>
        </p:nvSpPr>
        <p:spPr>
          <a:xfrm>
            <a:off x="2903794" y="2975012"/>
            <a:ext cx="12480412" cy="2240998"/>
          </a:xfrm>
          <a:prstGeom prst="rect">
            <a:avLst/>
          </a:prstGeom>
        </p:spPr>
        <p:txBody>
          <a:bodyPr lIns="0" tIns="0" rIns="0" bIns="0" rtlCol="0" anchor="t">
            <a:spAutoFit/>
          </a:bodyPr>
          <a:lstStyle/>
          <a:p>
            <a:pPr algn="ctr">
              <a:lnSpc>
                <a:spcPts val="21667"/>
              </a:lnSpc>
              <a:spcBef>
                <a:spcPct val="0"/>
              </a:spcBef>
            </a:pPr>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CYBER THREAT INTELLIGENCE</a:t>
            </a:r>
          </a:p>
        </p:txBody>
      </p:sp>
      <p:sp>
        <p:nvSpPr>
          <p:cNvPr id="13" name="TextBox 13"/>
          <p:cNvSpPr txBox="1"/>
          <p:nvPr/>
        </p:nvSpPr>
        <p:spPr>
          <a:xfrm>
            <a:off x="6484843" y="758014"/>
            <a:ext cx="735245" cy="269186"/>
          </a:xfrm>
          <a:prstGeom prst="rect">
            <a:avLst/>
          </a:prstGeom>
        </p:spPr>
        <p:txBody>
          <a:bodyPr lIns="0" tIns="0" rIns="0" bIns="0" rtlCol="0" anchor="t">
            <a:spAutoFit/>
          </a:bodyPr>
          <a:lstStyle/>
          <a:p>
            <a:pPr algn="ctr">
              <a:lnSpc>
                <a:spcPts val="1960"/>
              </a:lnSpc>
              <a:spcBef>
                <a:spcPct val="0"/>
              </a:spcBef>
            </a:pPr>
            <a:r>
              <a:rPr lang="en-US" sz="1400" b="1" spc="-70" dirty="0">
                <a:solidFill>
                  <a:srgbClr val="FFFFFF"/>
                </a:solidFill>
                <a:latin typeface="Telegraf Medium"/>
                <a:ea typeface="Telegraf Medium"/>
                <a:cs typeface="Telegraf Medium"/>
                <a:sym typeface="Telegraf Medium"/>
              </a:rPr>
              <a:t>Home</a:t>
            </a:r>
          </a:p>
        </p:txBody>
      </p:sp>
      <p:sp>
        <p:nvSpPr>
          <p:cNvPr id="14" name="TextBox 14"/>
          <p:cNvSpPr txBox="1"/>
          <p:nvPr/>
        </p:nvSpPr>
        <p:spPr>
          <a:xfrm>
            <a:off x="7292437" y="772734"/>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20" name="TextBox 14">
            <a:extLst>
              <a:ext uri="{FF2B5EF4-FFF2-40B4-BE49-F238E27FC236}">
                <a16:creationId xmlns:a16="http://schemas.microsoft.com/office/drawing/2014/main" id="{EA6A2312-C39B-9F95-4668-2AB9069CF52A}"/>
              </a:ext>
            </a:extLst>
          </p:cNvPr>
          <p:cNvSpPr txBox="1"/>
          <p:nvPr/>
        </p:nvSpPr>
        <p:spPr>
          <a:xfrm>
            <a:off x="8622898" y="5216010"/>
            <a:ext cx="920431" cy="260071"/>
          </a:xfrm>
          <a:prstGeom prst="rect">
            <a:avLst/>
          </a:prstGeom>
        </p:spPr>
        <p:txBody>
          <a:bodyPr lIns="0" tIns="0" rIns="0" bIns="0" rtlCol="0" anchor="t">
            <a:spAutoFit/>
          </a:bodyPr>
          <a:lstStyle/>
          <a:p>
            <a:pPr algn="ctr">
              <a:lnSpc>
                <a:spcPts val="1960"/>
              </a:lnSpc>
              <a:spcBef>
                <a:spcPct val="0"/>
              </a:spcBef>
            </a:pPr>
            <a:r>
              <a:rPr lang="en-US" sz="2000" spc="-70" dirty="0">
                <a:solidFill>
                  <a:schemeClr val="bg1"/>
                </a:solidFill>
                <a:latin typeface="Telegraf"/>
                <a:ea typeface="Telegraf"/>
                <a:cs typeface="Telegraf"/>
                <a:sym typeface="Telegraf"/>
                <a:hlinkClick r:id="rId4" action="ppaction://hlinksldjump" tooltip="ENTER">
                  <a:extLst>
                    <a:ext uri="{A12FA001-AC4F-418D-AE19-62706E023703}">
                      <ahyp:hlinkClr xmlns:ahyp="http://schemas.microsoft.com/office/drawing/2018/hyperlinkcolor" val="tx"/>
                    </a:ext>
                  </a:extLst>
                </a:hlinkClick>
              </a:rPr>
              <a:t>ENTER</a:t>
            </a:r>
            <a:endParaRPr lang="en-US" sz="2000" spc="-70" dirty="0">
              <a:solidFill>
                <a:schemeClr val="bg1"/>
              </a:solidFill>
              <a:latin typeface="Telegraf"/>
              <a:ea typeface="Telegraf"/>
              <a:cs typeface="Telegraf"/>
              <a:sym typeface="Telegraf"/>
            </a:endParaRPr>
          </a:p>
        </p:txBody>
      </p:sp>
      <p:sp>
        <p:nvSpPr>
          <p:cNvPr id="2" name="TextBox 14">
            <a:extLst>
              <a:ext uri="{FF2B5EF4-FFF2-40B4-BE49-F238E27FC236}">
                <a16:creationId xmlns:a16="http://schemas.microsoft.com/office/drawing/2014/main" id="{82C28E1C-B642-A838-FACD-40C55E44F62F}"/>
              </a:ext>
            </a:extLst>
          </p:cNvPr>
          <p:cNvSpPr txBox="1"/>
          <p:nvPr/>
        </p:nvSpPr>
        <p:spPr>
          <a:xfrm>
            <a:off x="8373822" y="772734"/>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CTI</a:t>
            </a:r>
          </a:p>
        </p:txBody>
      </p:sp>
      <p:sp>
        <p:nvSpPr>
          <p:cNvPr id="6" name="TextBox 14">
            <a:extLst>
              <a:ext uri="{FF2B5EF4-FFF2-40B4-BE49-F238E27FC236}">
                <a16:creationId xmlns:a16="http://schemas.microsoft.com/office/drawing/2014/main" id="{E159DD37-5125-D89C-831D-A76974AB60B0}"/>
              </a:ext>
            </a:extLst>
          </p:cNvPr>
          <p:cNvSpPr txBox="1"/>
          <p:nvPr/>
        </p:nvSpPr>
        <p:spPr>
          <a:xfrm>
            <a:off x="9451086" y="77273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a:extLst>
            <a:ext uri="{FF2B5EF4-FFF2-40B4-BE49-F238E27FC236}">
              <a16:creationId xmlns:a16="http://schemas.microsoft.com/office/drawing/2014/main" id="{B14B12E7-EBEB-9F41-0E1D-14321E32F819}"/>
            </a:ext>
          </a:extLst>
        </p:cNvPr>
        <p:cNvGrpSpPr/>
        <p:nvPr/>
      </p:nvGrpSpPr>
      <p:grpSpPr>
        <a:xfrm>
          <a:off x="0" y="0"/>
          <a:ext cx="0" cy="0"/>
          <a:chOff x="0" y="0"/>
          <a:chExt cx="0" cy="0"/>
        </a:xfrm>
      </p:grpSpPr>
      <p:grpSp>
        <p:nvGrpSpPr>
          <p:cNvPr id="29" name="Group 7">
            <a:extLst>
              <a:ext uri="{FF2B5EF4-FFF2-40B4-BE49-F238E27FC236}">
                <a16:creationId xmlns:a16="http://schemas.microsoft.com/office/drawing/2014/main" id="{8789BFE1-273D-8924-48DB-E52EDEEBF52B}"/>
              </a:ext>
            </a:extLst>
          </p:cNvPr>
          <p:cNvGrpSpPr/>
          <p:nvPr/>
        </p:nvGrpSpPr>
        <p:grpSpPr>
          <a:xfrm>
            <a:off x="10699180" y="1903443"/>
            <a:ext cx="6064796" cy="2132392"/>
            <a:chOff x="0" y="0"/>
            <a:chExt cx="5516210" cy="3527477"/>
          </a:xfrm>
        </p:grpSpPr>
        <p:sp>
          <p:nvSpPr>
            <p:cNvPr id="30" name="Freeform 8">
              <a:extLst>
                <a:ext uri="{FF2B5EF4-FFF2-40B4-BE49-F238E27FC236}">
                  <a16:creationId xmlns:a16="http://schemas.microsoft.com/office/drawing/2014/main" id="{130D3AB0-C5B2-BA61-6035-55E540B18F07}"/>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31" name="TextBox 9">
              <a:extLst>
                <a:ext uri="{FF2B5EF4-FFF2-40B4-BE49-F238E27FC236}">
                  <a16:creationId xmlns:a16="http://schemas.microsoft.com/office/drawing/2014/main" id="{F6C99314-5F3E-4375-34BD-812E44052907}"/>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3" name="Freeform 3">
            <a:extLst>
              <a:ext uri="{FF2B5EF4-FFF2-40B4-BE49-F238E27FC236}">
                <a16:creationId xmlns:a16="http://schemas.microsoft.com/office/drawing/2014/main" id="{478856C6-B062-BDBC-E2B9-EEA8D307FACF}"/>
              </a:ext>
            </a:extLst>
          </p:cNvPr>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a:extLst>
              <a:ext uri="{FF2B5EF4-FFF2-40B4-BE49-F238E27FC236}">
                <a16:creationId xmlns:a16="http://schemas.microsoft.com/office/drawing/2014/main" id="{D2568853-8BC1-2376-071A-613CBDFCF937}"/>
              </a:ext>
            </a:extLst>
          </p:cNvPr>
          <p:cNvGrpSpPr/>
          <p:nvPr/>
        </p:nvGrpSpPr>
        <p:grpSpPr>
          <a:xfrm>
            <a:off x="7480696" y="1219157"/>
            <a:ext cx="247059" cy="56998"/>
            <a:chOff x="0" y="0"/>
            <a:chExt cx="65069" cy="15012"/>
          </a:xfrm>
        </p:grpSpPr>
        <p:sp>
          <p:nvSpPr>
            <p:cNvPr id="5" name="Freeform 5">
              <a:extLst>
                <a:ext uri="{FF2B5EF4-FFF2-40B4-BE49-F238E27FC236}">
                  <a16:creationId xmlns:a16="http://schemas.microsoft.com/office/drawing/2014/main" id="{76AD57AB-976A-153B-61E1-FA66318CFDC8}"/>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6A44A634-C1D6-2442-C224-7645D4BADDE7}"/>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TextBox 16">
            <a:extLst>
              <a:ext uri="{FF2B5EF4-FFF2-40B4-BE49-F238E27FC236}">
                <a16:creationId xmlns:a16="http://schemas.microsoft.com/office/drawing/2014/main" id="{2BE81CD9-56E5-336B-5D2E-0A9507A7066F}"/>
              </a:ext>
            </a:extLst>
          </p:cNvPr>
          <p:cNvSpPr txBox="1"/>
          <p:nvPr/>
        </p:nvSpPr>
        <p:spPr>
          <a:xfrm>
            <a:off x="249875" y="1369147"/>
            <a:ext cx="11475666" cy="4052391"/>
          </a:xfrm>
          <a:prstGeom prst="rect">
            <a:avLst/>
          </a:prstGeom>
        </p:spPr>
        <p:txBody>
          <a:bodyPr wrap="square" lIns="0" tIns="0" rIns="0" bIns="0" rtlCol="0" anchor="t">
            <a:spAutoFit/>
          </a:bodyPr>
          <a:lstStyle/>
          <a:p>
            <a:pPr marL="0" marR="0" lvl="0" indent="0" algn="l" defTabSz="914400" rtl="0" eaLnBrk="1" fontAlgn="auto" latinLnBrk="0" hangingPunct="1">
              <a:lnSpc>
                <a:spcPts val="7909"/>
              </a:lnSpc>
              <a:spcBef>
                <a:spcPts val="0"/>
              </a:spcBef>
              <a:spcAft>
                <a:spcPts val="0"/>
              </a:spcAft>
              <a:buClrTx/>
              <a:buSzTx/>
              <a:buFontTx/>
              <a:buNone/>
              <a:tabLst/>
              <a:defRPr/>
            </a:pPr>
            <a:r>
              <a:rPr kumimoji="0" lang="en-US" sz="7200" b="0" i="0" u="none" strike="noStrike" kern="1200" cap="none" spc="0" normalizeH="0" baseline="0" noProof="0" dirty="0">
                <a:ln>
                  <a:noFill/>
                </a:ln>
                <a:gradFill flip="none" rotWithShape="1">
                  <a:gsLst>
                    <a:gs pos="0">
                      <a:prstClr val="white"/>
                    </a:gs>
                    <a:gs pos="36000">
                      <a:prstClr val="white">
                        <a:lumMod val="0"/>
                        <a:lumOff val="100000"/>
                      </a:prstClr>
                    </a:gs>
                    <a:gs pos="100000">
                      <a:srgbClr val="8064A2"/>
                    </a:gs>
                  </a:gsLst>
                  <a:path path="circle">
                    <a:fillToRect l="100000" t="100000"/>
                  </a:path>
                  <a:tileRect r="-100000" b="-100000"/>
                </a:gradFill>
                <a:effectLst/>
                <a:uLnTx/>
                <a:uFillTx/>
                <a:latin typeface="RQND Pro Wide"/>
                <a:ea typeface="RQND Pro Wide"/>
                <a:cs typeface="RQND Pro Wide"/>
                <a:sym typeface="RQND Pro Wide"/>
              </a:rPr>
              <a:t>The Problem Security Teams Face Every Day</a:t>
            </a:r>
          </a:p>
          <a:p>
            <a:pPr marL="0" marR="0" lvl="0" indent="0" algn="l" defTabSz="914400" rtl="0" eaLnBrk="1" fontAlgn="auto" latinLnBrk="0" hangingPunct="1">
              <a:lnSpc>
                <a:spcPts val="7909"/>
              </a:lnSpc>
              <a:spcBef>
                <a:spcPts val="0"/>
              </a:spcBef>
              <a:spcAft>
                <a:spcPts val="0"/>
              </a:spcAft>
              <a:buClrTx/>
              <a:buSzTx/>
              <a:buFontTx/>
              <a:buNone/>
              <a:tabLst/>
              <a:defRPr/>
            </a:pPr>
            <a:endParaRPr kumimoji="0" lang="en-US" sz="9529" b="0" i="0" u="none" strike="noStrike" kern="1200" cap="none" spc="0" normalizeH="0" baseline="0" noProof="0" dirty="0">
              <a:ln>
                <a:noFill/>
              </a:ln>
              <a:gradFill>
                <a:gsLst>
                  <a:gs pos="0">
                    <a:srgbClr val="4F81BD">
                      <a:lumMod val="5000"/>
                      <a:lumOff val="95000"/>
                    </a:srgbClr>
                  </a:gs>
                  <a:gs pos="74000">
                    <a:srgbClr val="4F81BD">
                      <a:lumMod val="45000"/>
                      <a:lumOff val="55000"/>
                    </a:srgbClr>
                  </a:gs>
                  <a:gs pos="83000">
                    <a:srgbClr val="4F81BD">
                      <a:lumMod val="45000"/>
                      <a:lumOff val="55000"/>
                    </a:srgbClr>
                  </a:gs>
                  <a:gs pos="100000">
                    <a:srgbClr val="4F81BD">
                      <a:lumMod val="30000"/>
                      <a:lumOff val="70000"/>
                    </a:srgbClr>
                  </a:gs>
                </a:gsLst>
                <a:lin ang="5400000" scaled="1"/>
              </a:gradFill>
              <a:effectLst/>
              <a:uLnTx/>
              <a:uFillTx/>
              <a:latin typeface="RQND Pro Wide"/>
              <a:ea typeface="RQND Pro Wide"/>
              <a:cs typeface="RQND Pro Wide"/>
              <a:sym typeface="RQND Pro Wide"/>
            </a:endParaRPr>
          </a:p>
        </p:txBody>
      </p:sp>
      <p:pic>
        <p:nvPicPr>
          <p:cNvPr id="22" name="Image 0" descr="/home/claude/cygnus_logo.png">
            <a:extLst>
              <a:ext uri="{FF2B5EF4-FFF2-40B4-BE49-F238E27FC236}">
                <a16:creationId xmlns:a16="http://schemas.microsoft.com/office/drawing/2014/main" id="{E81952A6-D5A3-2BE2-682F-6BCBE8886C99}"/>
              </a:ext>
            </a:extLst>
          </p:cNvPr>
          <p:cNvPicPr>
            <a:picLocks noChangeAspect="1"/>
          </p:cNvPicPr>
          <p:nvPr/>
        </p:nvPicPr>
        <p:blipFill>
          <a:blip r:embed="rId3"/>
          <a:stretch>
            <a:fillRect/>
          </a:stretch>
        </p:blipFill>
        <p:spPr>
          <a:xfrm>
            <a:off x="651199" y="502921"/>
            <a:ext cx="1330002" cy="266000"/>
          </a:xfrm>
          <a:prstGeom prst="rect">
            <a:avLst/>
          </a:prstGeom>
        </p:spPr>
      </p:pic>
      <p:sp>
        <p:nvSpPr>
          <p:cNvPr id="24" name="TextBox 21">
            <a:extLst>
              <a:ext uri="{FF2B5EF4-FFF2-40B4-BE49-F238E27FC236}">
                <a16:creationId xmlns:a16="http://schemas.microsoft.com/office/drawing/2014/main" id="{CDB4A8C2-0BE8-7EF8-6A22-E1E98D4A0F28}"/>
              </a:ext>
            </a:extLst>
          </p:cNvPr>
          <p:cNvSpPr txBox="1"/>
          <p:nvPr/>
        </p:nvSpPr>
        <p:spPr>
          <a:xfrm>
            <a:off x="10674875" y="2198956"/>
            <a:ext cx="6113405" cy="1475853"/>
          </a:xfrm>
          <a:prstGeom prst="rect">
            <a:avLst/>
          </a:prstGeom>
        </p:spPr>
        <p:txBody>
          <a:bodyPr wrap="square" lIns="0" tIns="0" rIns="0" bIns="0" rtlCol="0" anchor="t">
            <a:spAutoFit/>
          </a:bodyPr>
          <a:lstStyle/>
          <a:p>
            <a:pPr marL="0" marR="0" lvl="0" indent="0" algn="ctr"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More data. Less clarity. Thousands of alerts. Hundreds of indicators. Dozens of feeds. The questions that matter most remain unanswered.</a:t>
            </a:r>
          </a:p>
        </p:txBody>
      </p:sp>
      <p:sp>
        <p:nvSpPr>
          <p:cNvPr id="59" name="TextBox 21">
            <a:extLst>
              <a:ext uri="{FF2B5EF4-FFF2-40B4-BE49-F238E27FC236}">
                <a16:creationId xmlns:a16="http://schemas.microsoft.com/office/drawing/2014/main" id="{2281CECB-DAF5-B5D4-5431-214184845C10}"/>
              </a:ext>
            </a:extLst>
          </p:cNvPr>
          <p:cNvSpPr txBox="1"/>
          <p:nvPr/>
        </p:nvSpPr>
        <p:spPr>
          <a:xfrm>
            <a:off x="3225680" y="9304092"/>
            <a:ext cx="11722725" cy="772712"/>
          </a:xfrm>
          <a:prstGeom prst="rect">
            <a:avLst/>
          </a:prstGeom>
        </p:spPr>
        <p:txBody>
          <a:bodyPr wrap="square" lIns="0" tIns="0" rIns="0" bIns="0" rtlCol="0" anchor="t">
            <a:spAutoFit/>
          </a:bodyPr>
          <a:lstStyle/>
          <a:p>
            <a:pPr marL="0" marR="0" lvl="0" indent="0" algn="ctr" defTabSz="914400" rtl="0" eaLnBrk="1" fontAlgn="auto" latinLnBrk="0" hangingPunct="1">
              <a:lnSpc>
                <a:spcPts val="2879"/>
              </a:lnSpc>
              <a:spcBef>
                <a:spcPts val="0"/>
              </a:spcBef>
              <a:spcAft>
                <a:spcPts val="0"/>
              </a:spcAft>
              <a:buClrTx/>
              <a:buSzTx/>
              <a:buFontTx/>
              <a:buNone/>
              <a:tabLst/>
              <a:defRPr/>
            </a:pPr>
            <a:r>
              <a:rPr kumimoji="0" lang="en-US" sz="3600" b="0" i="1" u="none" strike="noStrike" kern="1200" cap="none" spc="-120" normalizeH="0" baseline="0" noProof="0" dirty="0">
                <a:ln>
                  <a:noFill/>
                </a:ln>
                <a:gradFill>
                  <a:gsLst>
                    <a:gs pos="0">
                      <a:schemeClr val="accent4">
                        <a:lumMod val="40000"/>
                        <a:lumOff val="60000"/>
                      </a:schemeClr>
                    </a:gs>
                    <a:gs pos="46000">
                      <a:schemeClr val="bg1"/>
                    </a:gs>
                    <a:gs pos="100000">
                      <a:srgbClr val="5E3587"/>
                    </a:gs>
                  </a:gsLst>
                  <a:path path="circle">
                    <a:fillToRect l="50000" t="130000" r="50000" b="-30000"/>
                  </a:path>
                </a:gradFill>
                <a:effectLst/>
                <a:uLnTx/>
                <a:uFillTx/>
                <a:latin typeface="Telegraf"/>
                <a:ea typeface="Telegraf"/>
                <a:cs typeface="Telegraf"/>
                <a:sym typeface="Telegraf"/>
              </a:rPr>
              <a:t>CTI resolves this contradiction. It does not add more data  it transforms existing data into decisions.</a:t>
            </a:r>
          </a:p>
        </p:txBody>
      </p:sp>
      <p:sp>
        <p:nvSpPr>
          <p:cNvPr id="9" name="TextBox 9">
            <a:extLst>
              <a:ext uri="{FF2B5EF4-FFF2-40B4-BE49-F238E27FC236}">
                <a16:creationId xmlns:a16="http://schemas.microsoft.com/office/drawing/2014/main" id="{7DCB0A28-1FA9-43F5-2DD9-C7C7B3B07E72}"/>
              </a:ext>
            </a:extLst>
          </p:cNvPr>
          <p:cNvSpPr txBox="1"/>
          <p:nvPr/>
        </p:nvSpPr>
        <p:spPr>
          <a:xfrm>
            <a:off x="5114899" y="4357603"/>
            <a:ext cx="5173972" cy="996898"/>
          </a:xfrm>
          <a:prstGeom prst="rect">
            <a:avLst/>
          </a:prstGeom>
        </p:spPr>
        <p:txBody>
          <a:bodyPr lIns="50800" tIns="50800" rIns="50800" bIns="50800" rtlCol="0" anchor="ctr"/>
          <a:lstStyle/>
          <a:p>
            <a:pPr algn="ctr">
              <a:lnSpc>
                <a:spcPts val="1960"/>
              </a:lnSpc>
            </a:pPr>
            <a:endParaRPr/>
          </a:p>
        </p:txBody>
      </p:sp>
      <p:sp>
        <p:nvSpPr>
          <p:cNvPr id="37" name="TextBox 21">
            <a:extLst>
              <a:ext uri="{FF2B5EF4-FFF2-40B4-BE49-F238E27FC236}">
                <a16:creationId xmlns:a16="http://schemas.microsoft.com/office/drawing/2014/main" id="{6E05F536-93CE-BD07-7FAA-B0F20A940435}"/>
              </a:ext>
            </a:extLst>
          </p:cNvPr>
          <p:cNvSpPr txBox="1"/>
          <p:nvPr/>
        </p:nvSpPr>
        <p:spPr>
          <a:xfrm>
            <a:off x="477169" y="4849837"/>
            <a:ext cx="7536586" cy="427874"/>
          </a:xfrm>
          <a:prstGeom prst="rect">
            <a:avLst/>
          </a:prstGeom>
        </p:spPr>
        <p:txBody>
          <a:bodyPr wrap="square" lIns="0" tIns="0" rIns="0" bIns="0" rtlCol="0" anchor="t">
            <a:spAutoFit/>
          </a:bodyPr>
          <a:lstStyle/>
          <a:p>
            <a:pPr marL="0" marR="0" lvl="0" indent="0" algn="ctr" defTabSz="914400" rtl="0" eaLnBrk="1" fontAlgn="auto" latinLnBrk="0" hangingPunct="1">
              <a:lnSpc>
                <a:spcPts val="2879"/>
              </a:lnSpc>
              <a:spcBef>
                <a:spcPts val="0"/>
              </a:spcBef>
              <a:spcAft>
                <a:spcPts val="0"/>
              </a:spcAft>
              <a:buClrTx/>
              <a:buSzTx/>
              <a:buFontTx/>
              <a:buNone/>
              <a:tabLst/>
              <a:defRPr/>
            </a:pPr>
            <a:r>
              <a:rPr kumimoji="0" lang="en-US" sz="4400" b="0" i="0" u="none" strike="noStrike" kern="1200" cap="none" spc="-120" normalizeH="0" baseline="0" noProof="0" dirty="0">
                <a:ln>
                  <a:noFill/>
                </a:ln>
                <a:gradFill>
                  <a:gsLst>
                    <a:gs pos="0">
                      <a:schemeClr val="accent4">
                        <a:lumMod val="40000"/>
                        <a:lumOff val="60000"/>
                      </a:schemeClr>
                    </a:gs>
                    <a:gs pos="46000">
                      <a:schemeClr val="bg1"/>
                    </a:gs>
                    <a:gs pos="100000">
                      <a:srgbClr val="5E3587"/>
                    </a:gs>
                  </a:gsLst>
                  <a:path path="circle">
                    <a:fillToRect l="50000" t="130000" r="50000" b="-30000"/>
                  </a:path>
                </a:gradFill>
                <a:effectLst/>
                <a:uLnTx/>
                <a:uFillTx/>
                <a:latin typeface="Telegraf"/>
                <a:ea typeface="Telegraf"/>
                <a:cs typeface="Telegraf"/>
                <a:sym typeface="Telegraf"/>
              </a:rPr>
              <a:t>THE QUESTION</a:t>
            </a:r>
          </a:p>
        </p:txBody>
      </p:sp>
      <p:sp>
        <p:nvSpPr>
          <p:cNvPr id="12" name="TextBox 21">
            <a:extLst>
              <a:ext uri="{FF2B5EF4-FFF2-40B4-BE49-F238E27FC236}">
                <a16:creationId xmlns:a16="http://schemas.microsoft.com/office/drawing/2014/main" id="{87884008-3F08-167B-6684-90CA6B143615}"/>
              </a:ext>
            </a:extLst>
          </p:cNvPr>
          <p:cNvSpPr txBox="1"/>
          <p:nvPr/>
        </p:nvSpPr>
        <p:spPr>
          <a:xfrm>
            <a:off x="364599" y="7886427"/>
            <a:ext cx="8894124" cy="738664"/>
          </a:xfrm>
          <a:prstGeom prst="rect">
            <a:avLst/>
          </a:prstGeom>
        </p:spPr>
        <p:txBody>
          <a:bodyPr wrap="square" lIns="0" tIns="0" rIns="0" bIns="0" rtlCol="0" anchor="t">
            <a:spAutoFit/>
          </a:bodyPr>
          <a:lstStyle/>
          <a:p>
            <a:pPr lvl="0" algn="ctr">
              <a:defRPr/>
            </a:pPr>
            <a:r>
              <a:rPr lang="en-US" sz="4800" dirty="0">
                <a:gradFill>
                  <a:gsLst>
                    <a:gs pos="0">
                      <a:schemeClr val="accent4">
                        <a:lumMod val="40000"/>
                        <a:lumOff val="60000"/>
                      </a:schemeClr>
                    </a:gs>
                    <a:gs pos="46000">
                      <a:schemeClr val="bg1"/>
                    </a:gs>
                    <a:gs pos="100000">
                      <a:schemeClr val="bg1">
                        <a:lumMod val="50000"/>
                      </a:schemeClr>
                    </a:gs>
                  </a:gsLst>
                  <a:path path="circle">
                    <a:fillToRect l="50000" t="130000" r="50000" b="-30000"/>
                  </a:path>
                </a:gradFill>
                <a:latin typeface="Telegraf" panose="020B0604020202020204" charset="0"/>
              </a:rPr>
              <a:t>Are we already compromised?</a:t>
            </a:r>
          </a:p>
        </p:txBody>
      </p:sp>
      <p:sp>
        <p:nvSpPr>
          <p:cNvPr id="17" name="TextBox 21">
            <a:extLst>
              <a:ext uri="{FF2B5EF4-FFF2-40B4-BE49-F238E27FC236}">
                <a16:creationId xmlns:a16="http://schemas.microsoft.com/office/drawing/2014/main" id="{3C24EFED-3D7F-DFCA-5478-84B18951C11C}"/>
              </a:ext>
            </a:extLst>
          </p:cNvPr>
          <p:cNvSpPr txBox="1"/>
          <p:nvPr/>
        </p:nvSpPr>
        <p:spPr>
          <a:xfrm>
            <a:off x="194575" y="6806214"/>
            <a:ext cx="8894124" cy="738664"/>
          </a:xfrm>
          <a:prstGeom prst="rect">
            <a:avLst/>
          </a:prstGeom>
        </p:spPr>
        <p:txBody>
          <a:bodyPr wrap="square" lIns="0" tIns="0" rIns="0" bIns="0" rtlCol="0" anchor="t">
            <a:spAutoFit/>
          </a:bodyPr>
          <a:lstStyle/>
          <a:p>
            <a:pPr lvl="0" algn="ctr">
              <a:defRPr/>
            </a:pPr>
            <a:r>
              <a:rPr lang="en-US" sz="4800" dirty="0">
                <a:gradFill>
                  <a:gsLst>
                    <a:gs pos="0">
                      <a:schemeClr val="accent4">
                        <a:lumMod val="40000"/>
                        <a:lumOff val="60000"/>
                      </a:schemeClr>
                    </a:gs>
                    <a:gs pos="46000">
                      <a:schemeClr val="bg1"/>
                    </a:gs>
                    <a:gs pos="100000">
                      <a:schemeClr val="bg1">
                        <a:lumMod val="50000"/>
                      </a:schemeClr>
                    </a:gs>
                  </a:gsLst>
                  <a:path path="circle">
                    <a:fillToRect l="50000" t="130000" r="50000" b="-30000"/>
                  </a:path>
                </a:gradFill>
                <a:latin typeface="Telegraf" panose="020B0604020202020204" charset="0"/>
              </a:rPr>
              <a:t>What do we defend first?</a:t>
            </a:r>
          </a:p>
        </p:txBody>
      </p:sp>
      <p:sp>
        <p:nvSpPr>
          <p:cNvPr id="18" name="TextBox 21">
            <a:extLst>
              <a:ext uri="{FF2B5EF4-FFF2-40B4-BE49-F238E27FC236}">
                <a16:creationId xmlns:a16="http://schemas.microsoft.com/office/drawing/2014/main" id="{7ACF8822-7120-CCD1-C011-E7625D7BBCE5}"/>
              </a:ext>
            </a:extLst>
          </p:cNvPr>
          <p:cNvSpPr txBox="1"/>
          <p:nvPr/>
        </p:nvSpPr>
        <p:spPr>
          <a:xfrm>
            <a:off x="55479" y="5673066"/>
            <a:ext cx="8894124" cy="738664"/>
          </a:xfrm>
          <a:prstGeom prst="rect">
            <a:avLst/>
          </a:prstGeom>
        </p:spPr>
        <p:txBody>
          <a:bodyPr wrap="square" lIns="0" tIns="0" rIns="0" bIns="0" rtlCol="0" anchor="t">
            <a:spAutoFit/>
          </a:bodyPr>
          <a:lstStyle/>
          <a:p>
            <a:pPr lvl="0" algn="ctr">
              <a:defRPr/>
            </a:pPr>
            <a:r>
              <a:rPr lang="en-US" sz="4800" dirty="0">
                <a:gradFill>
                  <a:gsLst>
                    <a:gs pos="0">
                      <a:schemeClr val="accent4">
                        <a:lumMod val="40000"/>
                        <a:lumOff val="60000"/>
                      </a:schemeClr>
                    </a:gs>
                    <a:gs pos="46000">
                      <a:schemeClr val="bg1"/>
                    </a:gs>
                    <a:gs pos="100000">
                      <a:schemeClr val="bg1">
                        <a:lumMod val="50000"/>
                      </a:schemeClr>
                    </a:gs>
                  </a:gsLst>
                  <a:path path="circle">
                    <a:fillToRect l="50000" t="130000" r="50000" b="-30000"/>
                  </a:path>
                </a:gradFill>
                <a:latin typeface="Telegraf" panose="020B0604020202020204" charset="0"/>
              </a:rPr>
              <a:t>Who is targeting us? </a:t>
            </a:r>
          </a:p>
        </p:txBody>
      </p:sp>
      <p:sp>
        <p:nvSpPr>
          <p:cNvPr id="20" name="TextBox 21">
            <a:extLst>
              <a:ext uri="{FF2B5EF4-FFF2-40B4-BE49-F238E27FC236}">
                <a16:creationId xmlns:a16="http://schemas.microsoft.com/office/drawing/2014/main" id="{F51B037F-4D07-0FDC-18F3-57D0DEE2809C}"/>
              </a:ext>
            </a:extLst>
          </p:cNvPr>
          <p:cNvSpPr txBox="1"/>
          <p:nvPr/>
        </p:nvSpPr>
        <p:spPr>
          <a:xfrm>
            <a:off x="10205503" y="5451867"/>
            <a:ext cx="6277613" cy="923330"/>
          </a:xfrm>
          <a:prstGeom prst="rect">
            <a:avLst/>
          </a:prstGeom>
        </p:spPr>
        <p:txBody>
          <a:bodyPr wrap="square" lIns="0" tIns="0" rIns="0" bIns="0" rtlCol="0" anchor="t">
            <a:spAutoFit/>
          </a:bodyPr>
          <a:lstStyle/>
          <a:p>
            <a:pPr lvl="0" algn="ctr">
              <a:defRPr/>
            </a:pPr>
            <a:r>
              <a:rPr lang="en-US" sz="3000" dirty="0">
                <a:gradFill>
                  <a:gsLst>
                    <a:gs pos="0">
                      <a:schemeClr val="accent4">
                        <a:lumMod val="40000"/>
                        <a:lumOff val="60000"/>
                      </a:schemeClr>
                    </a:gs>
                    <a:gs pos="46000">
                      <a:schemeClr val="bg1"/>
                    </a:gs>
                    <a:gs pos="100000">
                      <a:schemeClr val="bg1">
                        <a:lumMod val="50000"/>
                      </a:schemeClr>
                    </a:gs>
                  </a:gsLst>
                  <a:path path="circle">
                    <a:fillToRect l="50000" t="130000" r="50000" b="-30000"/>
                  </a:path>
                </a:gradFill>
                <a:latin typeface="Telegraf" panose="020B0604020202020204" charset="0"/>
              </a:rPr>
              <a:t>We have no adversary context. Every alert starts from zero.</a:t>
            </a:r>
          </a:p>
        </p:txBody>
      </p:sp>
      <p:sp>
        <p:nvSpPr>
          <p:cNvPr id="21" name="TextBox 21">
            <a:extLst>
              <a:ext uri="{FF2B5EF4-FFF2-40B4-BE49-F238E27FC236}">
                <a16:creationId xmlns:a16="http://schemas.microsoft.com/office/drawing/2014/main" id="{2EADF6F1-281D-29F8-2965-A77AC52AE84E}"/>
              </a:ext>
            </a:extLst>
          </p:cNvPr>
          <p:cNvSpPr txBox="1"/>
          <p:nvPr/>
        </p:nvSpPr>
        <p:spPr>
          <a:xfrm>
            <a:off x="10544163" y="6621548"/>
            <a:ext cx="5600295" cy="923330"/>
          </a:xfrm>
          <a:prstGeom prst="rect">
            <a:avLst/>
          </a:prstGeom>
        </p:spPr>
        <p:txBody>
          <a:bodyPr wrap="square" lIns="0" tIns="0" rIns="0" bIns="0" rtlCol="0" anchor="t">
            <a:spAutoFit/>
          </a:bodyPr>
          <a:lstStyle/>
          <a:p>
            <a:pPr lvl="0" algn="ctr">
              <a:defRPr/>
            </a:pPr>
            <a:r>
              <a:rPr lang="en-US" sz="3000" dirty="0">
                <a:gradFill>
                  <a:gsLst>
                    <a:gs pos="0">
                      <a:schemeClr val="accent4">
                        <a:lumMod val="40000"/>
                        <a:lumOff val="60000"/>
                      </a:schemeClr>
                    </a:gs>
                    <a:gs pos="46000">
                      <a:schemeClr val="bg1"/>
                    </a:gs>
                    <a:gs pos="100000">
                      <a:schemeClr val="bg1">
                        <a:lumMod val="50000"/>
                      </a:schemeClr>
                    </a:gs>
                  </a:gsLst>
                  <a:path path="circle">
                    <a:fillToRect l="50000" t="130000" r="50000" b="-30000"/>
                  </a:path>
                </a:gradFill>
                <a:latin typeface="Telegraf" panose="020B0604020202020204" charset="0"/>
              </a:rPr>
              <a:t>Dwell time averages 197 days. We find out late, or not at all.</a:t>
            </a:r>
          </a:p>
        </p:txBody>
      </p:sp>
      <p:sp>
        <p:nvSpPr>
          <p:cNvPr id="23" name="TextBox 21">
            <a:extLst>
              <a:ext uri="{FF2B5EF4-FFF2-40B4-BE49-F238E27FC236}">
                <a16:creationId xmlns:a16="http://schemas.microsoft.com/office/drawing/2014/main" id="{3C5EA6C9-FEF6-49A4-CCE9-C3B1C56226DC}"/>
              </a:ext>
            </a:extLst>
          </p:cNvPr>
          <p:cNvSpPr txBox="1"/>
          <p:nvPr/>
        </p:nvSpPr>
        <p:spPr>
          <a:xfrm>
            <a:off x="9968251" y="7791229"/>
            <a:ext cx="6956749" cy="923330"/>
          </a:xfrm>
          <a:prstGeom prst="rect">
            <a:avLst/>
          </a:prstGeom>
        </p:spPr>
        <p:txBody>
          <a:bodyPr wrap="square" lIns="0" tIns="0" rIns="0" bIns="0" rtlCol="0" anchor="t">
            <a:spAutoFit/>
          </a:bodyPr>
          <a:lstStyle/>
          <a:p>
            <a:pPr lvl="0" algn="ctr">
              <a:defRPr/>
            </a:pPr>
            <a:r>
              <a:rPr lang="en-US" sz="3000" dirty="0">
                <a:gradFill>
                  <a:gsLst>
                    <a:gs pos="0">
                      <a:schemeClr val="accent4">
                        <a:lumMod val="40000"/>
                        <a:lumOff val="60000"/>
                      </a:schemeClr>
                    </a:gs>
                    <a:gs pos="46000">
                      <a:schemeClr val="bg1"/>
                    </a:gs>
                    <a:gs pos="100000">
                      <a:schemeClr val="bg1">
                        <a:lumMod val="50000"/>
                      </a:schemeClr>
                    </a:gs>
                  </a:gsLst>
                  <a:path path="circle">
                    <a:fillToRect l="50000" t="130000" r="50000" b="-30000"/>
                  </a:path>
                </a:gradFill>
                <a:latin typeface="Telegraf" panose="020B0604020202020204" charset="0"/>
              </a:rPr>
              <a:t>Everything looks equally urgent. Nothing gets the focus it deserves.</a:t>
            </a:r>
          </a:p>
        </p:txBody>
      </p:sp>
      <p:sp>
        <p:nvSpPr>
          <p:cNvPr id="28" name="TextBox 21">
            <a:extLst>
              <a:ext uri="{FF2B5EF4-FFF2-40B4-BE49-F238E27FC236}">
                <a16:creationId xmlns:a16="http://schemas.microsoft.com/office/drawing/2014/main" id="{BCBA879D-38E3-0979-2017-072EBA273668}"/>
              </a:ext>
            </a:extLst>
          </p:cNvPr>
          <p:cNvSpPr txBox="1"/>
          <p:nvPr/>
        </p:nvSpPr>
        <p:spPr>
          <a:xfrm>
            <a:off x="8291499" y="4810490"/>
            <a:ext cx="9532395" cy="427874"/>
          </a:xfrm>
          <a:prstGeom prst="rect">
            <a:avLst/>
          </a:prstGeom>
        </p:spPr>
        <p:txBody>
          <a:bodyPr wrap="square" lIns="0" tIns="0" rIns="0" bIns="0" rtlCol="0" anchor="t">
            <a:spAutoFit/>
          </a:bodyPr>
          <a:lstStyle/>
          <a:p>
            <a:pPr lvl="0" algn="ctr">
              <a:lnSpc>
                <a:spcPts val="2879"/>
              </a:lnSpc>
            </a:pPr>
            <a:r>
              <a:rPr lang="en-US" sz="4400" spc="-120" dirty="0">
                <a:gradFill>
                  <a:gsLst>
                    <a:gs pos="0">
                      <a:schemeClr val="accent4">
                        <a:lumMod val="40000"/>
                        <a:lumOff val="60000"/>
                      </a:schemeClr>
                    </a:gs>
                    <a:gs pos="46000">
                      <a:schemeClr val="bg1"/>
                    </a:gs>
                    <a:gs pos="100000">
                      <a:srgbClr val="5E3587"/>
                    </a:gs>
                  </a:gsLst>
                  <a:path path="circle">
                    <a:fillToRect l="50000" t="130000" r="50000" b="-30000"/>
                  </a:path>
                </a:gradFill>
                <a:latin typeface="Telegraf"/>
                <a:ea typeface="Telegraf"/>
                <a:cs typeface="Telegraf"/>
                <a:sym typeface="Telegraf"/>
              </a:rPr>
              <a:t>WHAT IT COSTS WITHOUT CTI</a:t>
            </a:r>
          </a:p>
        </p:txBody>
      </p:sp>
      <p:sp>
        <p:nvSpPr>
          <p:cNvPr id="33" name="Freeform 19">
            <a:extLst>
              <a:ext uri="{FF2B5EF4-FFF2-40B4-BE49-F238E27FC236}">
                <a16:creationId xmlns:a16="http://schemas.microsoft.com/office/drawing/2014/main" id="{6582A6AD-4EED-F49C-D55C-C03D9128C5E6}"/>
              </a:ext>
            </a:extLst>
          </p:cNvPr>
          <p:cNvSpPr/>
          <p:nvPr/>
        </p:nvSpPr>
        <p:spPr>
          <a:xfrm>
            <a:off x="7764984" y="1721812"/>
            <a:ext cx="545801" cy="480305"/>
          </a:xfrm>
          <a:custGeom>
            <a:avLst/>
            <a:gdLst/>
            <a:ahLst/>
            <a:cxnLst/>
            <a:rect l="l" t="t" r="r" b="b"/>
            <a:pathLst>
              <a:path w="545801" h="480305">
                <a:moveTo>
                  <a:pt x="0" y="0"/>
                </a:moveTo>
                <a:lnTo>
                  <a:pt x="545800" y="0"/>
                </a:lnTo>
                <a:lnTo>
                  <a:pt x="545800" y="480305"/>
                </a:lnTo>
                <a:lnTo>
                  <a:pt x="0" y="480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Box 13">
            <a:extLst>
              <a:ext uri="{FF2B5EF4-FFF2-40B4-BE49-F238E27FC236}">
                <a16:creationId xmlns:a16="http://schemas.microsoft.com/office/drawing/2014/main" id="{3A646FCA-8D11-F951-3230-51124C4DCD6F}"/>
              </a:ext>
            </a:extLst>
          </p:cNvPr>
          <p:cNvSpPr txBox="1"/>
          <p:nvPr/>
        </p:nvSpPr>
        <p:spPr>
          <a:xfrm>
            <a:off x="6124776" y="82358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61" name="TextBox 14">
            <a:extLst>
              <a:ext uri="{FF2B5EF4-FFF2-40B4-BE49-F238E27FC236}">
                <a16:creationId xmlns:a16="http://schemas.microsoft.com/office/drawing/2014/main" id="{C82B750B-54F8-2A6C-02D2-6E6D1A1D5212}"/>
              </a:ext>
            </a:extLst>
          </p:cNvPr>
          <p:cNvSpPr txBox="1"/>
          <p:nvPr/>
        </p:nvSpPr>
        <p:spPr>
          <a:xfrm>
            <a:off x="6932370" y="83830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Problem</a:t>
            </a:r>
          </a:p>
        </p:txBody>
      </p:sp>
      <p:sp>
        <p:nvSpPr>
          <p:cNvPr id="63" name="TextBox 14">
            <a:extLst>
              <a:ext uri="{FF2B5EF4-FFF2-40B4-BE49-F238E27FC236}">
                <a16:creationId xmlns:a16="http://schemas.microsoft.com/office/drawing/2014/main" id="{9AAE974C-739C-D09B-EEF8-27B99F1AE459}"/>
              </a:ext>
            </a:extLst>
          </p:cNvPr>
          <p:cNvSpPr txBox="1"/>
          <p:nvPr/>
        </p:nvSpPr>
        <p:spPr>
          <a:xfrm>
            <a:off x="8013755" y="83830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CTI</a:t>
            </a:r>
          </a:p>
        </p:txBody>
      </p:sp>
      <p:sp>
        <p:nvSpPr>
          <p:cNvPr id="64" name="TextBox 14">
            <a:extLst>
              <a:ext uri="{FF2B5EF4-FFF2-40B4-BE49-F238E27FC236}">
                <a16:creationId xmlns:a16="http://schemas.microsoft.com/office/drawing/2014/main" id="{B2FB3AAA-4594-7679-2288-DC49B6CAED14}"/>
              </a:ext>
            </a:extLst>
          </p:cNvPr>
          <p:cNvSpPr txBox="1"/>
          <p:nvPr/>
        </p:nvSpPr>
        <p:spPr>
          <a:xfrm>
            <a:off x="9091019" y="838306"/>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extLst>
      <p:ext uri="{BB962C8B-B14F-4D97-AF65-F5344CB8AC3E}">
        <p14:creationId xmlns:p14="http://schemas.microsoft.com/office/powerpoint/2010/main" val="3889336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down)">
                                      <p:cBhvr>
                                        <p:cTn id="19" dur="5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000"/>
                                        <p:tgtEl>
                                          <p:spTgt spid="17"/>
                                        </p:tgtEl>
                                      </p:cBhvr>
                                    </p:animEffect>
                                    <p:anim calcmode="lin" valueType="num">
                                      <p:cBhvr>
                                        <p:cTn id="44" dur="1000" fill="hold"/>
                                        <p:tgtEl>
                                          <p:spTgt spid="17"/>
                                        </p:tgtEl>
                                        <p:attrNameLst>
                                          <p:attrName>ppt_x</p:attrName>
                                        </p:attrNameLst>
                                      </p:cBhvr>
                                      <p:tavLst>
                                        <p:tav tm="0">
                                          <p:val>
                                            <p:strVal val="#ppt_x"/>
                                          </p:val>
                                        </p:tav>
                                        <p:tav tm="100000">
                                          <p:val>
                                            <p:strVal val="#ppt_x"/>
                                          </p:val>
                                        </p:tav>
                                      </p:tavLst>
                                    </p:anim>
                                    <p:anim calcmode="lin" valueType="num">
                                      <p:cBhvr>
                                        <p:cTn id="4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1000"/>
                                        <p:tgtEl>
                                          <p:spTgt spid="23"/>
                                        </p:tgtEl>
                                      </p:cBhvr>
                                    </p:animEffect>
                                    <p:anim calcmode="lin" valueType="num">
                                      <p:cBhvr>
                                        <p:cTn id="65" dur="1000" fill="hold"/>
                                        <p:tgtEl>
                                          <p:spTgt spid="23"/>
                                        </p:tgtEl>
                                        <p:attrNameLst>
                                          <p:attrName>ppt_x</p:attrName>
                                        </p:attrNameLst>
                                      </p:cBhvr>
                                      <p:tavLst>
                                        <p:tav tm="0">
                                          <p:val>
                                            <p:strVal val="#ppt_x"/>
                                          </p:val>
                                        </p:tav>
                                        <p:tav tm="100000">
                                          <p:val>
                                            <p:strVal val="#ppt_x"/>
                                          </p:val>
                                        </p:tav>
                                      </p:tavLst>
                                    </p:anim>
                                    <p:anim calcmode="lin" valueType="num">
                                      <p:cBhvr>
                                        <p:cTn id="6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fade">
                                      <p:cBhvr>
                                        <p:cTn id="71" dur="1000"/>
                                        <p:tgtEl>
                                          <p:spTgt spid="59"/>
                                        </p:tgtEl>
                                      </p:cBhvr>
                                    </p:animEffect>
                                    <p:anim calcmode="lin" valueType="num">
                                      <p:cBhvr>
                                        <p:cTn id="72" dur="1000" fill="hold"/>
                                        <p:tgtEl>
                                          <p:spTgt spid="59"/>
                                        </p:tgtEl>
                                        <p:attrNameLst>
                                          <p:attrName>ppt_x</p:attrName>
                                        </p:attrNameLst>
                                      </p:cBhvr>
                                      <p:tavLst>
                                        <p:tav tm="0">
                                          <p:val>
                                            <p:strVal val="#ppt_x"/>
                                          </p:val>
                                        </p:tav>
                                        <p:tav tm="100000">
                                          <p:val>
                                            <p:strVal val="#ppt_x"/>
                                          </p:val>
                                        </p:tav>
                                      </p:tavLst>
                                    </p:anim>
                                    <p:anim calcmode="lin" valueType="num">
                                      <p:cBhvr>
                                        <p:cTn id="73"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9" grpId="0"/>
      <p:bldP spid="37" grpId="0"/>
      <p:bldP spid="12" grpId="0"/>
      <p:bldP spid="17" grpId="0"/>
      <p:bldP spid="18" grpId="0"/>
      <p:bldP spid="20" grpId="0"/>
      <p:bldP spid="21" grpId="0"/>
      <p:bldP spid="23"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a:extLst>
            <a:ext uri="{FF2B5EF4-FFF2-40B4-BE49-F238E27FC236}">
              <a16:creationId xmlns:a16="http://schemas.microsoft.com/office/drawing/2014/main" id="{A6BDC629-3CD0-9A8A-9F3F-B4146BD40F61}"/>
            </a:ext>
          </a:extLst>
        </p:cNvPr>
        <p:cNvGrpSpPr/>
        <p:nvPr/>
      </p:nvGrpSpPr>
      <p:grpSpPr>
        <a:xfrm>
          <a:off x="0" y="0"/>
          <a:ext cx="0" cy="0"/>
          <a:chOff x="0" y="0"/>
          <a:chExt cx="0" cy="0"/>
        </a:xfrm>
      </p:grpSpPr>
      <p:grpSp>
        <p:nvGrpSpPr>
          <p:cNvPr id="24" name="Group 7">
            <a:extLst>
              <a:ext uri="{FF2B5EF4-FFF2-40B4-BE49-F238E27FC236}">
                <a16:creationId xmlns:a16="http://schemas.microsoft.com/office/drawing/2014/main" id="{5C1D0D86-C5D5-313C-15A6-CEADE89DC529}"/>
              </a:ext>
            </a:extLst>
          </p:cNvPr>
          <p:cNvGrpSpPr/>
          <p:nvPr/>
        </p:nvGrpSpPr>
        <p:grpSpPr>
          <a:xfrm>
            <a:off x="592984" y="2816405"/>
            <a:ext cx="8832368" cy="1016422"/>
            <a:chOff x="0" y="0"/>
            <a:chExt cx="5516210" cy="3527477"/>
          </a:xfrm>
          <a:effectLst>
            <a:glow rad="304800">
              <a:srgbClr val="8E52F5">
                <a:alpha val="35000"/>
              </a:srgbClr>
            </a:glow>
          </a:effectLst>
          <a:scene3d>
            <a:camera prst="obliqueTopRight"/>
            <a:lightRig rig="threePt" dir="t"/>
          </a:scene3d>
        </p:grpSpPr>
        <p:sp>
          <p:nvSpPr>
            <p:cNvPr id="25" name="Freeform 8">
              <a:extLst>
                <a:ext uri="{FF2B5EF4-FFF2-40B4-BE49-F238E27FC236}">
                  <a16:creationId xmlns:a16="http://schemas.microsoft.com/office/drawing/2014/main" id="{25923470-4EC1-0C48-B288-FC33F37A08B6}"/>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TextBox 9">
              <a:extLst>
                <a:ext uri="{FF2B5EF4-FFF2-40B4-BE49-F238E27FC236}">
                  <a16:creationId xmlns:a16="http://schemas.microsoft.com/office/drawing/2014/main" id="{AC73C0A3-060D-CE53-D3DB-97859A7AAD42}"/>
                </a:ext>
              </a:extLst>
            </p:cNvPr>
            <p:cNvSpPr txBox="1"/>
            <p:nvPr/>
          </p:nvSpPr>
          <p:spPr>
            <a:xfrm>
              <a:off x="63500" y="6350"/>
              <a:ext cx="5389210" cy="3457627"/>
            </a:xfrm>
            <a:prstGeom prst="rect">
              <a:avLst/>
            </a:prstGeom>
            <a:sp3d/>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 name="Freeform 3">
            <a:extLst>
              <a:ext uri="{FF2B5EF4-FFF2-40B4-BE49-F238E27FC236}">
                <a16:creationId xmlns:a16="http://schemas.microsoft.com/office/drawing/2014/main" id="{FA38A11A-08E5-1E29-69D6-7A19B4E4FA53}"/>
              </a:ext>
            </a:extLst>
          </p:cNvPr>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5D163CF7-9797-73FF-4928-BA3E791C73DC}"/>
              </a:ext>
            </a:extLst>
          </p:cNvPr>
          <p:cNvSpPr txBox="1"/>
          <p:nvPr/>
        </p:nvSpPr>
        <p:spPr>
          <a:xfrm>
            <a:off x="11135407" y="1482236"/>
            <a:ext cx="6421492" cy="2156360"/>
          </a:xfrm>
          <a:prstGeom prst="rect">
            <a:avLst/>
          </a:prstGeom>
        </p:spPr>
        <p:txBody>
          <a:bodyPr wrap="square" lIns="0" tIns="0" rIns="0" bIns="0" rtlCol="0" anchor="t">
            <a:spAutoFit/>
          </a:bodyPr>
          <a:lstStyle/>
          <a:p>
            <a:pPr marL="0" marR="0" lvl="0" indent="0" algn="r" defTabSz="914400" rtl="0" eaLnBrk="1" fontAlgn="auto" latinLnBrk="0" hangingPunct="1">
              <a:lnSpc>
                <a:spcPts val="4095"/>
              </a:lnSpc>
              <a:spcBef>
                <a:spcPts val="0"/>
              </a:spcBef>
              <a:spcAft>
                <a:spcPts val="0"/>
              </a:spcAft>
              <a:buClrTx/>
              <a:buSzTx/>
              <a:buFontTx/>
              <a:buNone/>
              <a:tabLst/>
              <a:defRPr/>
            </a:pPr>
            <a:r>
              <a:rPr kumimoji="0" lang="en-US" sz="7200" b="0" i="0" u="none" strike="noStrike" kern="1200" cap="none" spc="0" normalizeH="0" baseline="0" noProof="0" dirty="0">
                <a:ln>
                  <a:noFill/>
                </a:ln>
                <a:gradFill>
                  <a:gsLst>
                    <a:gs pos="0">
                      <a:srgbClr val="8064A2">
                        <a:lumMod val="0"/>
                        <a:lumOff val="100000"/>
                      </a:srgbClr>
                    </a:gs>
                    <a:gs pos="35000">
                      <a:srgbClr val="8064A2">
                        <a:lumMod val="0"/>
                        <a:lumOff val="100000"/>
                      </a:srgbClr>
                    </a:gs>
                    <a:gs pos="100000">
                      <a:srgbClr val="8064A2">
                        <a:lumMod val="100000"/>
                      </a:srgbClr>
                    </a:gs>
                  </a:gsLst>
                  <a:path path="circle">
                    <a:fillToRect l="50000" t="-80000" r="50000" b="180000"/>
                  </a:path>
                </a:gradFill>
                <a:effectLst/>
                <a:uLnTx/>
                <a:uFillTx/>
                <a:latin typeface="RQND Pro Wide"/>
                <a:ea typeface="RQND Pro Wide"/>
                <a:cs typeface="RQND Pro Wide"/>
                <a:sym typeface="RQND Pro Wide"/>
              </a:rPr>
              <a:t>What 197 Days Looks Like From the Inside</a:t>
            </a:r>
          </a:p>
        </p:txBody>
      </p:sp>
      <p:sp>
        <p:nvSpPr>
          <p:cNvPr id="20" name="Freeform 20">
            <a:extLst>
              <a:ext uri="{FF2B5EF4-FFF2-40B4-BE49-F238E27FC236}">
                <a16:creationId xmlns:a16="http://schemas.microsoft.com/office/drawing/2014/main" id="{393598BB-E0BA-4B99-BE27-92150C31DEDD}"/>
              </a:ext>
            </a:extLst>
          </p:cNvPr>
          <p:cNvSpPr/>
          <p:nvPr/>
        </p:nvSpPr>
        <p:spPr>
          <a:xfrm>
            <a:off x="1021269" y="1721926"/>
            <a:ext cx="545801"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23" name="Image 0" descr="/home/claude/cygnus_logo.png">
            <a:extLst>
              <a:ext uri="{FF2B5EF4-FFF2-40B4-BE49-F238E27FC236}">
                <a16:creationId xmlns:a16="http://schemas.microsoft.com/office/drawing/2014/main" id="{ABBE8261-0A57-1F8E-56BA-5ABB8A637E04}"/>
              </a:ext>
            </a:extLst>
          </p:cNvPr>
          <p:cNvPicPr>
            <a:picLocks noChangeAspect="1"/>
          </p:cNvPicPr>
          <p:nvPr/>
        </p:nvPicPr>
        <p:blipFill>
          <a:blip r:embed="rId4"/>
          <a:stretch>
            <a:fillRect/>
          </a:stretch>
        </p:blipFill>
        <p:spPr>
          <a:xfrm>
            <a:off x="651199" y="502921"/>
            <a:ext cx="1330002" cy="266000"/>
          </a:xfrm>
          <a:prstGeom prst="rect">
            <a:avLst/>
          </a:prstGeom>
        </p:spPr>
      </p:pic>
      <p:sp>
        <p:nvSpPr>
          <p:cNvPr id="27" name="TextBox 18">
            <a:extLst>
              <a:ext uri="{FF2B5EF4-FFF2-40B4-BE49-F238E27FC236}">
                <a16:creationId xmlns:a16="http://schemas.microsoft.com/office/drawing/2014/main" id="{3CC200B4-4834-6998-AFE0-FD5854828272}"/>
              </a:ext>
            </a:extLst>
          </p:cNvPr>
          <p:cNvSpPr txBox="1"/>
          <p:nvPr/>
        </p:nvSpPr>
        <p:spPr>
          <a:xfrm>
            <a:off x="1857273" y="1793164"/>
            <a:ext cx="6574108" cy="360163"/>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The adversary's timeline. </a:t>
            </a:r>
            <a:r>
              <a:rPr lang="en-US" sz="2400" spc="-120" dirty="0">
                <a:solidFill>
                  <a:srgbClr val="FFFFFF"/>
                </a:solidFill>
                <a:latin typeface="Telegraf"/>
                <a:ea typeface="Telegraf"/>
                <a:cs typeface="Telegraf"/>
                <a:sym typeface="Telegraf"/>
              </a:rPr>
              <a:t>T</a:t>
            </a: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eam's blind spot.</a:t>
            </a:r>
          </a:p>
        </p:txBody>
      </p:sp>
      <p:grpSp>
        <p:nvGrpSpPr>
          <p:cNvPr id="12" name="Group 7">
            <a:extLst>
              <a:ext uri="{FF2B5EF4-FFF2-40B4-BE49-F238E27FC236}">
                <a16:creationId xmlns:a16="http://schemas.microsoft.com/office/drawing/2014/main" id="{3929D647-AC67-E340-2D3B-9E6AA45DA003}"/>
              </a:ext>
            </a:extLst>
          </p:cNvPr>
          <p:cNvGrpSpPr/>
          <p:nvPr/>
        </p:nvGrpSpPr>
        <p:grpSpPr>
          <a:xfrm>
            <a:off x="592984" y="2776763"/>
            <a:ext cx="1328477" cy="1035938"/>
            <a:chOff x="0" y="0"/>
            <a:chExt cx="5516210" cy="3527477"/>
          </a:xfrm>
          <a:gradFill flip="none" rotWithShape="1">
            <a:gsLst>
              <a:gs pos="0">
                <a:schemeClr val="accent4">
                  <a:lumMod val="40000"/>
                  <a:lumOff val="60000"/>
                </a:schemeClr>
              </a:gs>
              <a:gs pos="46000">
                <a:schemeClr val="accent4">
                  <a:lumMod val="95000"/>
                  <a:lumOff val="5000"/>
                </a:schemeClr>
              </a:gs>
              <a:gs pos="100000">
                <a:srgbClr val="5E3587"/>
              </a:gs>
            </a:gsLst>
            <a:path path="circle">
              <a:fillToRect l="50000" t="130000" r="50000" b="-30000"/>
            </a:path>
            <a:tileRect/>
          </a:gradFill>
          <a:effectLst>
            <a:glow rad="1079500">
              <a:srgbClr val="8E52F5">
                <a:alpha val="35000"/>
              </a:srgbClr>
            </a:glow>
          </a:effectLst>
        </p:grpSpPr>
        <p:sp>
          <p:nvSpPr>
            <p:cNvPr id="21" name="Freeform 8">
              <a:extLst>
                <a:ext uri="{FF2B5EF4-FFF2-40B4-BE49-F238E27FC236}">
                  <a16:creationId xmlns:a16="http://schemas.microsoft.com/office/drawing/2014/main" id="{1005CEE8-047F-5596-DA23-07D8D4B03426}"/>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grpFill/>
            <a:ln w="9525" cap="sq">
              <a:solidFill>
                <a:srgbClr val="5E3587"/>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TextBox 9">
              <a:extLst>
                <a:ext uri="{FF2B5EF4-FFF2-40B4-BE49-F238E27FC236}">
                  <a16:creationId xmlns:a16="http://schemas.microsoft.com/office/drawing/2014/main" id="{E53F5091-BD63-9B0E-1CF0-0CD1FDE37FD8}"/>
                </a:ext>
              </a:extLst>
            </p:cNvPr>
            <p:cNvSpPr txBox="1"/>
            <p:nvPr/>
          </p:nvSpPr>
          <p:spPr>
            <a:xfrm>
              <a:off x="63500" y="6350"/>
              <a:ext cx="5389210" cy="3457627"/>
            </a:xfrm>
            <a:prstGeom prst="rect">
              <a:avLst/>
            </a:prstGeom>
            <a:grpFill/>
          </p:spPr>
          <p:txBody>
            <a:bodyPr lIns="50800" tIns="50800" rIns="50800" bIns="50800" rtlCol="0" anchor="ctr"/>
            <a:lstStyle/>
            <a:p>
              <a:pPr lvl="0" algn="ctr">
                <a:lnSpc>
                  <a:spcPts val="1960"/>
                </a:lnSpc>
                <a:defRPr/>
              </a:pPr>
              <a:r>
                <a:rPr kumimoji="0" lang="en-US"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rPr>
                <a:t>DAY 1</a:t>
              </a:r>
              <a:endParaRPr kumimoji="0"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endParaRPr>
            </a:p>
          </p:txBody>
        </p:sp>
      </p:grpSp>
      <p:sp>
        <p:nvSpPr>
          <p:cNvPr id="2" name="TextBox 18">
            <a:extLst>
              <a:ext uri="{FF2B5EF4-FFF2-40B4-BE49-F238E27FC236}">
                <a16:creationId xmlns:a16="http://schemas.microsoft.com/office/drawing/2014/main" id="{831CB94B-EBBD-5F6F-5AA7-6AE597E3E24E}"/>
              </a:ext>
            </a:extLst>
          </p:cNvPr>
          <p:cNvSpPr txBox="1"/>
          <p:nvPr/>
        </p:nvSpPr>
        <p:spPr>
          <a:xfrm>
            <a:off x="2023135" y="3166929"/>
            <a:ext cx="7904044" cy="360163"/>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Initial access via spear-phishing. Finance team. One click</a:t>
            </a:r>
          </a:p>
        </p:txBody>
      </p:sp>
      <p:grpSp>
        <p:nvGrpSpPr>
          <p:cNvPr id="8" name="Group 7">
            <a:extLst>
              <a:ext uri="{FF2B5EF4-FFF2-40B4-BE49-F238E27FC236}">
                <a16:creationId xmlns:a16="http://schemas.microsoft.com/office/drawing/2014/main" id="{296A0063-84E6-D08C-7615-8E447D344E82}"/>
              </a:ext>
            </a:extLst>
          </p:cNvPr>
          <p:cNvGrpSpPr/>
          <p:nvPr/>
        </p:nvGrpSpPr>
        <p:grpSpPr>
          <a:xfrm>
            <a:off x="592984" y="4344437"/>
            <a:ext cx="8832368" cy="1016422"/>
            <a:chOff x="0" y="0"/>
            <a:chExt cx="5516210" cy="3527477"/>
          </a:xfrm>
          <a:effectLst>
            <a:glow rad="304800">
              <a:srgbClr val="8E52F5">
                <a:alpha val="35000"/>
              </a:srgbClr>
            </a:glow>
          </a:effectLst>
          <a:scene3d>
            <a:camera prst="obliqueTopRight"/>
            <a:lightRig rig="threePt" dir="t"/>
          </a:scene3d>
        </p:grpSpPr>
        <p:sp>
          <p:nvSpPr>
            <p:cNvPr id="17" name="Freeform 8">
              <a:extLst>
                <a:ext uri="{FF2B5EF4-FFF2-40B4-BE49-F238E27FC236}">
                  <a16:creationId xmlns:a16="http://schemas.microsoft.com/office/drawing/2014/main" id="{C7FF21E5-9C50-C6B7-9977-5CED12B58A1E}"/>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TextBox 9">
              <a:extLst>
                <a:ext uri="{FF2B5EF4-FFF2-40B4-BE49-F238E27FC236}">
                  <a16:creationId xmlns:a16="http://schemas.microsoft.com/office/drawing/2014/main" id="{19305116-8032-FBA6-BC21-F7D9BBFB8DAA}"/>
                </a:ext>
              </a:extLst>
            </p:cNvPr>
            <p:cNvSpPr txBox="1"/>
            <p:nvPr/>
          </p:nvSpPr>
          <p:spPr>
            <a:xfrm>
              <a:off x="63500" y="6350"/>
              <a:ext cx="5389210" cy="3457627"/>
            </a:xfrm>
            <a:prstGeom prst="rect">
              <a:avLst/>
            </a:prstGeom>
            <a:sp3d/>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7">
            <a:extLst>
              <a:ext uri="{FF2B5EF4-FFF2-40B4-BE49-F238E27FC236}">
                <a16:creationId xmlns:a16="http://schemas.microsoft.com/office/drawing/2014/main" id="{9B4BC6BD-0F07-84A2-808B-5E4AF25FED3A}"/>
              </a:ext>
            </a:extLst>
          </p:cNvPr>
          <p:cNvGrpSpPr/>
          <p:nvPr/>
        </p:nvGrpSpPr>
        <p:grpSpPr>
          <a:xfrm>
            <a:off x="592984" y="4304795"/>
            <a:ext cx="1328477" cy="1035938"/>
            <a:chOff x="0" y="0"/>
            <a:chExt cx="5516210" cy="3527477"/>
          </a:xfrm>
          <a:gradFill flip="none" rotWithShape="1">
            <a:gsLst>
              <a:gs pos="0">
                <a:schemeClr val="accent4">
                  <a:lumMod val="40000"/>
                  <a:lumOff val="60000"/>
                </a:schemeClr>
              </a:gs>
              <a:gs pos="46000">
                <a:schemeClr val="accent4">
                  <a:lumMod val="95000"/>
                  <a:lumOff val="5000"/>
                </a:schemeClr>
              </a:gs>
              <a:gs pos="100000">
                <a:srgbClr val="5E3587"/>
              </a:gs>
            </a:gsLst>
            <a:path path="circle">
              <a:fillToRect l="50000" t="130000" r="50000" b="-30000"/>
            </a:path>
            <a:tileRect/>
          </a:gradFill>
          <a:effectLst>
            <a:glow rad="1079500">
              <a:srgbClr val="8E52F5">
                <a:alpha val="35000"/>
              </a:srgbClr>
            </a:glow>
          </a:effectLst>
        </p:grpSpPr>
        <p:sp>
          <p:nvSpPr>
            <p:cNvPr id="32" name="Freeform 8">
              <a:extLst>
                <a:ext uri="{FF2B5EF4-FFF2-40B4-BE49-F238E27FC236}">
                  <a16:creationId xmlns:a16="http://schemas.microsoft.com/office/drawing/2014/main" id="{A6E38489-72BD-F4A6-8712-A6C3866793D2}"/>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grpFill/>
            <a:ln w="9525" cap="sq">
              <a:solidFill>
                <a:srgbClr val="5E3587"/>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TextBox 9">
              <a:extLst>
                <a:ext uri="{FF2B5EF4-FFF2-40B4-BE49-F238E27FC236}">
                  <a16:creationId xmlns:a16="http://schemas.microsoft.com/office/drawing/2014/main" id="{4385F9DF-CFB9-7413-3E1D-A05F01A1BB1F}"/>
                </a:ext>
              </a:extLst>
            </p:cNvPr>
            <p:cNvSpPr txBox="1"/>
            <p:nvPr/>
          </p:nvSpPr>
          <p:spPr>
            <a:xfrm>
              <a:off x="63500" y="6350"/>
              <a:ext cx="5389210" cy="3457627"/>
            </a:xfrm>
            <a:prstGeom prst="rect">
              <a:avLst/>
            </a:prstGeom>
            <a:grpFill/>
          </p:spPr>
          <p:txBody>
            <a:bodyPr lIns="50800" tIns="50800" rIns="50800" bIns="50800" rtlCol="0" anchor="ctr"/>
            <a:lstStyle/>
            <a:p>
              <a:pPr lvl="0" algn="ctr">
                <a:lnSpc>
                  <a:spcPts val="1960"/>
                </a:lnSpc>
                <a:defRPr/>
              </a:pPr>
              <a:r>
                <a:rPr kumimoji="0" lang="en-US"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rPr>
                <a:t>DAY 3</a:t>
              </a:r>
              <a:endParaRPr kumimoji="0"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endParaRPr>
            </a:p>
          </p:txBody>
        </p:sp>
      </p:grpSp>
      <p:sp>
        <p:nvSpPr>
          <p:cNvPr id="34" name="TextBox 18">
            <a:extLst>
              <a:ext uri="{FF2B5EF4-FFF2-40B4-BE49-F238E27FC236}">
                <a16:creationId xmlns:a16="http://schemas.microsoft.com/office/drawing/2014/main" id="{35ACE879-6542-D4F6-D7F7-9895F41FB5B6}"/>
              </a:ext>
            </a:extLst>
          </p:cNvPr>
          <p:cNvSpPr txBox="1"/>
          <p:nvPr/>
        </p:nvSpPr>
        <p:spPr>
          <a:xfrm>
            <a:off x="2009114" y="4515880"/>
            <a:ext cx="7314564" cy="732060"/>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Persistence established. Scheduled task. Registry key. You see nothing</a:t>
            </a:r>
          </a:p>
        </p:txBody>
      </p:sp>
      <p:grpSp>
        <p:nvGrpSpPr>
          <p:cNvPr id="35" name="Group 7">
            <a:extLst>
              <a:ext uri="{FF2B5EF4-FFF2-40B4-BE49-F238E27FC236}">
                <a16:creationId xmlns:a16="http://schemas.microsoft.com/office/drawing/2014/main" id="{8295B60A-F736-9D46-B5F6-CEB75432FB40}"/>
              </a:ext>
            </a:extLst>
          </p:cNvPr>
          <p:cNvGrpSpPr/>
          <p:nvPr/>
        </p:nvGrpSpPr>
        <p:grpSpPr>
          <a:xfrm>
            <a:off x="691345" y="5914459"/>
            <a:ext cx="8832368" cy="1016422"/>
            <a:chOff x="0" y="0"/>
            <a:chExt cx="5516210" cy="3527477"/>
          </a:xfrm>
          <a:effectLst>
            <a:glow rad="304800">
              <a:srgbClr val="8E52F5">
                <a:alpha val="35000"/>
              </a:srgbClr>
            </a:glow>
          </a:effectLst>
          <a:scene3d>
            <a:camera prst="obliqueTopRight"/>
            <a:lightRig rig="threePt" dir="t"/>
          </a:scene3d>
        </p:grpSpPr>
        <p:sp>
          <p:nvSpPr>
            <p:cNvPr id="36" name="Freeform 8">
              <a:extLst>
                <a:ext uri="{FF2B5EF4-FFF2-40B4-BE49-F238E27FC236}">
                  <a16:creationId xmlns:a16="http://schemas.microsoft.com/office/drawing/2014/main" id="{42D3F3A1-9749-1E49-3800-D259265C8753}"/>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TextBox 9">
              <a:extLst>
                <a:ext uri="{FF2B5EF4-FFF2-40B4-BE49-F238E27FC236}">
                  <a16:creationId xmlns:a16="http://schemas.microsoft.com/office/drawing/2014/main" id="{244B0604-8BE4-C223-C847-CE67ED65FB9A}"/>
                </a:ext>
              </a:extLst>
            </p:cNvPr>
            <p:cNvSpPr txBox="1"/>
            <p:nvPr/>
          </p:nvSpPr>
          <p:spPr>
            <a:xfrm>
              <a:off x="63500" y="6350"/>
              <a:ext cx="5389210" cy="3457627"/>
            </a:xfrm>
            <a:prstGeom prst="rect">
              <a:avLst/>
            </a:prstGeom>
            <a:sp3d/>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7">
            <a:extLst>
              <a:ext uri="{FF2B5EF4-FFF2-40B4-BE49-F238E27FC236}">
                <a16:creationId xmlns:a16="http://schemas.microsoft.com/office/drawing/2014/main" id="{55A96FCD-43A0-C9ED-184C-396392355956}"/>
              </a:ext>
            </a:extLst>
          </p:cNvPr>
          <p:cNvGrpSpPr/>
          <p:nvPr/>
        </p:nvGrpSpPr>
        <p:grpSpPr>
          <a:xfrm>
            <a:off x="691345" y="5874817"/>
            <a:ext cx="1328477" cy="1035938"/>
            <a:chOff x="0" y="0"/>
            <a:chExt cx="5516210" cy="3527477"/>
          </a:xfrm>
          <a:gradFill flip="none" rotWithShape="1">
            <a:gsLst>
              <a:gs pos="0">
                <a:schemeClr val="accent4">
                  <a:lumMod val="40000"/>
                  <a:lumOff val="60000"/>
                </a:schemeClr>
              </a:gs>
              <a:gs pos="46000">
                <a:schemeClr val="accent4">
                  <a:lumMod val="95000"/>
                  <a:lumOff val="5000"/>
                </a:schemeClr>
              </a:gs>
              <a:gs pos="100000">
                <a:srgbClr val="5E3587"/>
              </a:gs>
            </a:gsLst>
            <a:path path="circle">
              <a:fillToRect l="50000" t="130000" r="50000" b="-30000"/>
            </a:path>
            <a:tileRect/>
          </a:gradFill>
          <a:effectLst>
            <a:glow rad="1079500">
              <a:srgbClr val="8E52F5">
                <a:alpha val="35000"/>
              </a:srgbClr>
            </a:glow>
          </a:effectLst>
        </p:grpSpPr>
        <p:sp>
          <p:nvSpPr>
            <p:cNvPr id="39" name="Freeform 8">
              <a:extLst>
                <a:ext uri="{FF2B5EF4-FFF2-40B4-BE49-F238E27FC236}">
                  <a16:creationId xmlns:a16="http://schemas.microsoft.com/office/drawing/2014/main" id="{3C26D22E-DA06-0451-4196-8CFF8B8F3B32}"/>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grpFill/>
            <a:ln w="9525" cap="sq">
              <a:solidFill>
                <a:srgbClr val="5E3587"/>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TextBox 9">
              <a:extLst>
                <a:ext uri="{FF2B5EF4-FFF2-40B4-BE49-F238E27FC236}">
                  <a16:creationId xmlns:a16="http://schemas.microsoft.com/office/drawing/2014/main" id="{1DA973C4-F8BC-A579-92FB-6CA591B915C5}"/>
                </a:ext>
              </a:extLst>
            </p:cNvPr>
            <p:cNvSpPr txBox="1"/>
            <p:nvPr/>
          </p:nvSpPr>
          <p:spPr>
            <a:xfrm>
              <a:off x="63500" y="6350"/>
              <a:ext cx="5389210" cy="3457627"/>
            </a:xfrm>
            <a:prstGeom prst="rect">
              <a:avLst/>
            </a:prstGeom>
            <a:grpFill/>
          </p:spPr>
          <p:txBody>
            <a:bodyPr lIns="50800" tIns="50800" rIns="50800" bIns="50800" rtlCol="0" anchor="ctr"/>
            <a:lstStyle/>
            <a:p>
              <a:pPr lvl="0" algn="ctr">
                <a:lnSpc>
                  <a:spcPts val="1960"/>
                </a:lnSpc>
                <a:defRPr/>
              </a:pPr>
              <a:r>
                <a:rPr kumimoji="0" lang="en-US"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rPr>
                <a:t>DAY 11</a:t>
              </a:r>
              <a:endParaRPr kumimoji="0"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endParaRPr>
            </a:p>
          </p:txBody>
        </p:sp>
      </p:grpSp>
      <p:sp>
        <p:nvSpPr>
          <p:cNvPr id="41" name="TextBox 18">
            <a:extLst>
              <a:ext uri="{FF2B5EF4-FFF2-40B4-BE49-F238E27FC236}">
                <a16:creationId xmlns:a16="http://schemas.microsoft.com/office/drawing/2014/main" id="{809D0920-3760-C35D-EDCD-DE00AE4EFB08}"/>
              </a:ext>
            </a:extLst>
          </p:cNvPr>
          <p:cNvSpPr txBox="1"/>
          <p:nvPr/>
        </p:nvSpPr>
        <p:spPr>
          <a:xfrm>
            <a:off x="2162051" y="6051986"/>
            <a:ext cx="7219433" cy="732060"/>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Credential dumping. LSASS. Domain credentials harvested.</a:t>
            </a:r>
          </a:p>
        </p:txBody>
      </p:sp>
      <p:grpSp>
        <p:nvGrpSpPr>
          <p:cNvPr id="42" name="Group 7">
            <a:extLst>
              <a:ext uri="{FF2B5EF4-FFF2-40B4-BE49-F238E27FC236}">
                <a16:creationId xmlns:a16="http://schemas.microsoft.com/office/drawing/2014/main" id="{B58BC783-3FB7-99F5-1F13-C85E8D2A926E}"/>
              </a:ext>
            </a:extLst>
          </p:cNvPr>
          <p:cNvGrpSpPr/>
          <p:nvPr/>
        </p:nvGrpSpPr>
        <p:grpSpPr>
          <a:xfrm>
            <a:off x="728143" y="7422365"/>
            <a:ext cx="8832368" cy="1016422"/>
            <a:chOff x="0" y="0"/>
            <a:chExt cx="5516210" cy="3527477"/>
          </a:xfrm>
          <a:effectLst>
            <a:glow rad="304800">
              <a:srgbClr val="8E52F5">
                <a:alpha val="35000"/>
              </a:srgbClr>
            </a:glow>
          </a:effectLst>
          <a:scene3d>
            <a:camera prst="obliqueTopRight"/>
            <a:lightRig rig="threePt" dir="t"/>
          </a:scene3d>
        </p:grpSpPr>
        <p:sp>
          <p:nvSpPr>
            <p:cNvPr id="43" name="Freeform 8">
              <a:extLst>
                <a:ext uri="{FF2B5EF4-FFF2-40B4-BE49-F238E27FC236}">
                  <a16:creationId xmlns:a16="http://schemas.microsoft.com/office/drawing/2014/main" id="{51BF635F-3789-2FD1-2679-6DEC439B3843}"/>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4" name="TextBox 9">
              <a:extLst>
                <a:ext uri="{FF2B5EF4-FFF2-40B4-BE49-F238E27FC236}">
                  <a16:creationId xmlns:a16="http://schemas.microsoft.com/office/drawing/2014/main" id="{5C0723A7-AA80-20B4-5661-957C641292D7}"/>
                </a:ext>
              </a:extLst>
            </p:cNvPr>
            <p:cNvSpPr txBox="1"/>
            <p:nvPr/>
          </p:nvSpPr>
          <p:spPr>
            <a:xfrm>
              <a:off x="63500" y="6350"/>
              <a:ext cx="5389210" cy="3457627"/>
            </a:xfrm>
            <a:prstGeom prst="rect">
              <a:avLst/>
            </a:prstGeom>
            <a:sp3d/>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7">
            <a:extLst>
              <a:ext uri="{FF2B5EF4-FFF2-40B4-BE49-F238E27FC236}">
                <a16:creationId xmlns:a16="http://schemas.microsoft.com/office/drawing/2014/main" id="{0207DECD-6357-FBB3-A0D5-D80E41C98A19}"/>
              </a:ext>
            </a:extLst>
          </p:cNvPr>
          <p:cNvGrpSpPr/>
          <p:nvPr/>
        </p:nvGrpSpPr>
        <p:grpSpPr>
          <a:xfrm>
            <a:off x="728143" y="7382723"/>
            <a:ext cx="1328477" cy="1035938"/>
            <a:chOff x="0" y="0"/>
            <a:chExt cx="5516210" cy="3527477"/>
          </a:xfrm>
          <a:gradFill flip="none" rotWithShape="1">
            <a:gsLst>
              <a:gs pos="0">
                <a:schemeClr val="accent4">
                  <a:lumMod val="40000"/>
                  <a:lumOff val="60000"/>
                </a:schemeClr>
              </a:gs>
              <a:gs pos="46000">
                <a:schemeClr val="accent4">
                  <a:lumMod val="95000"/>
                  <a:lumOff val="5000"/>
                </a:schemeClr>
              </a:gs>
              <a:gs pos="100000">
                <a:srgbClr val="5E3587"/>
              </a:gs>
            </a:gsLst>
            <a:path path="circle">
              <a:fillToRect l="50000" t="130000" r="50000" b="-30000"/>
            </a:path>
            <a:tileRect/>
          </a:gradFill>
          <a:effectLst>
            <a:glow rad="1079500">
              <a:srgbClr val="8E52F5">
                <a:alpha val="35000"/>
              </a:srgbClr>
            </a:glow>
          </a:effectLst>
        </p:grpSpPr>
        <p:sp>
          <p:nvSpPr>
            <p:cNvPr id="46" name="Freeform 8">
              <a:extLst>
                <a:ext uri="{FF2B5EF4-FFF2-40B4-BE49-F238E27FC236}">
                  <a16:creationId xmlns:a16="http://schemas.microsoft.com/office/drawing/2014/main" id="{658D4D59-7C91-2CB6-42D4-CA79A194692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grpFill/>
            <a:ln w="9525" cap="sq">
              <a:solidFill>
                <a:srgbClr val="5E3587"/>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7" name="TextBox 9">
              <a:extLst>
                <a:ext uri="{FF2B5EF4-FFF2-40B4-BE49-F238E27FC236}">
                  <a16:creationId xmlns:a16="http://schemas.microsoft.com/office/drawing/2014/main" id="{871D878E-C6A3-5D9A-AB00-00B19E43BD31}"/>
                </a:ext>
              </a:extLst>
            </p:cNvPr>
            <p:cNvSpPr txBox="1"/>
            <p:nvPr/>
          </p:nvSpPr>
          <p:spPr>
            <a:xfrm>
              <a:off x="63500" y="6350"/>
              <a:ext cx="5389210" cy="3457627"/>
            </a:xfrm>
            <a:prstGeom prst="rect">
              <a:avLst/>
            </a:prstGeom>
            <a:grpFill/>
          </p:spPr>
          <p:txBody>
            <a:bodyPr lIns="50800" tIns="50800" rIns="50800" bIns="50800" rtlCol="0" anchor="ctr"/>
            <a:lstStyle/>
            <a:p>
              <a:pPr lvl="0" algn="ctr">
                <a:lnSpc>
                  <a:spcPts val="1960"/>
                </a:lnSpc>
                <a:defRPr/>
              </a:pPr>
              <a:r>
                <a:rPr kumimoji="0" lang="en-US"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rPr>
                <a:t>DAY 23</a:t>
              </a:r>
              <a:endParaRPr kumimoji="0"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endParaRPr>
            </a:p>
          </p:txBody>
        </p:sp>
      </p:grpSp>
      <p:sp>
        <p:nvSpPr>
          <p:cNvPr id="48" name="TextBox 18">
            <a:extLst>
              <a:ext uri="{FF2B5EF4-FFF2-40B4-BE49-F238E27FC236}">
                <a16:creationId xmlns:a16="http://schemas.microsoft.com/office/drawing/2014/main" id="{BD049CF1-F0E1-F1E3-9196-DF2BD4294F69}"/>
              </a:ext>
            </a:extLst>
          </p:cNvPr>
          <p:cNvSpPr txBox="1"/>
          <p:nvPr/>
        </p:nvSpPr>
        <p:spPr>
          <a:xfrm>
            <a:off x="2248133" y="7564546"/>
            <a:ext cx="7019191" cy="732060"/>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Lateral movement begins. IT admin workstation. Full domain control imminent.</a:t>
            </a:r>
          </a:p>
        </p:txBody>
      </p:sp>
      <p:grpSp>
        <p:nvGrpSpPr>
          <p:cNvPr id="63" name="Group 7">
            <a:extLst>
              <a:ext uri="{FF2B5EF4-FFF2-40B4-BE49-F238E27FC236}">
                <a16:creationId xmlns:a16="http://schemas.microsoft.com/office/drawing/2014/main" id="{402723B7-C717-2548-B1DD-99328C5ECB20}"/>
              </a:ext>
            </a:extLst>
          </p:cNvPr>
          <p:cNvGrpSpPr/>
          <p:nvPr/>
        </p:nvGrpSpPr>
        <p:grpSpPr>
          <a:xfrm>
            <a:off x="695202" y="8891497"/>
            <a:ext cx="8832368" cy="1016422"/>
            <a:chOff x="0" y="0"/>
            <a:chExt cx="5516210" cy="3527477"/>
          </a:xfrm>
          <a:effectLst>
            <a:glow rad="304800">
              <a:srgbClr val="8E52F5">
                <a:alpha val="35000"/>
              </a:srgbClr>
            </a:glow>
          </a:effectLst>
          <a:scene3d>
            <a:camera prst="obliqueTopRight"/>
            <a:lightRig rig="threePt" dir="t"/>
          </a:scene3d>
        </p:grpSpPr>
        <p:sp>
          <p:nvSpPr>
            <p:cNvPr id="64" name="Freeform 8">
              <a:extLst>
                <a:ext uri="{FF2B5EF4-FFF2-40B4-BE49-F238E27FC236}">
                  <a16:creationId xmlns:a16="http://schemas.microsoft.com/office/drawing/2014/main" id="{8E53B2FE-B04E-3AD5-313B-24211F3214E7}"/>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5" name="TextBox 9">
              <a:extLst>
                <a:ext uri="{FF2B5EF4-FFF2-40B4-BE49-F238E27FC236}">
                  <a16:creationId xmlns:a16="http://schemas.microsoft.com/office/drawing/2014/main" id="{10C04D8C-6FD9-BF75-546C-48B337593727}"/>
                </a:ext>
              </a:extLst>
            </p:cNvPr>
            <p:cNvSpPr txBox="1"/>
            <p:nvPr/>
          </p:nvSpPr>
          <p:spPr>
            <a:xfrm>
              <a:off x="63500" y="6350"/>
              <a:ext cx="5389210" cy="3457627"/>
            </a:xfrm>
            <a:prstGeom prst="rect">
              <a:avLst/>
            </a:prstGeom>
            <a:sp3d/>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6" name="Group 7">
            <a:extLst>
              <a:ext uri="{FF2B5EF4-FFF2-40B4-BE49-F238E27FC236}">
                <a16:creationId xmlns:a16="http://schemas.microsoft.com/office/drawing/2014/main" id="{1CF814DC-565C-4B58-86B2-C4A8BAB9A395}"/>
              </a:ext>
            </a:extLst>
          </p:cNvPr>
          <p:cNvGrpSpPr/>
          <p:nvPr/>
        </p:nvGrpSpPr>
        <p:grpSpPr>
          <a:xfrm>
            <a:off x="695202" y="8851855"/>
            <a:ext cx="1328477" cy="1035938"/>
            <a:chOff x="0" y="0"/>
            <a:chExt cx="5516210" cy="3527477"/>
          </a:xfrm>
          <a:gradFill flip="none" rotWithShape="1">
            <a:gsLst>
              <a:gs pos="0">
                <a:schemeClr val="accent4">
                  <a:lumMod val="40000"/>
                  <a:lumOff val="60000"/>
                </a:schemeClr>
              </a:gs>
              <a:gs pos="46000">
                <a:schemeClr val="accent4">
                  <a:lumMod val="95000"/>
                  <a:lumOff val="5000"/>
                </a:schemeClr>
              </a:gs>
              <a:gs pos="100000">
                <a:srgbClr val="5E3587"/>
              </a:gs>
            </a:gsLst>
            <a:path path="circle">
              <a:fillToRect l="50000" t="130000" r="50000" b="-30000"/>
            </a:path>
            <a:tileRect/>
          </a:gradFill>
          <a:effectLst>
            <a:glow rad="1079500">
              <a:srgbClr val="8E52F5">
                <a:alpha val="35000"/>
              </a:srgbClr>
            </a:glow>
          </a:effectLst>
        </p:grpSpPr>
        <p:sp>
          <p:nvSpPr>
            <p:cNvPr id="67" name="Freeform 8">
              <a:extLst>
                <a:ext uri="{FF2B5EF4-FFF2-40B4-BE49-F238E27FC236}">
                  <a16:creationId xmlns:a16="http://schemas.microsoft.com/office/drawing/2014/main" id="{7FE14401-6E20-A1C4-FF55-7BFEBC194409}"/>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grpFill/>
            <a:ln w="9525" cap="sq">
              <a:solidFill>
                <a:srgbClr val="5E3587"/>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8" name="TextBox 9">
              <a:extLst>
                <a:ext uri="{FF2B5EF4-FFF2-40B4-BE49-F238E27FC236}">
                  <a16:creationId xmlns:a16="http://schemas.microsoft.com/office/drawing/2014/main" id="{286DC025-C5EC-E750-3507-710A6FF78B00}"/>
                </a:ext>
              </a:extLst>
            </p:cNvPr>
            <p:cNvSpPr txBox="1"/>
            <p:nvPr/>
          </p:nvSpPr>
          <p:spPr>
            <a:xfrm>
              <a:off x="63500" y="6350"/>
              <a:ext cx="5389210" cy="3457627"/>
            </a:xfrm>
            <a:prstGeom prst="rect">
              <a:avLst/>
            </a:prstGeom>
            <a:grpFill/>
          </p:spPr>
          <p:txBody>
            <a:bodyPr lIns="50800" tIns="50800" rIns="50800" bIns="50800" rtlCol="0" anchor="ctr"/>
            <a:lstStyle/>
            <a:p>
              <a:pPr lvl="0" algn="ctr">
                <a:lnSpc>
                  <a:spcPts val="1960"/>
                </a:lnSpc>
                <a:defRPr/>
              </a:pPr>
              <a:r>
                <a:rPr kumimoji="0" lang="en-US"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rPr>
                <a:t>DAY 47</a:t>
              </a:r>
              <a:endParaRPr kumimoji="0"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endParaRPr>
            </a:p>
          </p:txBody>
        </p:sp>
      </p:grpSp>
      <p:sp>
        <p:nvSpPr>
          <p:cNvPr id="69" name="TextBox 18">
            <a:extLst>
              <a:ext uri="{FF2B5EF4-FFF2-40B4-BE49-F238E27FC236}">
                <a16:creationId xmlns:a16="http://schemas.microsoft.com/office/drawing/2014/main" id="{26E6EA0E-B15D-758C-C39B-1E2491444BEF}"/>
              </a:ext>
            </a:extLst>
          </p:cNvPr>
          <p:cNvSpPr txBox="1"/>
          <p:nvPr/>
        </p:nvSpPr>
        <p:spPr>
          <a:xfrm>
            <a:off x="2215192" y="9033678"/>
            <a:ext cx="7019191" cy="732060"/>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Data staged. 4TB. Compressed. Encrypted. Waiting for exfil window.</a:t>
            </a:r>
          </a:p>
        </p:txBody>
      </p:sp>
      <p:grpSp>
        <p:nvGrpSpPr>
          <p:cNvPr id="70" name="Group 7">
            <a:extLst>
              <a:ext uri="{FF2B5EF4-FFF2-40B4-BE49-F238E27FC236}">
                <a16:creationId xmlns:a16="http://schemas.microsoft.com/office/drawing/2014/main" id="{A75EB3F4-C15B-ADC2-5F82-66CB6FC43D82}"/>
              </a:ext>
            </a:extLst>
          </p:cNvPr>
          <p:cNvGrpSpPr/>
          <p:nvPr/>
        </p:nvGrpSpPr>
        <p:grpSpPr>
          <a:xfrm>
            <a:off x="11741086" y="4391042"/>
            <a:ext cx="5518214" cy="1448698"/>
            <a:chOff x="0" y="0"/>
            <a:chExt cx="5516210" cy="3527477"/>
          </a:xfrm>
          <a:effectLst>
            <a:glow rad="304800">
              <a:srgbClr val="8E52F5">
                <a:alpha val="35000"/>
              </a:srgbClr>
            </a:glow>
          </a:effectLst>
          <a:scene3d>
            <a:camera prst="obliqueTopRight"/>
            <a:lightRig rig="threePt" dir="t"/>
          </a:scene3d>
        </p:grpSpPr>
        <p:sp>
          <p:nvSpPr>
            <p:cNvPr id="71" name="Freeform 8">
              <a:extLst>
                <a:ext uri="{FF2B5EF4-FFF2-40B4-BE49-F238E27FC236}">
                  <a16:creationId xmlns:a16="http://schemas.microsoft.com/office/drawing/2014/main" id="{2EA729F5-82F2-ABFA-1F28-78FE3371E472}"/>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2" name="TextBox 9">
              <a:extLst>
                <a:ext uri="{FF2B5EF4-FFF2-40B4-BE49-F238E27FC236}">
                  <a16:creationId xmlns:a16="http://schemas.microsoft.com/office/drawing/2014/main" id="{41D4AA1D-B828-D57B-1C8F-3C119666A309}"/>
                </a:ext>
              </a:extLst>
            </p:cNvPr>
            <p:cNvSpPr txBox="1"/>
            <p:nvPr/>
          </p:nvSpPr>
          <p:spPr>
            <a:xfrm>
              <a:off x="63500" y="6350"/>
              <a:ext cx="5389210" cy="3457627"/>
            </a:xfrm>
            <a:prstGeom prst="rect">
              <a:avLst/>
            </a:prstGeom>
            <a:sp3d/>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3" name="Group 7">
            <a:extLst>
              <a:ext uri="{FF2B5EF4-FFF2-40B4-BE49-F238E27FC236}">
                <a16:creationId xmlns:a16="http://schemas.microsoft.com/office/drawing/2014/main" id="{F562A70D-6FB6-AFE9-1EAB-70471C89B50F}"/>
              </a:ext>
            </a:extLst>
          </p:cNvPr>
          <p:cNvGrpSpPr/>
          <p:nvPr/>
        </p:nvGrpSpPr>
        <p:grpSpPr>
          <a:xfrm>
            <a:off x="11741086" y="4386198"/>
            <a:ext cx="829995" cy="1476514"/>
            <a:chOff x="0" y="0"/>
            <a:chExt cx="5516210" cy="3527477"/>
          </a:xfrm>
          <a:gradFill flip="none" rotWithShape="1">
            <a:gsLst>
              <a:gs pos="0">
                <a:schemeClr val="accent4">
                  <a:lumMod val="40000"/>
                  <a:lumOff val="60000"/>
                </a:schemeClr>
              </a:gs>
              <a:gs pos="46000">
                <a:schemeClr val="accent4">
                  <a:lumMod val="95000"/>
                  <a:lumOff val="5000"/>
                </a:schemeClr>
              </a:gs>
              <a:gs pos="100000">
                <a:srgbClr val="5E3587"/>
              </a:gs>
            </a:gsLst>
            <a:path path="circle">
              <a:fillToRect l="50000" t="130000" r="50000" b="-30000"/>
            </a:path>
            <a:tileRect/>
          </a:gradFill>
          <a:effectLst>
            <a:glow rad="1079500">
              <a:srgbClr val="8E52F5">
                <a:alpha val="35000"/>
              </a:srgbClr>
            </a:glow>
          </a:effectLst>
        </p:grpSpPr>
        <p:sp>
          <p:nvSpPr>
            <p:cNvPr id="74" name="Freeform 8">
              <a:extLst>
                <a:ext uri="{FF2B5EF4-FFF2-40B4-BE49-F238E27FC236}">
                  <a16:creationId xmlns:a16="http://schemas.microsoft.com/office/drawing/2014/main" id="{AC1B21D2-18FA-BFC5-98A9-C2680B171B2B}"/>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grpFill/>
            <a:ln w="9525" cap="sq">
              <a:solidFill>
                <a:srgbClr val="5E3587"/>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5" name="TextBox 9">
              <a:extLst>
                <a:ext uri="{FF2B5EF4-FFF2-40B4-BE49-F238E27FC236}">
                  <a16:creationId xmlns:a16="http://schemas.microsoft.com/office/drawing/2014/main" id="{AD2F1541-DE0C-94D3-F378-14B1DCA2B1BC}"/>
                </a:ext>
              </a:extLst>
            </p:cNvPr>
            <p:cNvSpPr txBox="1"/>
            <p:nvPr/>
          </p:nvSpPr>
          <p:spPr>
            <a:xfrm>
              <a:off x="63500" y="6350"/>
              <a:ext cx="5389210" cy="3457627"/>
            </a:xfrm>
            <a:prstGeom prst="rect">
              <a:avLst/>
            </a:prstGeom>
            <a:grpFill/>
          </p:spPr>
          <p:txBody>
            <a:bodyPr lIns="50800" tIns="50800" rIns="50800" bIns="50800" rtlCol="0" anchor="ctr"/>
            <a:lstStyle/>
            <a:p>
              <a:pPr lvl="0" algn="ctr">
                <a:lnSpc>
                  <a:spcPts val="1960"/>
                </a:lnSpc>
                <a:defRPr/>
              </a:pPr>
              <a:r>
                <a:rPr kumimoji="0" lang="en-US"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rPr>
                <a:t>DAY </a:t>
              </a:r>
              <a:r>
                <a:rPr lang="en-US" sz="2800" b="1" i="1" dirty="0">
                  <a:gradFill flip="none" rotWithShape="1">
                    <a:gsLst>
                      <a:gs pos="0">
                        <a:schemeClr val="bg1"/>
                      </a:gs>
                      <a:gs pos="38000">
                        <a:schemeClr val="bg1"/>
                      </a:gs>
                      <a:gs pos="90000">
                        <a:schemeClr val="bg1"/>
                      </a:gs>
                    </a:gsLst>
                    <a:path path="circle">
                      <a:fillToRect l="50000" t="130000" r="50000" b="-30000"/>
                    </a:path>
                    <a:tileRect/>
                  </a:gradFill>
                  <a:latin typeface="Calibri"/>
                </a:rPr>
                <a:t>197</a:t>
              </a:r>
              <a:endParaRPr kumimoji="0" sz="2800" b="1" i="1" u="none" strike="noStrike" kern="1200" cap="none" spc="0" normalizeH="0" baseline="0" noProof="0" dirty="0">
                <a:ln>
                  <a:noFill/>
                </a:ln>
                <a:gradFill flip="none" rotWithShape="1">
                  <a:gsLst>
                    <a:gs pos="0">
                      <a:schemeClr val="bg1"/>
                    </a:gs>
                    <a:gs pos="38000">
                      <a:schemeClr val="bg1"/>
                    </a:gs>
                    <a:gs pos="90000">
                      <a:schemeClr val="bg1"/>
                    </a:gs>
                  </a:gsLst>
                  <a:path path="circle">
                    <a:fillToRect l="50000" t="130000" r="50000" b="-30000"/>
                  </a:path>
                  <a:tileRect/>
                </a:gradFill>
                <a:effectLst/>
                <a:uLnTx/>
                <a:uFillTx/>
                <a:latin typeface="Calibri"/>
                <a:ea typeface="+mn-ea"/>
                <a:cs typeface="+mn-cs"/>
              </a:endParaRPr>
            </a:p>
          </p:txBody>
        </p:sp>
      </p:grpSp>
      <p:sp>
        <p:nvSpPr>
          <p:cNvPr id="76" name="TextBox 18">
            <a:extLst>
              <a:ext uri="{FF2B5EF4-FFF2-40B4-BE49-F238E27FC236}">
                <a16:creationId xmlns:a16="http://schemas.microsoft.com/office/drawing/2014/main" id="{862F5D83-51B5-198D-D486-12600E4E9AF3}"/>
              </a:ext>
            </a:extLst>
          </p:cNvPr>
          <p:cNvSpPr txBox="1"/>
          <p:nvPr/>
        </p:nvSpPr>
        <p:spPr>
          <a:xfrm>
            <a:off x="12806988" y="4560515"/>
            <a:ext cx="4033212" cy="1103957"/>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Alert fires. You find out now. The adversary has been home for six months.</a:t>
            </a:r>
          </a:p>
        </p:txBody>
      </p:sp>
      <p:sp>
        <p:nvSpPr>
          <p:cNvPr id="77" name="TextBox 18">
            <a:extLst>
              <a:ext uri="{FF2B5EF4-FFF2-40B4-BE49-F238E27FC236}">
                <a16:creationId xmlns:a16="http://schemas.microsoft.com/office/drawing/2014/main" id="{28597807-BFFF-4051-E495-FD6AD2C4162D}"/>
              </a:ext>
            </a:extLst>
          </p:cNvPr>
          <p:cNvSpPr txBox="1"/>
          <p:nvPr/>
        </p:nvSpPr>
        <p:spPr>
          <a:xfrm>
            <a:off x="11430000" y="7564546"/>
            <a:ext cx="6574108" cy="732060"/>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3600" b="0" i="0" u="none" strike="noStrike" kern="1200" cap="none" spc="-120" normalizeH="0" baseline="0" noProof="0" dirty="0">
                <a:ln>
                  <a:noFill/>
                </a:ln>
                <a:gradFill>
                  <a:gsLst>
                    <a:gs pos="0">
                      <a:schemeClr val="accent4">
                        <a:lumMod val="40000"/>
                        <a:lumOff val="60000"/>
                      </a:schemeClr>
                    </a:gs>
                    <a:gs pos="46000">
                      <a:schemeClr val="bg1"/>
                    </a:gs>
                    <a:gs pos="100000">
                      <a:srgbClr val="5E3587"/>
                    </a:gs>
                  </a:gsLst>
                  <a:path path="circle">
                    <a:fillToRect l="50000" t="130000" r="50000" b="-30000"/>
                  </a:path>
                </a:gradFill>
                <a:effectLst/>
                <a:uLnTx/>
                <a:uFillTx/>
                <a:latin typeface="Telegraf"/>
                <a:ea typeface="Telegraf"/>
                <a:cs typeface="Telegraf"/>
                <a:sym typeface="Telegraf"/>
              </a:rPr>
              <a:t>With CTI: </a:t>
            </a: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behavioral detections would flag </a:t>
            </a:r>
            <a:r>
              <a:rPr kumimoji="0" lang="en-US" sz="2400" b="1" i="0" u="sng" strike="noStrike" kern="1200" cap="none" spc="-120" normalizeH="0" baseline="0" noProof="0" dirty="0">
                <a:ln>
                  <a:noFill/>
                </a:ln>
                <a:solidFill>
                  <a:srgbClr val="FFFFFF"/>
                </a:solidFill>
                <a:effectLst/>
                <a:uLnTx/>
                <a:uFillTx/>
                <a:latin typeface="Telegraf"/>
                <a:ea typeface="Telegraf"/>
                <a:cs typeface="Telegraf"/>
                <a:sym typeface="Telegraf"/>
              </a:rPr>
              <a:t>Day 11</a:t>
            </a: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 Enriched alerts would surface </a:t>
            </a:r>
            <a:r>
              <a:rPr kumimoji="0" lang="en-US" sz="2400" b="1" i="0" u="sng" strike="noStrike" kern="1200" cap="none" spc="-120" normalizeH="0" baseline="0" noProof="0" dirty="0">
                <a:ln>
                  <a:noFill/>
                </a:ln>
                <a:solidFill>
                  <a:srgbClr val="FFFFFF"/>
                </a:solidFill>
                <a:effectLst/>
                <a:uLnTx/>
                <a:uFillTx/>
                <a:latin typeface="Telegraf"/>
                <a:ea typeface="Telegraf"/>
                <a:cs typeface="Telegraf"/>
                <a:sym typeface="Telegraf"/>
              </a:rPr>
              <a:t>Day 3</a:t>
            </a: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a:t>
            </a:r>
          </a:p>
        </p:txBody>
      </p:sp>
      <p:sp>
        <p:nvSpPr>
          <p:cNvPr id="79" name="TextBox 78">
            <a:extLst>
              <a:ext uri="{FF2B5EF4-FFF2-40B4-BE49-F238E27FC236}">
                <a16:creationId xmlns:a16="http://schemas.microsoft.com/office/drawing/2014/main" id="{973E084B-5AD6-D827-0E2A-2BDC9C0A1D85}"/>
              </a:ext>
            </a:extLst>
          </p:cNvPr>
          <p:cNvSpPr txBox="1"/>
          <p:nvPr/>
        </p:nvSpPr>
        <p:spPr>
          <a:xfrm>
            <a:off x="9642258" y="2450484"/>
            <a:ext cx="741285" cy="7478970"/>
          </a:xfrm>
          <a:prstGeom prst="rect">
            <a:avLst/>
          </a:prstGeom>
          <a:noFill/>
        </p:spPr>
        <p:txBody>
          <a:bodyPr wrap="square" rtlCol="0">
            <a:spAutoFit/>
          </a:bodyPr>
          <a:lstStyle/>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U</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N</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D</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E</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T</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E</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C</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T</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E</a:t>
            </a:r>
          </a:p>
          <a:p>
            <a:r>
              <a:rPr lang="en-US" sz="4800" dirty="0">
                <a:gradFill>
                  <a:gsLst>
                    <a:gs pos="0">
                      <a:schemeClr val="accent4">
                        <a:lumMod val="40000"/>
                        <a:lumOff val="60000"/>
                      </a:schemeClr>
                    </a:gs>
                    <a:gs pos="46000">
                      <a:schemeClr val="bg1"/>
                    </a:gs>
                    <a:gs pos="100000">
                      <a:srgbClr val="5E3587"/>
                    </a:gs>
                  </a:gsLst>
                  <a:path path="circle">
                    <a:fillToRect l="50000" t="130000" r="50000" b="-30000"/>
                  </a:path>
                </a:gradFill>
              </a:rPr>
              <a:t>D</a:t>
            </a:r>
          </a:p>
        </p:txBody>
      </p:sp>
      <p:grpSp>
        <p:nvGrpSpPr>
          <p:cNvPr id="80" name="Group 4">
            <a:extLst>
              <a:ext uri="{FF2B5EF4-FFF2-40B4-BE49-F238E27FC236}">
                <a16:creationId xmlns:a16="http://schemas.microsoft.com/office/drawing/2014/main" id="{E868A936-82E5-A6EE-58FC-ED687F51F07E}"/>
              </a:ext>
            </a:extLst>
          </p:cNvPr>
          <p:cNvGrpSpPr/>
          <p:nvPr/>
        </p:nvGrpSpPr>
        <p:grpSpPr>
          <a:xfrm>
            <a:off x="7478376" y="1177814"/>
            <a:ext cx="247059" cy="56998"/>
            <a:chOff x="0" y="0"/>
            <a:chExt cx="65069" cy="15012"/>
          </a:xfrm>
        </p:grpSpPr>
        <p:sp>
          <p:nvSpPr>
            <p:cNvPr id="81" name="Freeform 5">
              <a:extLst>
                <a:ext uri="{FF2B5EF4-FFF2-40B4-BE49-F238E27FC236}">
                  <a16:creationId xmlns:a16="http://schemas.microsoft.com/office/drawing/2014/main" id="{01407112-FA14-27D1-02F4-B18D42C6E1DA}"/>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2" name="TextBox 6">
              <a:extLst>
                <a:ext uri="{FF2B5EF4-FFF2-40B4-BE49-F238E27FC236}">
                  <a16:creationId xmlns:a16="http://schemas.microsoft.com/office/drawing/2014/main" id="{8570D79A-B4D5-4632-BAB7-7455228BC7C0}"/>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83" name="TextBox 13">
            <a:extLst>
              <a:ext uri="{FF2B5EF4-FFF2-40B4-BE49-F238E27FC236}">
                <a16:creationId xmlns:a16="http://schemas.microsoft.com/office/drawing/2014/main" id="{44393778-4E46-61A6-F3B3-0DFC19B5D34E}"/>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84" name="TextBox 14">
            <a:extLst>
              <a:ext uri="{FF2B5EF4-FFF2-40B4-BE49-F238E27FC236}">
                <a16:creationId xmlns:a16="http://schemas.microsoft.com/office/drawing/2014/main" id="{0887CEA6-DD9A-4618-7535-CC1A5E15B8D7}"/>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Problem</a:t>
            </a:r>
          </a:p>
        </p:txBody>
      </p:sp>
      <p:sp>
        <p:nvSpPr>
          <p:cNvPr id="86" name="TextBox 14">
            <a:extLst>
              <a:ext uri="{FF2B5EF4-FFF2-40B4-BE49-F238E27FC236}">
                <a16:creationId xmlns:a16="http://schemas.microsoft.com/office/drawing/2014/main" id="{2BB774CA-CA18-5006-984C-4327BE79FBBD}"/>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CTI</a:t>
            </a:r>
          </a:p>
        </p:txBody>
      </p:sp>
      <p:sp>
        <p:nvSpPr>
          <p:cNvPr id="87" name="TextBox 14">
            <a:extLst>
              <a:ext uri="{FF2B5EF4-FFF2-40B4-BE49-F238E27FC236}">
                <a16:creationId xmlns:a16="http://schemas.microsoft.com/office/drawing/2014/main" id="{A25E12E2-1014-9A0F-77E0-35F6018B68DD}"/>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extLst>
      <p:ext uri="{BB962C8B-B14F-4D97-AF65-F5344CB8AC3E}">
        <p14:creationId xmlns:p14="http://schemas.microsoft.com/office/powerpoint/2010/main" val="3291665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1000"/>
                                        <p:tgtEl>
                                          <p:spTgt spid="34"/>
                                        </p:tgtEl>
                                      </p:cBhvr>
                                    </p:animEffect>
                                    <p:anim calcmode="lin" valueType="num">
                                      <p:cBhvr>
                                        <p:cTn id="33" dur="1000" fill="hold"/>
                                        <p:tgtEl>
                                          <p:spTgt spid="34"/>
                                        </p:tgtEl>
                                        <p:attrNameLst>
                                          <p:attrName>ppt_x</p:attrName>
                                        </p:attrNameLst>
                                      </p:cBhvr>
                                      <p:tavLst>
                                        <p:tav tm="0">
                                          <p:val>
                                            <p:strVal val="#ppt_x"/>
                                          </p:val>
                                        </p:tav>
                                        <p:tav tm="100000">
                                          <p:val>
                                            <p:strVal val="#ppt_x"/>
                                          </p:val>
                                        </p:tav>
                                      </p:tavLst>
                                    </p:anim>
                                    <p:anim calcmode="lin" valueType="num">
                                      <p:cBhvr>
                                        <p:cTn id="34" dur="1000" fill="hold"/>
                                        <p:tgtEl>
                                          <p:spTgt spid="34"/>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1000"/>
                                        <p:tgtEl>
                                          <p:spTgt spid="35"/>
                                        </p:tgtEl>
                                      </p:cBhvr>
                                    </p:animEffect>
                                    <p:anim calcmode="lin" valueType="num">
                                      <p:cBhvr>
                                        <p:cTn id="38" dur="1000" fill="hold"/>
                                        <p:tgtEl>
                                          <p:spTgt spid="35"/>
                                        </p:tgtEl>
                                        <p:attrNameLst>
                                          <p:attrName>ppt_x</p:attrName>
                                        </p:attrNameLst>
                                      </p:cBhvr>
                                      <p:tavLst>
                                        <p:tav tm="0">
                                          <p:val>
                                            <p:strVal val="#ppt_x"/>
                                          </p:val>
                                        </p:tav>
                                        <p:tav tm="100000">
                                          <p:val>
                                            <p:strVal val="#ppt_x"/>
                                          </p:val>
                                        </p:tav>
                                      </p:tavLst>
                                    </p:anim>
                                    <p:anim calcmode="lin" valueType="num">
                                      <p:cBhvr>
                                        <p:cTn id="39" dur="1000" fill="hold"/>
                                        <p:tgtEl>
                                          <p:spTgt spid="35"/>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1000"/>
                                        <p:tgtEl>
                                          <p:spTgt spid="38"/>
                                        </p:tgtEl>
                                      </p:cBhvr>
                                    </p:animEffect>
                                    <p:anim calcmode="lin" valueType="num">
                                      <p:cBhvr>
                                        <p:cTn id="43" dur="1000" fill="hold"/>
                                        <p:tgtEl>
                                          <p:spTgt spid="38"/>
                                        </p:tgtEl>
                                        <p:attrNameLst>
                                          <p:attrName>ppt_x</p:attrName>
                                        </p:attrNameLst>
                                      </p:cBhvr>
                                      <p:tavLst>
                                        <p:tav tm="0">
                                          <p:val>
                                            <p:strVal val="#ppt_x"/>
                                          </p:val>
                                        </p:tav>
                                        <p:tav tm="100000">
                                          <p:val>
                                            <p:strVal val="#ppt_x"/>
                                          </p:val>
                                        </p:tav>
                                      </p:tavLst>
                                    </p:anim>
                                    <p:anim calcmode="lin" valueType="num">
                                      <p:cBhvr>
                                        <p:cTn id="44" dur="1000" fill="hold"/>
                                        <p:tgtEl>
                                          <p:spTgt spid="3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1000"/>
                                        <p:tgtEl>
                                          <p:spTgt spid="41"/>
                                        </p:tgtEl>
                                      </p:cBhvr>
                                    </p:animEffect>
                                    <p:anim calcmode="lin" valueType="num">
                                      <p:cBhvr>
                                        <p:cTn id="48" dur="1000" fill="hold"/>
                                        <p:tgtEl>
                                          <p:spTgt spid="41"/>
                                        </p:tgtEl>
                                        <p:attrNameLst>
                                          <p:attrName>ppt_x</p:attrName>
                                        </p:attrNameLst>
                                      </p:cBhvr>
                                      <p:tavLst>
                                        <p:tav tm="0">
                                          <p:val>
                                            <p:strVal val="#ppt_x"/>
                                          </p:val>
                                        </p:tav>
                                        <p:tav tm="100000">
                                          <p:val>
                                            <p:strVal val="#ppt_x"/>
                                          </p:val>
                                        </p:tav>
                                      </p:tavLst>
                                    </p:anim>
                                    <p:anim calcmode="lin" valueType="num">
                                      <p:cBhvr>
                                        <p:cTn id="49" dur="1000" fill="hold"/>
                                        <p:tgtEl>
                                          <p:spTgt spid="4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1000"/>
                                        <p:tgtEl>
                                          <p:spTgt spid="42"/>
                                        </p:tgtEl>
                                      </p:cBhvr>
                                    </p:animEffect>
                                    <p:anim calcmode="lin" valueType="num">
                                      <p:cBhvr>
                                        <p:cTn id="53" dur="1000" fill="hold"/>
                                        <p:tgtEl>
                                          <p:spTgt spid="42"/>
                                        </p:tgtEl>
                                        <p:attrNameLst>
                                          <p:attrName>ppt_x</p:attrName>
                                        </p:attrNameLst>
                                      </p:cBhvr>
                                      <p:tavLst>
                                        <p:tav tm="0">
                                          <p:val>
                                            <p:strVal val="#ppt_x"/>
                                          </p:val>
                                        </p:tav>
                                        <p:tav tm="100000">
                                          <p:val>
                                            <p:strVal val="#ppt_x"/>
                                          </p:val>
                                        </p:tav>
                                      </p:tavLst>
                                    </p:anim>
                                    <p:anim calcmode="lin" valueType="num">
                                      <p:cBhvr>
                                        <p:cTn id="54" dur="1000" fill="hold"/>
                                        <p:tgtEl>
                                          <p:spTgt spid="4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1000"/>
                                        <p:tgtEl>
                                          <p:spTgt spid="45"/>
                                        </p:tgtEl>
                                      </p:cBhvr>
                                    </p:animEffect>
                                    <p:anim calcmode="lin" valueType="num">
                                      <p:cBhvr>
                                        <p:cTn id="58" dur="1000" fill="hold"/>
                                        <p:tgtEl>
                                          <p:spTgt spid="45"/>
                                        </p:tgtEl>
                                        <p:attrNameLst>
                                          <p:attrName>ppt_x</p:attrName>
                                        </p:attrNameLst>
                                      </p:cBhvr>
                                      <p:tavLst>
                                        <p:tav tm="0">
                                          <p:val>
                                            <p:strVal val="#ppt_x"/>
                                          </p:val>
                                        </p:tav>
                                        <p:tav tm="100000">
                                          <p:val>
                                            <p:strVal val="#ppt_x"/>
                                          </p:val>
                                        </p:tav>
                                      </p:tavLst>
                                    </p:anim>
                                    <p:anim calcmode="lin" valueType="num">
                                      <p:cBhvr>
                                        <p:cTn id="59" dur="1000" fill="hold"/>
                                        <p:tgtEl>
                                          <p:spTgt spid="4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1000"/>
                                        <p:tgtEl>
                                          <p:spTgt spid="48"/>
                                        </p:tgtEl>
                                      </p:cBhvr>
                                    </p:animEffect>
                                    <p:anim calcmode="lin" valueType="num">
                                      <p:cBhvr>
                                        <p:cTn id="63" dur="1000" fill="hold"/>
                                        <p:tgtEl>
                                          <p:spTgt spid="48"/>
                                        </p:tgtEl>
                                        <p:attrNameLst>
                                          <p:attrName>ppt_x</p:attrName>
                                        </p:attrNameLst>
                                      </p:cBhvr>
                                      <p:tavLst>
                                        <p:tav tm="0">
                                          <p:val>
                                            <p:strVal val="#ppt_x"/>
                                          </p:val>
                                        </p:tav>
                                        <p:tav tm="100000">
                                          <p:val>
                                            <p:strVal val="#ppt_x"/>
                                          </p:val>
                                        </p:tav>
                                      </p:tavLst>
                                    </p:anim>
                                    <p:anim calcmode="lin" valueType="num">
                                      <p:cBhvr>
                                        <p:cTn id="64" dur="1000" fill="hold"/>
                                        <p:tgtEl>
                                          <p:spTgt spid="4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1000"/>
                                        <p:tgtEl>
                                          <p:spTgt spid="63"/>
                                        </p:tgtEl>
                                      </p:cBhvr>
                                    </p:animEffect>
                                    <p:anim calcmode="lin" valueType="num">
                                      <p:cBhvr>
                                        <p:cTn id="68" dur="1000" fill="hold"/>
                                        <p:tgtEl>
                                          <p:spTgt spid="63"/>
                                        </p:tgtEl>
                                        <p:attrNameLst>
                                          <p:attrName>ppt_x</p:attrName>
                                        </p:attrNameLst>
                                      </p:cBhvr>
                                      <p:tavLst>
                                        <p:tav tm="0">
                                          <p:val>
                                            <p:strVal val="#ppt_x"/>
                                          </p:val>
                                        </p:tav>
                                        <p:tav tm="100000">
                                          <p:val>
                                            <p:strVal val="#ppt_x"/>
                                          </p:val>
                                        </p:tav>
                                      </p:tavLst>
                                    </p:anim>
                                    <p:anim calcmode="lin" valueType="num">
                                      <p:cBhvr>
                                        <p:cTn id="69" dur="1000" fill="hold"/>
                                        <p:tgtEl>
                                          <p:spTgt spid="63"/>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66"/>
                                        </p:tgtEl>
                                        <p:attrNameLst>
                                          <p:attrName>style.visibility</p:attrName>
                                        </p:attrNameLst>
                                      </p:cBhvr>
                                      <p:to>
                                        <p:strVal val="visible"/>
                                      </p:to>
                                    </p:set>
                                    <p:animEffect transition="in" filter="fade">
                                      <p:cBhvr>
                                        <p:cTn id="72" dur="1000"/>
                                        <p:tgtEl>
                                          <p:spTgt spid="66"/>
                                        </p:tgtEl>
                                      </p:cBhvr>
                                    </p:animEffect>
                                    <p:anim calcmode="lin" valueType="num">
                                      <p:cBhvr>
                                        <p:cTn id="73" dur="1000" fill="hold"/>
                                        <p:tgtEl>
                                          <p:spTgt spid="66"/>
                                        </p:tgtEl>
                                        <p:attrNameLst>
                                          <p:attrName>ppt_x</p:attrName>
                                        </p:attrNameLst>
                                      </p:cBhvr>
                                      <p:tavLst>
                                        <p:tav tm="0">
                                          <p:val>
                                            <p:strVal val="#ppt_x"/>
                                          </p:val>
                                        </p:tav>
                                        <p:tav tm="100000">
                                          <p:val>
                                            <p:strVal val="#ppt_x"/>
                                          </p:val>
                                        </p:tav>
                                      </p:tavLst>
                                    </p:anim>
                                    <p:anim calcmode="lin" valueType="num">
                                      <p:cBhvr>
                                        <p:cTn id="74" dur="1000" fill="hold"/>
                                        <p:tgtEl>
                                          <p:spTgt spid="6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69"/>
                                        </p:tgtEl>
                                        <p:attrNameLst>
                                          <p:attrName>style.visibility</p:attrName>
                                        </p:attrNameLst>
                                      </p:cBhvr>
                                      <p:to>
                                        <p:strVal val="visible"/>
                                      </p:to>
                                    </p:set>
                                    <p:animEffect transition="in" filter="fade">
                                      <p:cBhvr>
                                        <p:cTn id="77" dur="1000"/>
                                        <p:tgtEl>
                                          <p:spTgt spid="69"/>
                                        </p:tgtEl>
                                      </p:cBhvr>
                                    </p:animEffect>
                                    <p:anim calcmode="lin" valueType="num">
                                      <p:cBhvr>
                                        <p:cTn id="78" dur="1000" fill="hold"/>
                                        <p:tgtEl>
                                          <p:spTgt spid="69"/>
                                        </p:tgtEl>
                                        <p:attrNameLst>
                                          <p:attrName>ppt_x</p:attrName>
                                        </p:attrNameLst>
                                      </p:cBhvr>
                                      <p:tavLst>
                                        <p:tav tm="0">
                                          <p:val>
                                            <p:strVal val="#ppt_x"/>
                                          </p:val>
                                        </p:tav>
                                        <p:tav tm="100000">
                                          <p:val>
                                            <p:strVal val="#ppt_x"/>
                                          </p:val>
                                        </p:tav>
                                      </p:tavLst>
                                    </p:anim>
                                    <p:anim calcmode="lin" valueType="num">
                                      <p:cBhvr>
                                        <p:cTn id="79" dur="1000" fill="hold"/>
                                        <p:tgtEl>
                                          <p:spTgt spid="69"/>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79"/>
                                        </p:tgtEl>
                                        <p:attrNameLst>
                                          <p:attrName>style.visibility</p:attrName>
                                        </p:attrNameLst>
                                      </p:cBhvr>
                                      <p:to>
                                        <p:strVal val="visible"/>
                                      </p:to>
                                    </p:set>
                                    <p:animEffect transition="in" filter="fade">
                                      <p:cBhvr>
                                        <p:cTn id="82" dur="1000"/>
                                        <p:tgtEl>
                                          <p:spTgt spid="79"/>
                                        </p:tgtEl>
                                      </p:cBhvr>
                                    </p:animEffect>
                                    <p:anim calcmode="lin" valueType="num">
                                      <p:cBhvr>
                                        <p:cTn id="83" dur="1000" fill="hold"/>
                                        <p:tgtEl>
                                          <p:spTgt spid="79"/>
                                        </p:tgtEl>
                                        <p:attrNameLst>
                                          <p:attrName>ppt_x</p:attrName>
                                        </p:attrNameLst>
                                      </p:cBhvr>
                                      <p:tavLst>
                                        <p:tav tm="0">
                                          <p:val>
                                            <p:strVal val="#ppt_x"/>
                                          </p:val>
                                        </p:tav>
                                        <p:tav tm="100000">
                                          <p:val>
                                            <p:strVal val="#ppt_x"/>
                                          </p:val>
                                        </p:tav>
                                      </p:tavLst>
                                    </p:anim>
                                    <p:anim calcmode="lin" valueType="num">
                                      <p:cBhvr>
                                        <p:cTn id="84"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70"/>
                                        </p:tgtEl>
                                        <p:attrNameLst>
                                          <p:attrName>style.visibility</p:attrName>
                                        </p:attrNameLst>
                                      </p:cBhvr>
                                      <p:to>
                                        <p:strVal val="visible"/>
                                      </p:to>
                                    </p:set>
                                    <p:animEffect transition="in" filter="fade">
                                      <p:cBhvr>
                                        <p:cTn id="89" dur="1000"/>
                                        <p:tgtEl>
                                          <p:spTgt spid="70"/>
                                        </p:tgtEl>
                                      </p:cBhvr>
                                    </p:animEffect>
                                    <p:anim calcmode="lin" valueType="num">
                                      <p:cBhvr>
                                        <p:cTn id="90" dur="1000" fill="hold"/>
                                        <p:tgtEl>
                                          <p:spTgt spid="70"/>
                                        </p:tgtEl>
                                        <p:attrNameLst>
                                          <p:attrName>ppt_x</p:attrName>
                                        </p:attrNameLst>
                                      </p:cBhvr>
                                      <p:tavLst>
                                        <p:tav tm="0">
                                          <p:val>
                                            <p:strVal val="#ppt_x"/>
                                          </p:val>
                                        </p:tav>
                                        <p:tav tm="100000">
                                          <p:val>
                                            <p:strVal val="#ppt_x"/>
                                          </p:val>
                                        </p:tav>
                                      </p:tavLst>
                                    </p:anim>
                                    <p:anim calcmode="lin" valueType="num">
                                      <p:cBhvr>
                                        <p:cTn id="91" dur="1000" fill="hold"/>
                                        <p:tgtEl>
                                          <p:spTgt spid="70"/>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73"/>
                                        </p:tgtEl>
                                        <p:attrNameLst>
                                          <p:attrName>style.visibility</p:attrName>
                                        </p:attrNameLst>
                                      </p:cBhvr>
                                      <p:to>
                                        <p:strVal val="visible"/>
                                      </p:to>
                                    </p:set>
                                    <p:animEffect transition="in" filter="fade">
                                      <p:cBhvr>
                                        <p:cTn id="94" dur="1000"/>
                                        <p:tgtEl>
                                          <p:spTgt spid="73"/>
                                        </p:tgtEl>
                                      </p:cBhvr>
                                    </p:animEffect>
                                    <p:anim calcmode="lin" valueType="num">
                                      <p:cBhvr>
                                        <p:cTn id="95" dur="1000" fill="hold"/>
                                        <p:tgtEl>
                                          <p:spTgt spid="73"/>
                                        </p:tgtEl>
                                        <p:attrNameLst>
                                          <p:attrName>ppt_x</p:attrName>
                                        </p:attrNameLst>
                                      </p:cBhvr>
                                      <p:tavLst>
                                        <p:tav tm="0">
                                          <p:val>
                                            <p:strVal val="#ppt_x"/>
                                          </p:val>
                                        </p:tav>
                                        <p:tav tm="100000">
                                          <p:val>
                                            <p:strVal val="#ppt_x"/>
                                          </p:val>
                                        </p:tav>
                                      </p:tavLst>
                                    </p:anim>
                                    <p:anim calcmode="lin" valueType="num">
                                      <p:cBhvr>
                                        <p:cTn id="96" dur="1000" fill="hold"/>
                                        <p:tgtEl>
                                          <p:spTgt spid="73"/>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76"/>
                                        </p:tgtEl>
                                        <p:attrNameLst>
                                          <p:attrName>style.visibility</p:attrName>
                                        </p:attrNameLst>
                                      </p:cBhvr>
                                      <p:to>
                                        <p:strVal val="visible"/>
                                      </p:to>
                                    </p:set>
                                    <p:animEffect transition="in" filter="fade">
                                      <p:cBhvr>
                                        <p:cTn id="99" dur="1000"/>
                                        <p:tgtEl>
                                          <p:spTgt spid="76"/>
                                        </p:tgtEl>
                                      </p:cBhvr>
                                    </p:animEffect>
                                    <p:anim calcmode="lin" valueType="num">
                                      <p:cBhvr>
                                        <p:cTn id="100" dur="1000" fill="hold"/>
                                        <p:tgtEl>
                                          <p:spTgt spid="76"/>
                                        </p:tgtEl>
                                        <p:attrNameLst>
                                          <p:attrName>ppt_x</p:attrName>
                                        </p:attrNameLst>
                                      </p:cBhvr>
                                      <p:tavLst>
                                        <p:tav tm="0">
                                          <p:val>
                                            <p:strVal val="#ppt_x"/>
                                          </p:val>
                                        </p:tav>
                                        <p:tav tm="100000">
                                          <p:val>
                                            <p:strVal val="#ppt_x"/>
                                          </p:val>
                                        </p:tav>
                                      </p:tavLst>
                                    </p:anim>
                                    <p:anim calcmode="lin" valueType="num">
                                      <p:cBhvr>
                                        <p:cTn id="101" dur="1000" fill="hold"/>
                                        <p:tgtEl>
                                          <p:spTgt spid="76"/>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77"/>
                                        </p:tgtEl>
                                        <p:attrNameLst>
                                          <p:attrName>style.visibility</p:attrName>
                                        </p:attrNameLst>
                                      </p:cBhvr>
                                      <p:to>
                                        <p:strVal val="visible"/>
                                      </p:to>
                                    </p:set>
                                    <p:animEffect transition="in" filter="fade">
                                      <p:cBhvr>
                                        <p:cTn id="104" dur="1000"/>
                                        <p:tgtEl>
                                          <p:spTgt spid="77"/>
                                        </p:tgtEl>
                                      </p:cBhvr>
                                    </p:animEffect>
                                    <p:anim calcmode="lin" valueType="num">
                                      <p:cBhvr>
                                        <p:cTn id="105" dur="1000" fill="hold"/>
                                        <p:tgtEl>
                                          <p:spTgt spid="77"/>
                                        </p:tgtEl>
                                        <p:attrNameLst>
                                          <p:attrName>ppt_x</p:attrName>
                                        </p:attrNameLst>
                                      </p:cBhvr>
                                      <p:tavLst>
                                        <p:tav tm="0">
                                          <p:val>
                                            <p:strVal val="#ppt_x"/>
                                          </p:val>
                                        </p:tav>
                                        <p:tav tm="100000">
                                          <p:val>
                                            <p:strVal val="#ppt_x"/>
                                          </p:val>
                                        </p:tav>
                                      </p:tavLst>
                                    </p:anim>
                                    <p:anim calcmode="lin" valueType="num">
                                      <p:cBhvr>
                                        <p:cTn id="106"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4" grpId="0"/>
      <p:bldP spid="41" grpId="0"/>
      <p:bldP spid="48" grpId="0"/>
      <p:bldP spid="69" grpId="0"/>
      <p:bldP spid="76" grpId="0"/>
      <p:bldP spid="77"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3" name="Freeform 3"/>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7463446" y="912664"/>
            <a:ext cx="247059" cy="273987"/>
          </a:xfrm>
          <a:prstGeom prst="rect">
            <a:avLst/>
          </a:prstGeom>
        </p:spPr>
        <p:txBody>
          <a:bodyPr lIns="50800" tIns="50800" rIns="50800" bIns="50800" rtlCol="0" anchor="ctr"/>
          <a:lstStyle/>
          <a:p>
            <a:pPr algn="ctr">
              <a:lnSpc>
                <a:spcPts val="1960"/>
              </a:lnSpc>
            </a:pPr>
            <a:endParaRPr/>
          </a:p>
        </p:txBody>
      </p:sp>
      <p:grpSp>
        <p:nvGrpSpPr>
          <p:cNvPr id="7" name="Group 7"/>
          <p:cNvGrpSpPr/>
          <p:nvPr/>
        </p:nvGrpSpPr>
        <p:grpSpPr>
          <a:xfrm>
            <a:off x="1028700" y="5143500"/>
            <a:ext cx="6810202" cy="4114800"/>
            <a:chOff x="0" y="0"/>
            <a:chExt cx="5516210" cy="3527477"/>
          </a:xfrm>
        </p:grpSpPr>
        <p:sp>
          <p:nvSpPr>
            <p:cNvPr id="8" name="Freeform 8"/>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9" name="TextBox 9"/>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12" name="TextBox 12"/>
          <p:cNvSpPr txBox="1"/>
          <p:nvPr/>
        </p:nvSpPr>
        <p:spPr>
          <a:xfrm>
            <a:off x="1137812" y="2269078"/>
            <a:ext cx="8506506" cy="2513509"/>
          </a:xfrm>
          <a:prstGeom prst="rect">
            <a:avLst/>
          </a:prstGeom>
        </p:spPr>
        <p:txBody>
          <a:bodyPr wrap="square" lIns="0" tIns="0" rIns="0" bIns="0" rtlCol="0" anchor="t">
            <a:spAutoFit/>
          </a:bodyPr>
          <a:lstStyle/>
          <a:p>
            <a:pPr algn="l">
              <a:lnSpc>
                <a:spcPts val="4868"/>
              </a:lnSpc>
            </a:pPr>
            <a:r>
              <a:rPr lang="en-US" sz="5866"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Understanding What Cyber Threat Intelligence Is</a:t>
            </a:r>
          </a:p>
        </p:txBody>
      </p:sp>
      <p:sp>
        <p:nvSpPr>
          <p:cNvPr id="13" name="Freeform 13"/>
          <p:cNvSpPr/>
          <p:nvPr/>
        </p:nvSpPr>
        <p:spPr>
          <a:xfrm>
            <a:off x="6828490" y="5539872"/>
            <a:ext cx="545801"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pic>
        <p:nvPicPr>
          <p:cNvPr id="23" name="Image 0" descr="/home/claude/cygnus_logo.png">
            <a:extLst>
              <a:ext uri="{FF2B5EF4-FFF2-40B4-BE49-F238E27FC236}">
                <a16:creationId xmlns:a16="http://schemas.microsoft.com/office/drawing/2014/main" id="{B8DC18C1-B7B9-1ACD-E23C-D923A48384CC}"/>
              </a:ext>
            </a:extLst>
          </p:cNvPr>
          <p:cNvPicPr>
            <a:picLocks noChangeAspect="1"/>
          </p:cNvPicPr>
          <p:nvPr/>
        </p:nvPicPr>
        <p:blipFill>
          <a:blip r:embed="rId4"/>
          <a:stretch>
            <a:fillRect/>
          </a:stretch>
        </p:blipFill>
        <p:spPr>
          <a:xfrm>
            <a:off x="651199" y="502921"/>
            <a:ext cx="1330002" cy="266000"/>
          </a:xfrm>
          <a:prstGeom prst="rect">
            <a:avLst/>
          </a:prstGeom>
        </p:spPr>
      </p:pic>
      <p:grpSp>
        <p:nvGrpSpPr>
          <p:cNvPr id="24" name="Group 7">
            <a:extLst>
              <a:ext uri="{FF2B5EF4-FFF2-40B4-BE49-F238E27FC236}">
                <a16:creationId xmlns:a16="http://schemas.microsoft.com/office/drawing/2014/main" id="{305269F3-0BEF-AF3E-35DA-39FDF290B93C}"/>
              </a:ext>
            </a:extLst>
          </p:cNvPr>
          <p:cNvGrpSpPr/>
          <p:nvPr/>
        </p:nvGrpSpPr>
        <p:grpSpPr>
          <a:xfrm>
            <a:off x="8840679" y="2314986"/>
            <a:ext cx="3190702" cy="3118287"/>
            <a:chOff x="0" y="0"/>
            <a:chExt cx="5516210" cy="3527477"/>
          </a:xfrm>
          <a:effectLst>
            <a:glow rad="304800">
              <a:srgbClr val="8E52F5">
                <a:alpha val="35000"/>
              </a:srgbClr>
            </a:glow>
          </a:effectLst>
          <a:scene3d>
            <a:camera prst="obliqueTopRight"/>
            <a:lightRig rig="threePt" dir="t"/>
          </a:scene3d>
        </p:grpSpPr>
        <p:sp>
          <p:nvSpPr>
            <p:cNvPr id="25" name="Freeform 8">
              <a:extLst>
                <a:ext uri="{FF2B5EF4-FFF2-40B4-BE49-F238E27FC236}">
                  <a16:creationId xmlns:a16="http://schemas.microsoft.com/office/drawing/2014/main" id="{116E0B09-1E98-CEE7-72A0-CA8C42A47B00}"/>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26" name="TextBox 9">
              <a:extLst>
                <a:ext uri="{FF2B5EF4-FFF2-40B4-BE49-F238E27FC236}">
                  <a16:creationId xmlns:a16="http://schemas.microsoft.com/office/drawing/2014/main" id="{4E4D336B-7AEA-77EF-3380-354BC80E5245}"/>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33" name="TextBox 18">
            <a:extLst>
              <a:ext uri="{FF2B5EF4-FFF2-40B4-BE49-F238E27FC236}">
                <a16:creationId xmlns:a16="http://schemas.microsoft.com/office/drawing/2014/main" id="{7FF092DA-A8B8-064D-1A89-DF9ACAACD95D}"/>
              </a:ext>
            </a:extLst>
          </p:cNvPr>
          <p:cNvSpPr txBox="1"/>
          <p:nvPr/>
        </p:nvSpPr>
        <p:spPr>
          <a:xfrm>
            <a:off x="9071485" y="3702225"/>
            <a:ext cx="2729089" cy="885242"/>
          </a:xfrm>
          <a:prstGeom prst="rect">
            <a:avLst/>
          </a:prstGeom>
        </p:spPr>
        <p:txBody>
          <a:bodyPr lIns="0" tIns="0" rIns="0" bIns="0" rtlCol="0" anchor="t">
            <a:spAutoFit/>
          </a:bodyPr>
          <a:lstStyle/>
          <a:p>
            <a:pPr algn="ctr">
              <a:lnSpc>
                <a:spcPts val="1680"/>
              </a:lnSpc>
            </a:pPr>
            <a:r>
              <a:rPr lang="en-US" sz="2000" spc="-70" dirty="0">
                <a:solidFill>
                  <a:srgbClr val="FFFFFF"/>
                </a:solidFill>
                <a:latin typeface="Work Sans" pitchFamily="2" charset="0"/>
                <a:ea typeface="Telegraf"/>
                <a:cs typeface="Telegraf"/>
                <a:sym typeface="Telegraf"/>
              </a:rPr>
              <a:t>IoCs: IPs, hashes, domains, URLs. The surface layer of intelligence.</a:t>
            </a:r>
          </a:p>
        </p:txBody>
      </p:sp>
      <p:pic>
        <p:nvPicPr>
          <p:cNvPr id="34" name="Image 1" descr="preencoded.png">
            <a:extLst>
              <a:ext uri="{FF2B5EF4-FFF2-40B4-BE49-F238E27FC236}">
                <a16:creationId xmlns:a16="http://schemas.microsoft.com/office/drawing/2014/main" id="{A5CE4F46-DC85-1296-D954-D08DB21927BF}"/>
              </a:ext>
            </a:extLst>
          </p:cNvPr>
          <p:cNvPicPr>
            <a:picLocks noChangeAspect="1"/>
          </p:cNvPicPr>
          <p:nvPr/>
        </p:nvPicPr>
        <p:blipFill>
          <a:blip r:embed="rId5">
            <a:duotone>
              <a:prstClr val="black"/>
              <a:srgbClr val="600DB5">
                <a:tint val="45000"/>
                <a:satMod val="400000"/>
              </a:srgbClr>
            </a:duotone>
          </a:blip>
          <a:stretch>
            <a:fillRect/>
          </a:stretch>
        </p:blipFill>
        <p:spPr>
          <a:xfrm>
            <a:off x="9102588" y="2587851"/>
            <a:ext cx="597101" cy="597101"/>
          </a:xfrm>
          <a:prstGeom prst="rect">
            <a:avLst/>
          </a:prstGeom>
        </p:spPr>
      </p:pic>
      <p:sp>
        <p:nvSpPr>
          <p:cNvPr id="38" name="TextBox 37">
            <a:extLst>
              <a:ext uri="{FF2B5EF4-FFF2-40B4-BE49-F238E27FC236}">
                <a16:creationId xmlns:a16="http://schemas.microsoft.com/office/drawing/2014/main" id="{1B945DFB-AA96-6EEE-26D5-60C9743192EF}"/>
              </a:ext>
            </a:extLst>
          </p:cNvPr>
          <p:cNvSpPr txBox="1"/>
          <p:nvPr/>
        </p:nvSpPr>
        <p:spPr>
          <a:xfrm>
            <a:off x="1316200" y="5827084"/>
            <a:ext cx="6138968" cy="2308324"/>
          </a:xfrm>
          <a:prstGeom prst="rect">
            <a:avLst/>
          </a:prstGeom>
          <a:noFill/>
        </p:spPr>
        <p:txBody>
          <a:bodyPr wrap="square">
            <a:spAutoFit/>
          </a:bodyPr>
          <a:lstStyle/>
          <a:p>
            <a:pPr marL="0" indent="0" algn="l">
              <a:buNone/>
            </a:pPr>
            <a:r>
              <a:rPr lang="en-US" sz="2400" dirty="0">
                <a:solidFill>
                  <a:schemeClr val="bg1"/>
                </a:solidFill>
                <a:latin typeface="Telegraf" panose="020B0604020202020204" charset="0"/>
                <a:ea typeface="Calibri" pitchFamily="34" charset="-122"/>
                <a:cs typeface="Calibri" pitchFamily="34" charset="-120"/>
              </a:rPr>
              <a:t>CTI is analyzed, contextualized, and actionable information about threats that enables informed security decisions. It transforms raw data into the who, what, why, how, and when of threats relevant to your organization.</a:t>
            </a:r>
            <a:endParaRPr lang="en-US" sz="2400" dirty="0">
              <a:solidFill>
                <a:schemeClr val="bg1"/>
              </a:solidFill>
              <a:latin typeface="Telegraf" panose="020B0604020202020204" charset="0"/>
            </a:endParaRPr>
          </a:p>
        </p:txBody>
      </p:sp>
      <p:sp>
        <p:nvSpPr>
          <p:cNvPr id="41" name="TextBox 19">
            <a:extLst>
              <a:ext uri="{FF2B5EF4-FFF2-40B4-BE49-F238E27FC236}">
                <a16:creationId xmlns:a16="http://schemas.microsoft.com/office/drawing/2014/main" id="{66BFDD67-813D-FBEE-DD28-DF88097045EF}"/>
              </a:ext>
            </a:extLst>
          </p:cNvPr>
          <p:cNvSpPr txBox="1"/>
          <p:nvPr/>
        </p:nvSpPr>
        <p:spPr>
          <a:xfrm>
            <a:off x="9730434" y="2561474"/>
            <a:ext cx="3190702" cy="732060"/>
          </a:xfrm>
          <a:prstGeom prst="rect">
            <a:avLst/>
          </a:prstGeom>
        </p:spPr>
        <p:txBody>
          <a:bodyPr wrap="square" lIns="0" tIns="0" rIns="0" bIns="0" rtlCol="0" anchor="t">
            <a:spAutoFit/>
          </a:bodyPr>
          <a:lstStyle/>
          <a:p>
            <a:pPr algn="l">
              <a:lnSpc>
                <a:spcPts val="2879"/>
              </a:lnSpc>
            </a:pPr>
            <a:r>
              <a:rPr lang="en-US" sz="2400" spc="-120" dirty="0">
                <a:solidFill>
                  <a:srgbClr val="FFFFFF"/>
                </a:solidFill>
                <a:latin typeface="Telegraf"/>
                <a:ea typeface="Telegraf"/>
                <a:cs typeface="Telegraf"/>
                <a:sym typeface="Telegraf"/>
              </a:rPr>
              <a:t>Indicators of Compromise</a:t>
            </a:r>
          </a:p>
        </p:txBody>
      </p:sp>
      <p:grpSp>
        <p:nvGrpSpPr>
          <p:cNvPr id="54" name="Group 7">
            <a:extLst>
              <a:ext uri="{FF2B5EF4-FFF2-40B4-BE49-F238E27FC236}">
                <a16:creationId xmlns:a16="http://schemas.microsoft.com/office/drawing/2014/main" id="{93BCD643-6137-2E97-A6C3-2B1B2F9A1B3A}"/>
              </a:ext>
            </a:extLst>
          </p:cNvPr>
          <p:cNvGrpSpPr/>
          <p:nvPr/>
        </p:nvGrpSpPr>
        <p:grpSpPr>
          <a:xfrm>
            <a:off x="13411200" y="2314986"/>
            <a:ext cx="3190702" cy="3118287"/>
            <a:chOff x="0" y="0"/>
            <a:chExt cx="5516210" cy="3527477"/>
          </a:xfrm>
          <a:effectLst>
            <a:glow rad="304800">
              <a:srgbClr val="8E52F5">
                <a:alpha val="35000"/>
              </a:srgbClr>
            </a:glow>
          </a:effectLst>
          <a:scene3d>
            <a:camera prst="obliqueTopRight"/>
            <a:lightRig rig="threePt" dir="t"/>
          </a:scene3d>
        </p:grpSpPr>
        <p:sp>
          <p:nvSpPr>
            <p:cNvPr id="55" name="Freeform 8">
              <a:extLst>
                <a:ext uri="{FF2B5EF4-FFF2-40B4-BE49-F238E27FC236}">
                  <a16:creationId xmlns:a16="http://schemas.microsoft.com/office/drawing/2014/main" id="{1940DFB1-360A-8D50-E6B8-AE69C08BA736}"/>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56" name="TextBox 9">
              <a:extLst>
                <a:ext uri="{FF2B5EF4-FFF2-40B4-BE49-F238E27FC236}">
                  <a16:creationId xmlns:a16="http://schemas.microsoft.com/office/drawing/2014/main" id="{763E4822-DFA4-487B-5F02-1C5F15A467C5}"/>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57" name="TextBox 18">
            <a:extLst>
              <a:ext uri="{FF2B5EF4-FFF2-40B4-BE49-F238E27FC236}">
                <a16:creationId xmlns:a16="http://schemas.microsoft.com/office/drawing/2014/main" id="{FB69038A-4D0E-0368-3C55-D858281B2B65}"/>
              </a:ext>
            </a:extLst>
          </p:cNvPr>
          <p:cNvSpPr txBox="1"/>
          <p:nvPr/>
        </p:nvSpPr>
        <p:spPr>
          <a:xfrm>
            <a:off x="13620745" y="3763250"/>
            <a:ext cx="2729089" cy="885242"/>
          </a:xfrm>
          <a:prstGeom prst="rect">
            <a:avLst/>
          </a:prstGeom>
        </p:spPr>
        <p:txBody>
          <a:bodyPr lIns="0" tIns="0" rIns="0" bIns="0" rtlCol="0" anchor="t">
            <a:spAutoFit/>
          </a:bodyPr>
          <a:lstStyle/>
          <a:p>
            <a:pPr algn="ctr">
              <a:lnSpc>
                <a:spcPts val="1680"/>
              </a:lnSpc>
            </a:pPr>
            <a:r>
              <a:rPr lang="en-US" sz="2000" spc="-70" dirty="0">
                <a:solidFill>
                  <a:srgbClr val="FFFFFF"/>
                </a:solidFill>
                <a:latin typeface="Work Sans" pitchFamily="2" charset="0"/>
                <a:ea typeface="Telegraf"/>
                <a:cs typeface="Telegraf"/>
                <a:sym typeface="Telegraf"/>
              </a:rPr>
              <a:t>TTPs: the behavioral fingerprint of adversaries. Far more durable than IoCs.</a:t>
            </a:r>
          </a:p>
        </p:txBody>
      </p:sp>
      <p:sp>
        <p:nvSpPr>
          <p:cNvPr id="59" name="TextBox 19">
            <a:extLst>
              <a:ext uri="{FF2B5EF4-FFF2-40B4-BE49-F238E27FC236}">
                <a16:creationId xmlns:a16="http://schemas.microsoft.com/office/drawing/2014/main" id="{D719D6F0-8CF6-1F62-7E8F-2F6CEA957500}"/>
              </a:ext>
            </a:extLst>
          </p:cNvPr>
          <p:cNvSpPr txBox="1"/>
          <p:nvPr/>
        </p:nvSpPr>
        <p:spPr>
          <a:xfrm>
            <a:off x="14247909" y="2489946"/>
            <a:ext cx="2414169" cy="1103957"/>
          </a:xfrm>
          <a:prstGeom prst="rect">
            <a:avLst/>
          </a:prstGeom>
        </p:spPr>
        <p:txBody>
          <a:bodyPr wrap="square" lIns="0" tIns="0" rIns="0" bIns="0" rtlCol="0" anchor="t">
            <a:spAutoFit/>
          </a:bodyPr>
          <a:lstStyle/>
          <a:p>
            <a:pPr algn="l">
              <a:lnSpc>
                <a:spcPts val="2879"/>
              </a:lnSpc>
            </a:pPr>
            <a:r>
              <a:rPr lang="en-US" sz="2400" spc="-120" dirty="0">
                <a:solidFill>
                  <a:srgbClr val="FFFFFF"/>
                </a:solidFill>
                <a:latin typeface="Telegraf"/>
                <a:ea typeface="Telegraf"/>
                <a:cs typeface="Telegraf"/>
                <a:sym typeface="Telegraf"/>
              </a:rPr>
              <a:t>Tactics, Techniques &amp; Procedures</a:t>
            </a:r>
          </a:p>
        </p:txBody>
      </p:sp>
      <p:grpSp>
        <p:nvGrpSpPr>
          <p:cNvPr id="60" name="Group 7">
            <a:extLst>
              <a:ext uri="{FF2B5EF4-FFF2-40B4-BE49-F238E27FC236}">
                <a16:creationId xmlns:a16="http://schemas.microsoft.com/office/drawing/2014/main" id="{622C3C73-EB74-15CC-4629-AF4D1EDABFF5}"/>
              </a:ext>
            </a:extLst>
          </p:cNvPr>
          <p:cNvGrpSpPr/>
          <p:nvPr/>
        </p:nvGrpSpPr>
        <p:grpSpPr>
          <a:xfrm>
            <a:off x="8807549" y="6076413"/>
            <a:ext cx="3190702" cy="3118287"/>
            <a:chOff x="0" y="0"/>
            <a:chExt cx="5516210" cy="3527477"/>
          </a:xfrm>
          <a:effectLst>
            <a:glow rad="304800">
              <a:srgbClr val="8E52F5">
                <a:alpha val="35000"/>
              </a:srgbClr>
            </a:glow>
          </a:effectLst>
          <a:scene3d>
            <a:camera prst="obliqueTopRight"/>
            <a:lightRig rig="threePt" dir="t"/>
          </a:scene3d>
        </p:grpSpPr>
        <p:sp>
          <p:nvSpPr>
            <p:cNvPr id="61" name="Freeform 8">
              <a:extLst>
                <a:ext uri="{FF2B5EF4-FFF2-40B4-BE49-F238E27FC236}">
                  <a16:creationId xmlns:a16="http://schemas.microsoft.com/office/drawing/2014/main" id="{A9DC8620-8F41-0567-217C-0044B2BA15F6}"/>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62" name="TextBox 9">
              <a:extLst>
                <a:ext uri="{FF2B5EF4-FFF2-40B4-BE49-F238E27FC236}">
                  <a16:creationId xmlns:a16="http://schemas.microsoft.com/office/drawing/2014/main" id="{BE887E83-5092-EB36-7D8E-DE23B63D173F}"/>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63" name="TextBox 18">
            <a:extLst>
              <a:ext uri="{FF2B5EF4-FFF2-40B4-BE49-F238E27FC236}">
                <a16:creationId xmlns:a16="http://schemas.microsoft.com/office/drawing/2014/main" id="{9E29DF83-47BF-7DFC-80C4-6D4105B2E1E0}"/>
              </a:ext>
            </a:extLst>
          </p:cNvPr>
          <p:cNvSpPr txBox="1"/>
          <p:nvPr/>
        </p:nvSpPr>
        <p:spPr>
          <a:xfrm>
            <a:off x="9038354" y="7359160"/>
            <a:ext cx="2729089" cy="1099275"/>
          </a:xfrm>
          <a:prstGeom prst="rect">
            <a:avLst/>
          </a:prstGeom>
        </p:spPr>
        <p:txBody>
          <a:bodyPr lIns="0" tIns="0" rIns="0" bIns="0" rtlCol="0" anchor="t">
            <a:spAutoFit/>
          </a:bodyPr>
          <a:lstStyle/>
          <a:p>
            <a:pPr algn="ctr">
              <a:lnSpc>
                <a:spcPts val="1680"/>
              </a:lnSpc>
            </a:pPr>
            <a:r>
              <a:rPr lang="en-US" sz="2000" spc="-70" dirty="0">
                <a:solidFill>
                  <a:srgbClr val="FFFFFF"/>
                </a:solidFill>
                <a:latin typeface="Work Sans" pitchFamily="2" charset="0"/>
                <a:ea typeface="Telegraf"/>
                <a:cs typeface="Telegraf"/>
                <a:sym typeface="Telegraf"/>
              </a:rPr>
              <a:t>Context about the actor: nation-state, criminal group, or insider. Informs strategy.</a:t>
            </a:r>
          </a:p>
        </p:txBody>
      </p:sp>
      <p:sp>
        <p:nvSpPr>
          <p:cNvPr id="65" name="TextBox 19">
            <a:extLst>
              <a:ext uri="{FF2B5EF4-FFF2-40B4-BE49-F238E27FC236}">
                <a16:creationId xmlns:a16="http://schemas.microsoft.com/office/drawing/2014/main" id="{2C0A1CE1-03C7-9AA4-EC75-51124360FD00}"/>
              </a:ext>
            </a:extLst>
          </p:cNvPr>
          <p:cNvSpPr txBox="1"/>
          <p:nvPr/>
        </p:nvSpPr>
        <p:spPr>
          <a:xfrm>
            <a:off x="9697304" y="6322901"/>
            <a:ext cx="2264217" cy="732060"/>
          </a:xfrm>
          <a:prstGeom prst="rect">
            <a:avLst/>
          </a:prstGeom>
        </p:spPr>
        <p:txBody>
          <a:bodyPr wrap="square" lIns="0" tIns="0" rIns="0" bIns="0" rtlCol="0" anchor="t">
            <a:spAutoFit/>
          </a:bodyPr>
          <a:lstStyle/>
          <a:p>
            <a:pPr algn="l">
              <a:lnSpc>
                <a:spcPts val="2879"/>
              </a:lnSpc>
            </a:pPr>
            <a:r>
              <a:rPr lang="en-US" sz="2400" spc="-120" dirty="0">
                <a:solidFill>
                  <a:srgbClr val="FFFFFF"/>
                </a:solidFill>
                <a:latin typeface="Telegraf"/>
                <a:ea typeface="Telegraf"/>
                <a:cs typeface="Telegraf"/>
                <a:sym typeface="Telegraf"/>
              </a:rPr>
              <a:t>Attribution Information</a:t>
            </a:r>
          </a:p>
        </p:txBody>
      </p:sp>
      <p:grpSp>
        <p:nvGrpSpPr>
          <p:cNvPr id="66" name="Group 7">
            <a:extLst>
              <a:ext uri="{FF2B5EF4-FFF2-40B4-BE49-F238E27FC236}">
                <a16:creationId xmlns:a16="http://schemas.microsoft.com/office/drawing/2014/main" id="{21589D26-BD90-D594-B9B9-B51DB880F8CD}"/>
              </a:ext>
            </a:extLst>
          </p:cNvPr>
          <p:cNvGrpSpPr/>
          <p:nvPr/>
        </p:nvGrpSpPr>
        <p:grpSpPr>
          <a:xfrm>
            <a:off x="13411200" y="6107775"/>
            <a:ext cx="3190702" cy="3118287"/>
            <a:chOff x="0" y="0"/>
            <a:chExt cx="5516210" cy="3527477"/>
          </a:xfrm>
          <a:effectLst>
            <a:glow rad="304800">
              <a:srgbClr val="8E52F5">
                <a:alpha val="35000"/>
              </a:srgbClr>
            </a:glow>
          </a:effectLst>
          <a:scene3d>
            <a:camera prst="obliqueTopRight"/>
            <a:lightRig rig="threePt" dir="t"/>
          </a:scene3d>
        </p:grpSpPr>
        <p:sp>
          <p:nvSpPr>
            <p:cNvPr id="67" name="Freeform 8">
              <a:extLst>
                <a:ext uri="{FF2B5EF4-FFF2-40B4-BE49-F238E27FC236}">
                  <a16:creationId xmlns:a16="http://schemas.microsoft.com/office/drawing/2014/main" id="{5F13858D-16D3-555B-CAF2-D96DAB82AC48}"/>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68" name="TextBox 9">
              <a:extLst>
                <a:ext uri="{FF2B5EF4-FFF2-40B4-BE49-F238E27FC236}">
                  <a16:creationId xmlns:a16="http://schemas.microsoft.com/office/drawing/2014/main" id="{21FB0319-0DF7-55E5-96D0-7633660D8AA6}"/>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69" name="TextBox 18">
            <a:extLst>
              <a:ext uri="{FF2B5EF4-FFF2-40B4-BE49-F238E27FC236}">
                <a16:creationId xmlns:a16="http://schemas.microsoft.com/office/drawing/2014/main" id="{AC13258A-DE99-D1DC-FBAB-552EDDB4717E}"/>
              </a:ext>
            </a:extLst>
          </p:cNvPr>
          <p:cNvSpPr txBox="1"/>
          <p:nvPr/>
        </p:nvSpPr>
        <p:spPr>
          <a:xfrm>
            <a:off x="13519426" y="7367952"/>
            <a:ext cx="2974250" cy="1103251"/>
          </a:xfrm>
          <a:prstGeom prst="rect">
            <a:avLst/>
          </a:prstGeom>
        </p:spPr>
        <p:txBody>
          <a:bodyPr wrap="square" lIns="0" tIns="0" rIns="0" bIns="0" rtlCol="0" anchor="t">
            <a:spAutoFit/>
          </a:bodyPr>
          <a:lstStyle/>
          <a:p>
            <a:pPr algn="ctr">
              <a:lnSpc>
                <a:spcPts val="1680"/>
              </a:lnSpc>
            </a:pPr>
            <a:r>
              <a:rPr lang="en-US" sz="2000" spc="-70" dirty="0">
                <a:solidFill>
                  <a:srgbClr val="FFFFFF"/>
                </a:solidFill>
                <a:latin typeface="Work Sans" pitchFamily="2" charset="0"/>
                <a:ea typeface="Telegraf"/>
                <a:cs typeface="Telegraf"/>
                <a:sym typeface="Telegraf"/>
              </a:rPr>
              <a:t>Campaign timelines, targeted sectors, geopolitical motivations. Transforms data into intelligence.</a:t>
            </a:r>
          </a:p>
        </p:txBody>
      </p:sp>
      <p:sp>
        <p:nvSpPr>
          <p:cNvPr id="71" name="TextBox 19">
            <a:extLst>
              <a:ext uri="{FF2B5EF4-FFF2-40B4-BE49-F238E27FC236}">
                <a16:creationId xmlns:a16="http://schemas.microsoft.com/office/drawing/2014/main" id="{BD9420D1-AE36-35FA-9631-48111CF0A670}"/>
              </a:ext>
            </a:extLst>
          </p:cNvPr>
          <p:cNvSpPr txBox="1"/>
          <p:nvPr/>
        </p:nvSpPr>
        <p:spPr>
          <a:xfrm>
            <a:off x="14300955" y="6354263"/>
            <a:ext cx="2090955" cy="732060"/>
          </a:xfrm>
          <a:prstGeom prst="rect">
            <a:avLst/>
          </a:prstGeom>
        </p:spPr>
        <p:txBody>
          <a:bodyPr wrap="square" lIns="0" tIns="0" rIns="0" bIns="0" rtlCol="0" anchor="t">
            <a:spAutoFit/>
          </a:bodyPr>
          <a:lstStyle/>
          <a:p>
            <a:pPr algn="l">
              <a:lnSpc>
                <a:spcPts val="2879"/>
              </a:lnSpc>
            </a:pPr>
            <a:r>
              <a:rPr lang="en-US" sz="2400" spc="-120" dirty="0">
                <a:solidFill>
                  <a:srgbClr val="FFFFFF"/>
                </a:solidFill>
                <a:latin typeface="Telegraf"/>
                <a:ea typeface="Telegraf"/>
                <a:cs typeface="Telegraf"/>
                <a:sym typeface="Telegraf"/>
              </a:rPr>
              <a:t>Contextual Data</a:t>
            </a:r>
          </a:p>
        </p:txBody>
      </p:sp>
      <p:pic>
        <p:nvPicPr>
          <p:cNvPr id="72" name="Image 2" descr="preencoded.png">
            <a:extLst>
              <a:ext uri="{FF2B5EF4-FFF2-40B4-BE49-F238E27FC236}">
                <a16:creationId xmlns:a16="http://schemas.microsoft.com/office/drawing/2014/main" id="{E6B86CF7-C856-0BAF-80EB-865064845DFA}"/>
              </a:ext>
            </a:extLst>
          </p:cNvPr>
          <p:cNvPicPr>
            <a:picLocks noChangeAspect="1"/>
          </p:cNvPicPr>
          <p:nvPr/>
        </p:nvPicPr>
        <p:blipFill>
          <a:blip r:embed="rId6">
            <a:duotone>
              <a:prstClr val="black"/>
              <a:srgbClr val="600DB5">
                <a:tint val="45000"/>
                <a:satMod val="400000"/>
              </a:srgbClr>
            </a:duotone>
          </a:blip>
          <a:stretch>
            <a:fillRect/>
          </a:stretch>
        </p:blipFill>
        <p:spPr>
          <a:xfrm>
            <a:off x="13597882" y="2587850"/>
            <a:ext cx="597101" cy="597101"/>
          </a:xfrm>
          <a:prstGeom prst="rect">
            <a:avLst/>
          </a:prstGeom>
        </p:spPr>
      </p:pic>
      <p:pic>
        <p:nvPicPr>
          <p:cNvPr id="73" name="Image 4" descr="preencoded.png">
            <a:extLst>
              <a:ext uri="{FF2B5EF4-FFF2-40B4-BE49-F238E27FC236}">
                <a16:creationId xmlns:a16="http://schemas.microsoft.com/office/drawing/2014/main" id="{0F217B03-4BDC-E94B-A732-AB32DCD5331D}"/>
              </a:ext>
            </a:extLst>
          </p:cNvPr>
          <p:cNvPicPr>
            <a:picLocks noChangeAspect="1"/>
          </p:cNvPicPr>
          <p:nvPr/>
        </p:nvPicPr>
        <p:blipFill>
          <a:blip r:embed="rId7">
            <a:duotone>
              <a:prstClr val="black"/>
              <a:srgbClr val="600DB5">
                <a:tint val="45000"/>
                <a:satMod val="400000"/>
              </a:srgbClr>
            </a:duotone>
          </a:blip>
          <a:stretch>
            <a:fillRect/>
          </a:stretch>
        </p:blipFill>
        <p:spPr>
          <a:xfrm>
            <a:off x="13575892" y="6395017"/>
            <a:ext cx="597101" cy="597101"/>
          </a:xfrm>
          <a:prstGeom prst="rect">
            <a:avLst/>
          </a:prstGeom>
        </p:spPr>
      </p:pic>
      <p:pic>
        <p:nvPicPr>
          <p:cNvPr id="75" name="Image 3" descr="preencoded.png">
            <a:extLst>
              <a:ext uri="{FF2B5EF4-FFF2-40B4-BE49-F238E27FC236}">
                <a16:creationId xmlns:a16="http://schemas.microsoft.com/office/drawing/2014/main" id="{8892A6D8-7BF9-0DCB-CF5F-B92173880A35}"/>
              </a:ext>
            </a:extLst>
          </p:cNvPr>
          <p:cNvPicPr>
            <a:picLocks noChangeAspect="1"/>
          </p:cNvPicPr>
          <p:nvPr/>
        </p:nvPicPr>
        <p:blipFill>
          <a:blip r:embed="rId8">
            <a:duotone>
              <a:prstClr val="black"/>
              <a:srgbClr val="600DB5">
                <a:tint val="45000"/>
                <a:satMod val="400000"/>
              </a:srgbClr>
            </a:duotone>
          </a:blip>
          <a:stretch>
            <a:fillRect/>
          </a:stretch>
        </p:blipFill>
        <p:spPr>
          <a:xfrm>
            <a:off x="8983965" y="6384146"/>
            <a:ext cx="597100" cy="597100"/>
          </a:xfrm>
          <a:prstGeom prst="rect">
            <a:avLst/>
          </a:prstGeom>
        </p:spPr>
      </p:pic>
      <p:grpSp>
        <p:nvGrpSpPr>
          <p:cNvPr id="20" name="Group 4">
            <a:extLst>
              <a:ext uri="{FF2B5EF4-FFF2-40B4-BE49-F238E27FC236}">
                <a16:creationId xmlns:a16="http://schemas.microsoft.com/office/drawing/2014/main" id="{347D2298-5F81-2475-8F6D-E6782906B5EF}"/>
              </a:ext>
            </a:extLst>
          </p:cNvPr>
          <p:cNvGrpSpPr/>
          <p:nvPr/>
        </p:nvGrpSpPr>
        <p:grpSpPr>
          <a:xfrm>
            <a:off x="8559761" y="1129653"/>
            <a:ext cx="247059" cy="56998"/>
            <a:chOff x="0" y="0"/>
            <a:chExt cx="65069" cy="15012"/>
          </a:xfrm>
        </p:grpSpPr>
        <p:sp>
          <p:nvSpPr>
            <p:cNvPr id="27" name="Freeform 5">
              <a:extLst>
                <a:ext uri="{FF2B5EF4-FFF2-40B4-BE49-F238E27FC236}">
                  <a16:creationId xmlns:a16="http://schemas.microsoft.com/office/drawing/2014/main" id="{A9C7184F-9EB9-BD48-3E44-82ED429D9708}"/>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6">
              <a:extLst>
                <a:ext uri="{FF2B5EF4-FFF2-40B4-BE49-F238E27FC236}">
                  <a16:creationId xmlns:a16="http://schemas.microsoft.com/office/drawing/2014/main" id="{90B391FD-4C3C-F7BD-4907-954A59C56BA6}"/>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9" name="TextBox 13">
            <a:extLst>
              <a:ext uri="{FF2B5EF4-FFF2-40B4-BE49-F238E27FC236}">
                <a16:creationId xmlns:a16="http://schemas.microsoft.com/office/drawing/2014/main" id="{69317CE2-8AED-6964-04AF-048481CA38EF}"/>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30" name="TextBox 14">
            <a:extLst>
              <a:ext uri="{FF2B5EF4-FFF2-40B4-BE49-F238E27FC236}">
                <a16:creationId xmlns:a16="http://schemas.microsoft.com/office/drawing/2014/main" id="{006B66FB-3744-E334-368B-3EBDBC2EEEAD}"/>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32" name="TextBox 14">
            <a:extLst>
              <a:ext uri="{FF2B5EF4-FFF2-40B4-BE49-F238E27FC236}">
                <a16:creationId xmlns:a16="http://schemas.microsoft.com/office/drawing/2014/main" id="{2BACE08B-1294-DD29-F418-8B22DA37BFAA}"/>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35" name="TextBox 14">
            <a:extLst>
              <a:ext uri="{FF2B5EF4-FFF2-40B4-BE49-F238E27FC236}">
                <a16:creationId xmlns:a16="http://schemas.microsoft.com/office/drawing/2014/main" id="{63A07805-6D3F-8613-998B-32D2D7897816}"/>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1000"/>
                                        <p:tgtEl>
                                          <p:spTgt spid="34"/>
                                        </p:tgtEl>
                                      </p:cBhvr>
                                    </p:animEffect>
                                    <p:anim calcmode="lin" valueType="num">
                                      <p:cBhvr>
                                        <p:cTn id="23" dur="1000" fill="hold"/>
                                        <p:tgtEl>
                                          <p:spTgt spid="34"/>
                                        </p:tgtEl>
                                        <p:attrNameLst>
                                          <p:attrName>ppt_x</p:attrName>
                                        </p:attrNameLst>
                                      </p:cBhvr>
                                      <p:tavLst>
                                        <p:tav tm="0">
                                          <p:val>
                                            <p:strVal val="#ppt_x"/>
                                          </p:val>
                                        </p:tav>
                                        <p:tav tm="100000">
                                          <p:val>
                                            <p:strVal val="#ppt_x"/>
                                          </p:val>
                                        </p:tav>
                                      </p:tavLst>
                                    </p:anim>
                                    <p:anim calcmode="lin" valueType="num">
                                      <p:cBhvr>
                                        <p:cTn id="24" dur="1000" fill="hold"/>
                                        <p:tgtEl>
                                          <p:spTgt spid="3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1000"/>
                                        <p:tgtEl>
                                          <p:spTgt spid="57"/>
                                        </p:tgtEl>
                                      </p:cBhvr>
                                    </p:animEffect>
                                    <p:anim calcmode="lin" valueType="num">
                                      <p:cBhvr>
                                        <p:cTn id="28" dur="1000" fill="hold"/>
                                        <p:tgtEl>
                                          <p:spTgt spid="57"/>
                                        </p:tgtEl>
                                        <p:attrNameLst>
                                          <p:attrName>ppt_x</p:attrName>
                                        </p:attrNameLst>
                                      </p:cBhvr>
                                      <p:tavLst>
                                        <p:tav tm="0">
                                          <p:val>
                                            <p:strVal val="#ppt_x"/>
                                          </p:val>
                                        </p:tav>
                                        <p:tav tm="100000">
                                          <p:val>
                                            <p:strVal val="#ppt_x"/>
                                          </p:val>
                                        </p:tav>
                                      </p:tavLst>
                                    </p:anim>
                                    <p:anim calcmode="lin" valueType="num">
                                      <p:cBhvr>
                                        <p:cTn id="29" dur="1000" fill="hold"/>
                                        <p:tgtEl>
                                          <p:spTgt spid="5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1000"/>
                                        <p:tgtEl>
                                          <p:spTgt spid="59"/>
                                        </p:tgtEl>
                                      </p:cBhvr>
                                    </p:animEffect>
                                    <p:anim calcmode="lin" valueType="num">
                                      <p:cBhvr>
                                        <p:cTn id="33" dur="1000" fill="hold"/>
                                        <p:tgtEl>
                                          <p:spTgt spid="59"/>
                                        </p:tgtEl>
                                        <p:attrNameLst>
                                          <p:attrName>ppt_x</p:attrName>
                                        </p:attrNameLst>
                                      </p:cBhvr>
                                      <p:tavLst>
                                        <p:tav tm="0">
                                          <p:val>
                                            <p:strVal val="#ppt_x"/>
                                          </p:val>
                                        </p:tav>
                                        <p:tav tm="100000">
                                          <p:val>
                                            <p:strVal val="#ppt_x"/>
                                          </p:val>
                                        </p:tav>
                                      </p:tavLst>
                                    </p:anim>
                                    <p:anim calcmode="lin" valueType="num">
                                      <p:cBhvr>
                                        <p:cTn id="34" dur="1000" fill="hold"/>
                                        <p:tgtEl>
                                          <p:spTgt spid="5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1000"/>
                                        <p:tgtEl>
                                          <p:spTgt spid="72"/>
                                        </p:tgtEl>
                                      </p:cBhvr>
                                    </p:animEffect>
                                    <p:anim calcmode="lin" valueType="num">
                                      <p:cBhvr>
                                        <p:cTn id="38" dur="1000" fill="hold"/>
                                        <p:tgtEl>
                                          <p:spTgt spid="72"/>
                                        </p:tgtEl>
                                        <p:attrNameLst>
                                          <p:attrName>ppt_x</p:attrName>
                                        </p:attrNameLst>
                                      </p:cBhvr>
                                      <p:tavLst>
                                        <p:tav tm="0">
                                          <p:val>
                                            <p:strVal val="#ppt_x"/>
                                          </p:val>
                                        </p:tav>
                                        <p:tav tm="100000">
                                          <p:val>
                                            <p:strVal val="#ppt_x"/>
                                          </p:val>
                                        </p:tav>
                                      </p:tavLst>
                                    </p:anim>
                                    <p:anim calcmode="lin" valueType="num">
                                      <p:cBhvr>
                                        <p:cTn id="39" dur="1000" fill="hold"/>
                                        <p:tgtEl>
                                          <p:spTgt spid="7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1000"/>
                                        <p:tgtEl>
                                          <p:spTgt spid="54"/>
                                        </p:tgtEl>
                                      </p:cBhvr>
                                    </p:animEffect>
                                    <p:anim calcmode="lin" valueType="num">
                                      <p:cBhvr>
                                        <p:cTn id="43" dur="1000" fill="hold"/>
                                        <p:tgtEl>
                                          <p:spTgt spid="54"/>
                                        </p:tgtEl>
                                        <p:attrNameLst>
                                          <p:attrName>ppt_x</p:attrName>
                                        </p:attrNameLst>
                                      </p:cBhvr>
                                      <p:tavLst>
                                        <p:tav tm="0">
                                          <p:val>
                                            <p:strVal val="#ppt_x"/>
                                          </p:val>
                                        </p:tav>
                                        <p:tav tm="100000">
                                          <p:val>
                                            <p:strVal val="#ppt_x"/>
                                          </p:val>
                                        </p:tav>
                                      </p:tavLst>
                                    </p:anim>
                                    <p:anim calcmode="lin" valueType="num">
                                      <p:cBhvr>
                                        <p:cTn id="44" dur="1000" fill="hold"/>
                                        <p:tgtEl>
                                          <p:spTgt spid="54"/>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fade">
                                      <p:cBhvr>
                                        <p:cTn id="47" dur="1000"/>
                                        <p:tgtEl>
                                          <p:spTgt spid="69"/>
                                        </p:tgtEl>
                                      </p:cBhvr>
                                    </p:animEffect>
                                    <p:anim calcmode="lin" valueType="num">
                                      <p:cBhvr>
                                        <p:cTn id="48" dur="1000" fill="hold"/>
                                        <p:tgtEl>
                                          <p:spTgt spid="69"/>
                                        </p:tgtEl>
                                        <p:attrNameLst>
                                          <p:attrName>ppt_x</p:attrName>
                                        </p:attrNameLst>
                                      </p:cBhvr>
                                      <p:tavLst>
                                        <p:tav tm="0">
                                          <p:val>
                                            <p:strVal val="#ppt_x"/>
                                          </p:val>
                                        </p:tav>
                                        <p:tav tm="100000">
                                          <p:val>
                                            <p:strVal val="#ppt_x"/>
                                          </p:val>
                                        </p:tav>
                                      </p:tavLst>
                                    </p:anim>
                                    <p:anim calcmode="lin" valueType="num">
                                      <p:cBhvr>
                                        <p:cTn id="49" dur="1000" fill="hold"/>
                                        <p:tgtEl>
                                          <p:spTgt spid="6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fade">
                                      <p:cBhvr>
                                        <p:cTn id="52" dur="1000"/>
                                        <p:tgtEl>
                                          <p:spTgt spid="71"/>
                                        </p:tgtEl>
                                      </p:cBhvr>
                                    </p:animEffect>
                                    <p:anim calcmode="lin" valueType="num">
                                      <p:cBhvr>
                                        <p:cTn id="53" dur="1000" fill="hold"/>
                                        <p:tgtEl>
                                          <p:spTgt spid="71"/>
                                        </p:tgtEl>
                                        <p:attrNameLst>
                                          <p:attrName>ppt_x</p:attrName>
                                        </p:attrNameLst>
                                      </p:cBhvr>
                                      <p:tavLst>
                                        <p:tav tm="0">
                                          <p:val>
                                            <p:strVal val="#ppt_x"/>
                                          </p:val>
                                        </p:tav>
                                        <p:tav tm="100000">
                                          <p:val>
                                            <p:strVal val="#ppt_x"/>
                                          </p:val>
                                        </p:tav>
                                      </p:tavLst>
                                    </p:anim>
                                    <p:anim calcmode="lin" valueType="num">
                                      <p:cBhvr>
                                        <p:cTn id="54" dur="1000" fill="hold"/>
                                        <p:tgtEl>
                                          <p:spTgt spid="7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fade">
                                      <p:cBhvr>
                                        <p:cTn id="57" dur="1000"/>
                                        <p:tgtEl>
                                          <p:spTgt spid="73"/>
                                        </p:tgtEl>
                                      </p:cBhvr>
                                    </p:animEffect>
                                    <p:anim calcmode="lin" valueType="num">
                                      <p:cBhvr>
                                        <p:cTn id="58" dur="1000" fill="hold"/>
                                        <p:tgtEl>
                                          <p:spTgt spid="73"/>
                                        </p:tgtEl>
                                        <p:attrNameLst>
                                          <p:attrName>ppt_x</p:attrName>
                                        </p:attrNameLst>
                                      </p:cBhvr>
                                      <p:tavLst>
                                        <p:tav tm="0">
                                          <p:val>
                                            <p:strVal val="#ppt_x"/>
                                          </p:val>
                                        </p:tav>
                                        <p:tav tm="100000">
                                          <p:val>
                                            <p:strVal val="#ppt_x"/>
                                          </p:val>
                                        </p:tav>
                                      </p:tavLst>
                                    </p:anim>
                                    <p:anim calcmode="lin" valueType="num">
                                      <p:cBhvr>
                                        <p:cTn id="59" dur="1000" fill="hold"/>
                                        <p:tgtEl>
                                          <p:spTgt spid="7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1000"/>
                                        <p:tgtEl>
                                          <p:spTgt spid="66"/>
                                        </p:tgtEl>
                                      </p:cBhvr>
                                    </p:animEffect>
                                    <p:anim calcmode="lin" valueType="num">
                                      <p:cBhvr>
                                        <p:cTn id="63" dur="1000" fill="hold"/>
                                        <p:tgtEl>
                                          <p:spTgt spid="66"/>
                                        </p:tgtEl>
                                        <p:attrNameLst>
                                          <p:attrName>ppt_x</p:attrName>
                                        </p:attrNameLst>
                                      </p:cBhvr>
                                      <p:tavLst>
                                        <p:tav tm="0">
                                          <p:val>
                                            <p:strVal val="#ppt_x"/>
                                          </p:val>
                                        </p:tav>
                                        <p:tav tm="100000">
                                          <p:val>
                                            <p:strVal val="#ppt_x"/>
                                          </p:val>
                                        </p:tav>
                                      </p:tavLst>
                                    </p:anim>
                                    <p:anim calcmode="lin" valueType="num">
                                      <p:cBhvr>
                                        <p:cTn id="64" dur="1000" fill="hold"/>
                                        <p:tgtEl>
                                          <p:spTgt spid="66"/>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75"/>
                                        </p:tgtEl>
                                        <p:attrNameLst>
                                          <p:attrName>style.visibility</p:attrName>
                                        </p:attrNameLst>
                                      </p:cBhvr>
                                      <p:to>
                                        <p:strVal val="visible"/>
                                      </p:to>
                                    </p:set>
                                    <p:animEffect transition="in" filter="fade">
                                      <p:cBhvr>
                                        <p:cTn id="67" dur="1000"/>
                                        <p:tgtEl>
                                          <p:spTgt spid="75"/>
                                        </p:tgtEl>
                                      </p:cBhvr>
                                    </p:animEffect>
                                    <p:anim calcmode="lin" valueType="num">
                                      <p:cBhvr>
                                        <p:cTn id="68" dur="1000" fill="hold"/>
                                        <p:tgtEl>
                                          <p:spTgt spid="75"/>
                                        </p:tgtEl>
                                        <p:attrNameLst>
                                          <p:attrName>ppt_x</p:attrName>
                                        </p:attrNameLst>
                                      </p:cBhvr>
                                      <p:tavLst>
                                        <p:tav tm="0">
                                          <p:val>
                                            <p:strVal val="#ppt_x"/>
                                          </p:val>
                                        </p:tav>
                                        <p:tav tm="100000">
                                          <p:val>
                                            <p:strVal val="#ppt_x"/>
                                          </p:val>
                                        </p:tav>
                                      </p:tavLst>
                                    </p:anim>
                                    <p:anim calcmode="lin" valueType="num">
                                      <p:cBhvr>
                                        <p:cTn id="69" dur="1000" fill="hold"/>
                                        <p:tgtEl>
                                          <p:spTgt spid="7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5"/>
                                        </p:tgtEl>
                                        <p:attrNameLst>
                                          <p:attrName>style.visibility</p:attrName>
                                        </p:attrNameLst>
                                      </p:cBhvr>
                                      <p:to>
                                        <p:strVal val="visible"/>
                                      </p:to>
                                    </p:set>
                                    <p:animEffect transition="in" filter="fade">
                                      <p:cBhvr>
                                        <p:cTn id="72" dur="1000"/>
                                        <p:tgtEl>
                                          <p:spTgt spid="65"/>
                                        </p:tgtEl>
                                      </p:cBhvr>
                                    </p:animEffect>
                                    <p:anim calcmode="lin" valueType="num">
                                      <p:cBhvr>
                                        <p:cTn id="73" dur="1000" fill="hold"/>
                                        <p:tgtEl>
                                          <p:spTgt spid="65"/>
                                        </p:tgtEl>
                                        <p:attrNameLst>
                                          <p:attrName>ppt_x</p:attrName>
                                        </p:attrNameLst>
                                      </p:cBhvr>
                                      <p:tavLst>
                                        <p:tav tm="0">
                                          <p:val>
                                            <p:strVal val="#ppt_x"/>
                                          </p:val>
                                        </p:tav>
                                        <p:tav tm="100000">
                                          <p:val>
                                            <p:strVal val="#ppt_x"/>
                                          </p:val>
                                        </p:tav>
                                      </p:tavLst>
                                    </p:anim>
                                    <p:anim calcmode="lin" valueType="num">
                                      <p:cBhvr>
                                        <p:cTn id="74" dur="1000" fill="hold"/>
                                        <p:tgtEl>
                                          <p:spTgt spid="6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63"/>
                                        </p:tgtEl>
                                        <p:attrNameLst>
                                          <p:attrName>style.visibility</p:attrName>
                                        </p:attrNameLst>
                                      </p:cBhvr>
                                      <p:to>
                                        <p:strVal val="visible"/>
                                      </p:to>
                                    </p:set>
                                    <p:animEffect transition="in" filter="fade">
                                      <p:cBhvr>
                                        <p:cTn id="77" dur="1000"/>
                                        <p:tgtEl>
                                          <p:spTgt spid="63"/>
                                        </p:tgtEl>
                                      </p:cBhvr>
                                    </p:animEffect>
                                    <p:anim calcmode="lin" valueType="num">
                                      <p:cBhvr>
                                        <p:cTn id="78" dur="1000" fill="hold"/>
                                        <p:tgtEl>
                                          <p:spTgt spid="63"/>
                                        </p:tgtEl>
                                        <p:attrNameLst>
                                          <p:attrName>ppt_x</p:attrName>
                                        </p:attrNameLst>
                                      </p:cBhvr>
                                      <p:tavLst>
                                        <p:tav tm="0">
                                          <p:val>
                                            <p:strVal val="#ppt_x"/>
                                          </p:val>
                                        </p:tav>
                                        <p:tav tm="100000">
                                          <p:val>
                                            <p:strVal val="#ppt_x"/>
                                          </p:val>
                                        </p:tav>
                                      </p:tavLst>
                                    </p:anim>
                                    <p:anim calcmode="lin" valueType="num">
                                      <p:cBhvr>
                                        <p:cTn id="79" dur="1000" fill="hold"/>
                                        <p:tgtEl>
                                          <p:spTgt spid="63"/>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1000"/>
                                        <p:tgtEl>
                                          <p:spTgt spid="60"/>
                                        </p:tgtEl>
                                      </p:cBhvr>
                                    </p:animEffect>
                                    <p:anim calcmode="lin" valueType="num">
                                      <p:cBhvr>
                                        <p:cTn id="83" dur="1000" fill="hold"/>
                                        <p:tgtEl>
                                          <p:spTgt spid="60"/>
                                        </p:tgtEl>
                                        <p:attrNameLst>
                                          <p:attrName>ppt_x</p:attrName>
                                        </p:attrNameLst>
                                      </p:cBhvr>
                                      <p:tavLst>
                                        <p:tav tm="0">
                                          <p:val>
                                            <p:strVal val="#ppt_x"/>
                                          </p:val>
                                        </p:tav>
                                        <p:tav tm="100000">
                                          <p:val>
                                            <p:strVal val="#ppt_x"/>
                                          </p:val>
                                        </p:tav>
                                      </p:tavLst>
                                    </p:anim>
                                    <p:anim calcmode="lin" valueType="num">
                                      <p:cBhvr>
                                        <p:cTn id="8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1" grpId="0"/>
      <p:bldP spid="57" grpId="0"/>
      <p:bldP spid="59" grpId="0"/>
      <p:bldP spid="63" grpId="0"/>
      <p:bldP spid="65" grpId="0"/>
      <p:bldP spid="69" grpId="0"/>
      <p:bldP spid="7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3" name="Freeform 3"/>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6" name="TextBox 16"/>
          <p:cNvSpPr txBox="1"/>
          <p:nvPr/>
        </p:nvSpPr>
        <p:spPr>
          <a:xfrm>
            <a:off x="1028700" y="7593738"/>
            <a:ext cx="9315174" cy="1882155"/>
          </a:xfrm>
          <a:prstGeom prst="rect">
            <a:avLst/>
          </a:prstGeom>
        </p:spPr>
        <p:txBody>
          <a:bodyPr lIns="0" tIns="0" rIns="0" bIns="0" rtlCol="0" anchor="t">
            <a:spAutoFit/>
          </a:bodyPr>
          <a:lstStyle/>
          <a:p>
            <a:pPr algn="l">
              <a:lnSpc>
                <a:spcPts val="7102"/>
              </a:lnSpc>
            </a:pPr>
            <a:r>
              <a:rPr lang="en-US" sz="8557"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Why CTI Matters</a:t>
            </a:r>
          </a:p>
        </p:txBody>
      </p:sp>
      <p:sp>
        <p:nvSpPr>
          <p:cNvPr id="17" name="TextBox 17"/>
          <p:cNvSpPr txBox="1"/>
          <p:nvPr/>
        </p:nvSpPr>
        <p:spPr>
          <a:xfrm>
            <a:off x="1367274" y="4909429"/>
            <a:ext cx="5643126" cy="644151"/>
          </a:xfrm>
          <a:prstGeom prst="rect">
            <a:avLst/>
          </a:prstGeom>
        </p:spPr>
        <p:txBody>
          <a:bodyPr wrap="square" lIns="0" tIns="0" rIns="0" bIns="0" rtlCol="0" anchor="t">
            <a:spAutoFit/>
          </a:bodyPr>
          <a:lstStyle/>
          <a:p>
            <a:pPr>
              <a:lnSpc>
                <a:spcPts val="1680"/>
              </a:lnSpc>
            </a:pPr>
            <a:r>
              <a:rPr lang="en-US" sz="1400" i="1" spc="-70" dirty="0">
                <a:solidFill>
                  <a:srgbClr val="FFFFFF"/>
                </a:solidFill>
                <a:latin typeface="Work Sans" pitchFamily="2" charset="0"/>
                <a:ea typeface="Telegraf"/>
                <a:cs typeface="Telegraf"/>
                <a:sym typeface="Telegraf"/>
              </a:rPr>
              <a:t>Organizations that operationalize CTI gain a significant and compounding advantage, measurable in detection speed, response quality, resource efficiency, and resilience.</a:t>
            </a:r>
          </a:p>
        </p:txBody>
      </p:sp>
      <p:sp>
        <p:nvSpPr>
          <p:cNvPr id="19" name="Freeform 19"/>
          <p:cNvSpPr/>
          <p:nvPr/>
        </p:nvSpPr>
        <p:spPr>
          <a:xfrm>
            <a:off x="1028700" y="6778267"/>
            <a:ext cx="545801" cy="480305"/>
          </a:xfrm>
          <a:custGeom>
            <a:avLst/>
            <a:gdLst/>
            <a:ahLst/>
            <a:cxnLst/>
            <a:rect l="l" t="t" r="r" b="b"/>
            <a:pathLst>
              <a:path w="545801" h="480305">
                <a:moveTo>
                  <a:pt x="0" y="0"/>
                </a:moveTo>
                <a:lnTo>
                  <a:pt x="545801" y="0"/>
                </a:lnTo>
                <a:lnTo>
                  <a:pt x="545801" y="480304"/>
                </a:lnTo>
                <a:lnTo>
                  <a:pt x="0" y="4803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pic>
        <p:nvPicPr>
          <p:cNvPr id="22" name="Image 0" descr="/home/claude/cygnus_logo.png">
            <a:extLst>
              <a:ext uri="{FF2B5EF4-FFF2-40B4-BE49-F238E27FC236}">
                <a16:creationId xmlns:a16="http://schemas.microsoft.com/office/drawing/2014/main" id="{26DE9D67-4EE5-8585-2E1E-5900B0E156F9}"/>
              </a:ext>
            </a:extLst>
          </p:cNvPr>
          <p:cNvPicPr>
            <a:picLocks noChangeAspect="1"/>
          </p:cNvPicPr>
          <p:nvPr/>
        </p:nvPicPr>
        <p:blipFill>
          <a:blip r:embed="rId4"/>
          <a:stretch>
            <a:fillRect/>
          </a:stretch>
        </p:blipFill>
        <p:spPr>
          <a:xfrm>
            <a:off x="651199" y="502921"/>
            <a:ext cx="1330002" cy="266000"/>
          </a:xfrm>
          <a:prstGeom prst="rect">
            <a:avLst/>
          </a:prstGeom>
        </p:spPr>
      </p:pic>
      <p:sp>
        <p:nvSpPr>
          <p:cNvPr id="24" name="Freeform 10">
            <a:extLst>
              <a:ext uri="{FF2B5EF4-FFF2-40B4-BE49-F238E27FC236}">
                <a16:creationId xmlns:a16="http://schemas.microsoft.com/office/drawing/2014/main" id="{381D7056-10B4-0F0B-A9AF-2418A5DAA323}"/>
              </a:ext>
            </a:extLst>
          </p:cNvPr>
          <p:cNvSpPr/>
          <p:nvPr/>
        </p:nvSpPr>
        <p:spPr>
          <a:xfrm>
            <a:off x="1271292" y="2387461"/>
            <a:ext cx="5739108" cy="2222639"/>
          </a:xfrm>
          <a:custGeom>
            <a:avLst/>
            <a:gdLst/>
            <a:ahLst/>
            <a:cxnLst/>
            <a:rect l="l" t="t" r="r" b="b"/>
            <a:pathLst>
              <a:path w="6338452" h="2723760">
                <a:moveTo>
                  <a:pt x="6178432" y="0"/>
                </a:moveTo>
                <a:lnTo>
                  <a:pt x="160020" y="0"/>
                </a:lnTo>
                <a:lnTo>
                  <a:pt x="0" y="160020"/>
                </a:lnTo>
                <a:lnTo>
                  <a:pt x="0" y="2563740"/>
                </a:lnTo>
                <a:lnTo>
                  <a:pt x="160020" y="2723760"/>
                </a:lnTo>
                <a:lnTo>
                  <a:pt x="6178432" y="2723760"/>
                </a:lnTo>
                <a:lnTo>
                  <a:pt x="6338452" y="2563740"/>
                </a:lnTo>
                <a:lnTo>
                  <a:pt x="6338452" y="160020"/>
                </a:lnTo>
                <a:lnTo>
                  <a:pt x="6178432" y="0"/>
                </a:lnTo>
                <a:close/>
              </a:path>
            </a:pathLst>
          </a:custGeom>
          <a:solidFill>
            <a:srgbClr val="242425"/>
          </a:solidFill>
          <a:ln w="9525" cap="sq">
            <a:solidFill>
              <a:srgbClr val="5E3587"/>
            </a:solidFill>
            <a:prstDash val="solid"/>
            <a:miter/>
          </a:ln>
        </p:spPr>
        <p:txBody>
          <a:bodyPr/>
          <a:lstStyle/>
          <a:p>
            <a:endParaRPr lang="en-US" dirty="0"/>
          </a:p>
        </p:txBody>
      </p:sp>
      <p:sp>
        <p:nvSpPr>
          <p:cNvPr id="18" name="TextBox 18"/>
          <p:cNvSpPr txBox="1"/>
          <p:nvPr/>
        </p:nvSpPr>
        <p:spPr>
          <a:xfrm>
            <a:off x="1556916" y="2589839"/>
            <a:ext cx="5626242" cy="1969770"/>
          </a:xfrm>
          <a:prstGeom prst="rect">
            <a:avLst/>
          </a:prstGeom>
        </p:spPr>
        <p:txBody>
          <a:bodyPr wrap="square" lIns="0" tIns="0" rIns="0" bIns="0" rtlCol="0" anchor="t">
            <a:spAutoFit/>
          </a:bodyPr>
          <a:lstStyle/>
          <a:p>
            <a:r>
              <a:rPr lang="en-US" sz="3200" b="1" i="1"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Telegraf" panose="020B0604020202020204" charset="0"/>
                <a:ea typeface="Calibri" pitchFamily="34" charset="-122"/>
                <a:cs typeface="Calibri" pitchFamily="34" charset="-120"/>
              </a:rPr>
              <a:t>"CTI is a force multiplier.</a:t>
            </a:r>
            <a:endParaRPr lang="en-US" sz="3200"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Telegraf" panose="020B0604020202020204" charset="0"/>
            </a:endParaRPr>
          </a:p>
          <a:p>
            <a:r>
              <a:rPr lang="en-US" sz="3200" b="1" i="1"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Telegraf" panose="020B0604020202020204" charset="0"/>
                <a:ea typeface="Calibri" pitchFamily="34" charset="-122"/>
                <a:cs typeface="Calibri" pitchFamily="34" charset="-120"/>
              </a:rPr>
              <a:t>It adds value across the entire</a:t>
            </a:r>
            <a:r>
              <a:rPr lang="en-US" sz="3200"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Telegraf" panose="020B0604020202020204" charset="0"/>
              </a:rPr>
              <a:t> </a:t>
            </a:r>
            <a:r>
              <a:rPr lang="en-US" sz="3200" b="1" i="1"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Telegraf" panose="020B0604020202020204" charset="0"/>
                <a:ea typeface="Calibri" pitchFamily="34" charset="-122"/>
                <a:cs typeface="Calibri" pitchFamily="34" charset="-120"/>
              </a:rPr>
              <a:t>Cyber Defense Lifecycle."</a:t>
            </a:r>
            <a:endParaRPr lang="en-US" sz="3200" dirty="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atin typeface="Telegraf" panose="020B0604020202020204" charset="0"/>
            </a:endParaRPr>
          </a:p>
        </p:txBody>
      </p:sp>
      <p:grpSp>
        <p:nvGrpSpPr>
          <p:cNvPr id="25" name="Group 7">
            <a:extLst>
              <a:ext uri="{FF2B5EF4-FFF2-40B4-BE49-F238E27FC236}">
                <a16:creationId xmlns:a16="http://schemas.microsoft.com/office/drawing/2014/main" id="{DFA2F735-EBD1-51CB-6104-D423D8C3956B}"/>
              </a:ext>
            </a:extLst>
          </p:cNvPr>
          <p:cNvGrpSpPr/>
          <p:nvPr/>
        </p:nvGrpSpPr>
        <p:grpSpPr>
          <a:xfrm>
            <a:off x="7954598" y="2484371"/>
            <a:ext cx="4438542" cy="1369621"/>
            <a:chOff x="0" y="0"/>
            <a:chExt cx="5516210" cy="3527477"/>
          </a:xfrm>
          <a:effectLst>
            <a:glow rad="304800">
              <a:srgbClr val="8E52F5">
                <a:alpha val="25000"/>
              </a:srgbClr>
            </a:glow>
          </a:effectLst>
        </p:grpSpPr>
        <p:sp>
          <p:nvSpPr>
            <p:cNvPr id="26" name="Freeform 8">
              <a:extLst>
                <a:ext uri="{FF2B5EF4-FFF2-40B4-BE49-F238E27FC236}">
                  <a16:creationId xmlns:a16="http://schemas.microsoft.com/office/drawing/2014/main" id="{D8AF82EC-6CDE-EF85-953A-98D2C5A2A278}"/>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27" name="TextBox 9">
              <a:extLst>
                <a:ext uri="{FF2B5EF4-FFF2-40B4-BE49-F238E27FC236}">
                  <a16:creationId xmlns:a16="http://schemas.microsoft.com/office/drawing/2014/main" id="{75798D87-B57F-3650-323A-766797D82084}"/>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28" name="Text 11">
            <a:extLst>
              <a:ext uri="{FF2B5EF4-FFF2-40B4-BE49-F238E27FC236}">
                <a16:creationId xmlns:a16="http://schemas.microsoft.com/office/drawing/2014/main" id="{73A5446E-9530-4BEB-06B3-AB3D85EEA1F9}"/>
              </a:ext>
            </a:extLst>
          </p:cNvPr>
          <p:cNvSpPr/>
          <p:nvPr/>
        </p:nvSpPr>
        <p:spPr>
          <a:xfrm>
            <a:off x="8091667" y="2535085"/>
            <a:ext cx="3785575" cy="412861"/>
          </a:xfrm>
          <a:prstGeom prst="rect">
            <a:avLst/>
          </a:prstGeom>
          <a:noFill/>
          <a:ln/>
        </p:spPr>
        <p:txBody>
          <a:bodyPr wrap="square" rtlCol="0" anchor="ctr"/>
          <a:lstStyle/>
          <a:p>
            <a:pPr marL="0" indent="0">
              <a:buNone/>
            </a:pPr>
            <a:r>
              <a:rPr lang="en-US" sz="2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Reduces Breach Costs</a:t>
            </a:r>
            <a:endParaRPr lang="en-US" sz="2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ndParaRPr>
          </a:p>
        </p:txBody>
      </p:sp>
      <p:sp>
        <p:nvSpPr>
          <p:cNvPr id="30" name="TextBox 17">
            <a:extLst>
              <a:ext uri="{FF2B5EF4-FFF2-40B4-BE49-F238E27FC236}">
                <a16:creationId xmlns:a16="http://schemas.microsoft.com/office/drawing/2014/main" id="{ABBC204D-071A-9A52-1932-FA51F739ED5B}"/>
              </a:ext>
            </a:extLst>
          </p:cNvPr>
          <p:cNvSpPr txBox="1"/>
          <p:nvPr/>
        </p:nvSpPr>
        <p:spPr>
          <a:xfrm>
            <a:off x="8163480" y="2979363"/>
            <a:ext cx="3631702" cy="656911"/>
          </a:xfrm>
          <a:prstGeom prst="rect">
            <a:avLst/>
          </a:prstGeom>
        </p:spPr>
        <p:txBody>
          <a:bodyPr wrap="square" lIns="0" tIns="0" rIns="0" bIns="0" rtlCol="0" anchor="t">
            <a:spAutoFit/>
          </a:bodyPr>
          <a:lstStyle/>
          <a:p>
            <a:pPr>
              <a:lnSpc>
                <a:spcPts val="1680"/>
              </a:lnSpc>
            </a:pPr>
            <a:r>
              <a:rPr lang="en-US" i="1" spc="-70" dirty="0">
                <a:solidFill>
                  <a:srgbClr val="FFFFFF"/>
                </a:solidFill>
                <a:latin typeface="Work Sans" pitchFamily="2" charset="0"/>
                <a:ea typeface="Telegraf"/>
                <a:cs typeface="Telegraf"/>
                <a:sym typeface="Telegraf"/>
              </a:rPr>
              <a:t>Faster detection and containment reduces dwell time and remediation costs.</a:t>
            </a:r>
          </a:p>
        </p:txBody>
      </p:sp>
      <p:grpSp>
        <p:nvGrpSpPr>
          <p:cNvPr id="31" name="Group 7">
            <a:extLst>
              <a:ext uri="{FF2B5EF4-FFF2-40B4-BE49-F238E27FC236}">
                <a16:creationId xmlns:a16="http://schemas.microsoft.com/office/drawing/2014/main" id="{5C5BF9C4-28EE-B342-49EE-56A5B40AC482}"/>
              </a:ext>
            </a:extLst>
          </p:cNvPr>
          <p:cNvGrpSpPr/>
          <p:nvPr/>
        </p:nvGrpSpPr>
        <p:grpSpPr>
          <a:xfrm>
            <a:off x="7954598" y="5140342"/>
            <a:ext cx="4438542" cy="1369621"/>
            <a:chOff x="0" y="0"/>
            <a:chExt cx="5516210" cy="3527477"/>
          </a:xfrm>
          <a:effectLst>
            <a:glow rad="304800">
              <a:srgbClr val="8E52F5">
                <a:alpha val="25000"/>
              </a:srgbClr>
            </a:glow>
          </a:effectLst>
        </p:grpSpPr>
        <p:sp>
          <p:nvSpPr>
            <p:cNvPr id="32" name="Freeform 8">
              <a:extLst>
                <a:ext uri="{FF2B5EF4-FFF2-40B4-BE49-F238E27FC236}">
                  <a16:creationId xmlns:a16="http://schemas.microsoft.com/office/drawing/2014/main" id="{1BA759E1-BDFB-95A5-85C8-FF5635933ACD}"/>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33" name="TextBox 9">
              <a:extLst>
                <a:ext uri="{FF2B5EF4-FFF2-40B4-BE49-F238E27FC236}">
                  <a16:creationId xmlns:a16="http://schemas.microsoft.com/office/drawing/2014/main" id="{8430E6BF-B853-65C0-C5FE-07518BC32D74}"/>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34" name="Text 11">
            <a:extLst>
              <a:ext uri="{FF2B5EF4-FFF2-40B4-BE49-F238E27FC236}">
                <a16:creationId xmlns:a16="http://schemas.microsoft.com/office/drawing/2014/main" id="{26D7150E-934A-8183-91BD-BAA2DD875564}"/>
              </a:ext>
            </a:extLst>
          </p:cNvPr>
          <p:cNvSpPr/>
          <p:nvPr/>
        </p:nvSpPr>
        <p:spPr>
          <a:xfrm>
            <a:off x="8139046" y="5286388"/>
            <a:ext cx="3789206" cy="412861"/>
          </a:xfrm>
          <a:prstGeom prst="rect">
            <a:avLst/>
          </a:prstGeom>
          <a:noFill/>
          <a:ln/>
        </p:spPr>
        <p:txBody>
          <a:bodyPr wrap="square" rtlCol="0" anchor="ctr"/>
          <a:lstStyle/>
          <a:p>
            <a:pPr marL="0" indent="0">
              <a:buNone/>
            </a:pPr>
            <a:r>
              <a:rPr lang="en-US" sz="2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Improves SOC Efficiency</a:t>
            </a:r>
          </a:p>
        </p:txBody>
      </p:sp>
      <p:sp>
        <p:nvSpPr>
          <p:cNvPr id="35" name="TextBox 17">
            <a:extLst>
              <a:ext uri="{FF2B5EF4-FFF2-40B4-BE49-F238E27FC236}">
                <a16:creationId xmlns:a16="http://schemas.microsoft.com/office/drawing/2014/main" id="{A1B57334-814F-37F1-06DF-A974FFC3E6AB}"/>
              </a:ext>
            </a:extLst>
          </p:cNvPr>
          <p:cNvSpPr txBox="1"/>
          <p:nvPr/>
        </p:nvSpPr>
        <p:spPr>
          <a:xfrm>
            <a:off x="8139046" y="5798547"/>
            <a:ext cx="3631702" cy="438903"/>
          </a:xfrm>
          <a:prstGeom prst="rect">
            <a:avLst/>
          </a:prstGeom>
        </p:spPr>
        <p:txBody>
          <a:bodyPr wrap="square" lIns="0" tIns="0" rIns="0" bIns="0" rtlCol="0" anchor="t">
            <a:spAutoFit/>
          </a:bodyPr>
          <a:lstStyle/>
          <a:p>
            <a:pPr>
              <a:lnSpc>
                <a:spcPts val="1680"/>
              </a:lnSpc>
            </a:pPr>
            <a:r>
              <a:rPr lang="en-US" i="1" spc="-70" dirty="0">
                <a:solidFill>
                  <a:srgbClr val="FFFFFF"/>
                </a:solidFill>
                <a:latin typeface="Work Sans" pitchFamily="2" charset="0"/>
                <a:ea typeface="Telegraf"/>
                <a:cs typeface="Telegraf"/>
                <a:sym typeface="Telegraf"/>
              </a:rPr>
              <a:t>Filtering low-confidence indicators reduces alert fatigue.</a:t>
            </a:r>
          </a:p>
        </p:txBody>
      </p:sp>
      <p:grpSp>
        <p:nvGrpSpPr>
          <p:cNvPr id="36" name="Group 7">
            <a:extLst>
              <a:ext uri="{FF2B5EF4-FFF2-40B4-BE49-F238E27FC236}">
                <a16:creationId xmlns:a16="http://schemas.microsoft.com/office/drawing/2014/main" id="{308D44A1-D723-EEFC-E521-D72C5BF83C9D}"/>
              </a:ext>
            </a:extLst>
          </p:cNvPr>
          <p:cNvGrpSpPr/>
          <p:nvPr/>
        </p:nvGrpSpPr>
        <p:grpSpPr>
          <a:xfrm>
            <a:off x="13487400" y="2488276"/>
            <a:ext cx="4438542" cy="1369621"/>
            <a:chOff x="0" y="0"/>
            <a:chExt cx="5516210" cy="3527477"/>
          </a:xfrm>
          <a:effectLst>
            <a:glow rad="304800">
              <a:srgbClr val="8E52F5">
                <a:alpha val="25000"/>
              </a:srgbClr>
            </a:glow>
          </a:effectLst>
        </p:grpSpPr>
        <p:sp>
          <p:nvSpPr>
            <p:cNvPr id="37" name="Freeform 8">
              <a:extLst>
                <a:ext uri="{FF2B5EF4-FFF2-40B4-BE49-F238E27FC236}">
                  <a16:creationId xmlns:a16="http://schemas.microsoft.com/office/drawing/2014/main" id="{D731AC8E-F620-FA46-C7F3-BA16663CE288}"/>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38" name="TextBox 9">
              <a:extLst>
                <a:ext uri="{FF2B5EF4-FFF2-40B4-BE49-F238E27FC236}">
                  <a16:creationId xmlns:a16="http://schemas.microsoft.com/office/drawing/2014/main" id="{AA98524B-4BE7-3609-1F2C-45938BAD2887}"/>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39" name="Text 11">
            <a:extLst>
              <a:ext uri="{FF2B5EF4-FFF2-40B4-BE49-F238E27FC236}">
                <a16:creationId xmlns:a16="http://schemas.microsoft.com/office/drawing/2014/main" id="{60475691-C571-76D7-65C4-9506A1598C28}"/>
              </a:ext>
            </a:extLst>
          </p:cNvPr>
          <p:cNvSpPr/>
          <p:nvPr/>
        </p:nvSpPr>
        <p:spPr>
          <a:xfrm>
            <a:off x="13657429" y="2580756"/>
            <a:ext cx="4191276" cy="412861"/>
          </a:xfrm>
          <a:prstGeom prst="rect">
            <a:avLst/>
          </a:prstGeom>
          <a:noFill/>
          <a:ln/>
        </p:spPr>
        <p:txBody>
          <a:bodyPr wrap="square" rtlCol="0" anchor="ctr"/>
          <a:lstStyle/>
          <a:p>
            <a:pPr marL="0" indent="0">
              <a:buNone/>
            </a:pPr>
            <a:r>
              <a:rPr lang="en-US" sz="2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Speeds Detection &amp; Response</a:t>
            </a:r>
          </a:p>
        </p:txBody>
      </p:sp>
      <p:sp>
        <p:nvSpPr>
          <p:cNvPr id="40" name="TextBox 17">
            <a:extLst>
              <a:ext uri="{FF2B5EF4-FFF2-40B4-BE49-F238E27FC236}">
                <a16:creationId xmlns:a16="http://schemas.microsoft.com/office/drawing/2014/main" id="{1F8F22A6-CE85-D8DF-6E66-08B2D4FF87C6}"/>
              </a:ext>
            </a:extLst>
          </p:cNvPr>
          <p:cNvSpPr txBox="1"/>
          <p:nvPr/>
        </p:nvSpPr>
        <p:spPr>
          <a:xfrm>
            <a:off x="13704764" y="3059877"/>
            <a:ext cx="3631702" cy="438903"/>
          </a:xfrm>
          <a:prstGeom prst="rect">
            <a:avLst/>
          </a:prstGeom>
        </p:spPr>
        <p:txBody>
          <a:bodyPr wrap="square" lIns="0" tIns="0" rIns="0" bIns="0" rtlCol="0" anchor="t">
            <a:spAutoFit/>
          </a:bodyPr>
          <a:lstStyle/>
          <a:p>
            <a:pPr>
              <a:lnSpc>
                <a:spcPts val="1680"/>
              </a:lnSpc>
            </a:pPr>
            <a:r>
              <a:rPr lang="en-US" i="1" spc="-70" dirty="0">
                <a:solidFill>
                  <a:srgbClr val="FFFFFF"/>
                </a:solidFill>
                <a:latin typeface="Work Sans" pitchFamily="2" charset="0"/>
                <a:ea typeface="Telegraf"/>
                <a:cs typeface="Telegraf"/>
                <a:sym typeface="Telegraf"/>
              </a:rPr>
              <a:t>CTI enriches alerts with context at triage, reducing investigation time.</a:t>
            </a:r>
          </a:p>
        </p:txBody>
      </p:sp>
      <p:grpSp>
        <p:nvGrpSpPr>
          <p:cNvPr id="41" name="Group 7">
            <a:extLst>
              <a:ext uri="{FF2B5EF4-FFF2-40B4-BE49-F238E27FC236}">
                <a16:creationId xmlns:a16="http://schemas.microsoft.com/office/drawing/2014/main" id="{D9E8700B-BAB8-FA2D-E82E-48C64AF8397F}"/>
              </a:ext>
            </a:extLst>
          </p:cNvPr>
          <p:cNvGrpSpPr/>
          <p:nvPr/>
        </p:nvGrpSpPr>
        <p:grpSpPr>
          <a:xfrm>
            <a:off x="13487400" y="5140342"/>
            <a:ext cx="4438542" cy="1369621"/>
            <a:chOff x="0" y="0"/>
            <a:chExt cx="5516210" cy="3527477"/>
          </a:xfrm>
          <a:effectLst>
            <a:glow rad="304800">
              <a:srgbClr val="8E52F5">
                <a:alpha val="25000"/>
              </a:srgbClr>
            </a:glow>
          </a:effectLst>
        </p:grpSpPr>
        <p:sp>
          <p:nvSpPr>
            <p:cNvPr id="42" name="Freeform 8">
              <a:extLst>
                <a:ext uri="{FF2B5EF4-FFF2-40B4-BE49-F238E27FC236}">
                  <a16:creationId xmlns:a16="http://schemas.microsoft.com/office/drawing/2014/main" id="{EC4B20A0-DA77-4DC8-1C97-950AC7F45C9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43" name="TextBox 9">
              <a:extLst>
                <a:ext uri="{FF2B5EF4-FFF2-40B4-BE49-F238E27FC236}">
                  <a16:creationId xmlns:a16="http://schemas.microsoft.com/office/drawing/2014/main" id="{8D31083C-C913-B182-F17F-CC4A5F2F1A1C}"/>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44" name="Text 11">
            <a:extLst>
              <a:ext uri="{FF2B5EF4-FFF2-40B4-BE49-F238E27FC236}">
                <a16:creationId xmlns:a16="http://schemas.microsoft.com/office/drawing/2014/main" id="{4CC06FD4-9E95-8960-A637-46720D35818B}"/>
              </a:ext>
            </a:extLst>
          </p:cNvPr>
          <p:cNvSpPr/>
          <p:nvPr/>
        </p:nvSpPr>
        <p:spPr>
          <a:xfrm>
            <a:off x="13683570" y="5286389"/>
            <a:ext cx="3842429" cy="412861"/>
          </a:xfrm>
          <a:prstGeom prst="rect">
            <a:avLst/>
          </a:prstGeom>
          <a:noFill/>
          <a:ln/>
        </p:spPr>
        <p:txBody>
          <a:bodyPr wrap="square" rtlCol="0" anchor="ctr"/>
          <a:lstStyle/>
          <a:p>
            <a:pPr marL="0" indent="0">
              <a:buNone/>
            </a:pPr>
            <a:r>
              <a:rPr lang="en-US" sz="2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Enables Proactive Defense</a:t>
            </a:r>
          </a:p>
        </p:txBody>
      </p:sp>
      <p:sp>
        <p:nvSpPr>
          <p:cNvPr id="45" name="TextBox 17">
            <a:extLst>
              <a:ext uri="{FF2B5EF4-FFF2-40B4-BE49-F238E27FC236}">
                <a16:creationId xmlns:a16="http://schemas.microsoft.com/office/drawing/2014/main" id="{C733EAB7-2238-9544-6076-78BF66BDCA2F}"/>
              </a:ext>
            </a:extLst>
          </p:cNvPr>
          <p:cNvSpPr txBox="1"/>
          <p:nvPr/>
        </p:nvSpPr>
        <p:spPr>
          <a:xfrm>
            <a:off x="13657429" y="5787597"/>
            <a:ext cx="4242965" cy="438903"/>
          </a:xfrm>
          <a:prstGeom prst="rect">
            <a:avLst/>
          </a:prstGeom>
        </p:spPr>
        <p:txBody>
          <a:bodyPr wrap="square" lIns="0" tIns="0" rIns="0" bIns="0" rtlCol="0" anchor="t">
            <a:spAutoFit/>
          </a:bodyPr>
          <a:lstStyle/>
          <a:p>
            <a:pPr>
              <a:lnSpc>
                <a:spcPts val="1680"/>
              </a:lnSpc>
            </a:pPr>
            <a:r>
              <a:rPr lang="en-US" i="1" spc="-70" dirty="0">
                <a:solidFill>
                  <a:srgbClr val="FFFFFF"/>
                </a:solidFill>
                <a:latin typeface="Work Sans" pitchFamily="2" charset="0"/>
                <a:ea typeface="Telegraf"/>
                <a:cs typeface="Telegraf"/>
                <a:sym typeface="Telegraf"/>
              </a:rPr>
              <a:t>Intelligence-driven hunting closes gaps signature detection cannot cover.</a:t>
            </a:r>
          </a:p>
        </p:txBody>
      </p:sp>
      <p:grpSp>
        <p:nvGrpSpPr>
          <p:cNvPr id="46" name="Group 7">
            <a:extLst>
              <a:ext uri="{FF2B5EF4-FFF2-40B4-BE49-F238E27FC236}">
                <a16:creationId xmlns:a16="http://schemas.microsoft.com/office/drawing/2014/main" id="{2C08B6E5-A6CF-812C-D0F0-E719AA07E06E}"/>
              </a:ext>
            </a:extLst>
          </p:cNvPr>
          <p:cNvGrpSpPr/>
          <p:nvPr/>
        </p:nvGrpSpPr>
        <p:grpSpPr>
          <a:xfrm>
            <a:off x="7954598" y="7746262"/>
            <a:ext cx="4438542" cy="1369621"/>
            <a:chOff x="0" y="0"/>
            <a:chExt cx="5516210" cy="3527477"/>
          </a:xfrm>
          <a:effectLst>
            <a:glow rad="304800">
              <a:srgbClr val="8E52F5">
                <a:alpha val="25000"/>
              </a:srgbClr>
            </a:glow>
          </a:effectLst>
        </p:grpSpPr>
        <p:sp>
          <p:nvSpPr>
            <p:cNvPr id="47" name="Freeform 8">
              <a:extLst>
                <a:ext uri="{FF2B5EF4-FFF2-40B4-BE49-F238E27FC236}">
                  <a16:creationId xmlns:a16="http://schemas.microsoft.com/office/drawing/2014/main" id="{3AFA148C-4D17-C81D-47B3-54E08D3A7AC0}"/>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48" name="TextBox 9">
              <a:extLst>
                <a:ext uri="{FF2B5EF4-FFF2-40B4-BE49-F238E27FC236}">
                  <a16:creationId xmlns:a16="http://schemas.microsoft.com/office/drawing/2014/main" id="{1B6CCC7E-6503-403C-12C3-680D1885BC4D}"/>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49" name="Text 11">
            <a:extLst>
              <a:ext uri="{FF2B5EF4-FFF2-40B4-BE49-F238E27FC236}">
                <a16:creationId xmlns:a16="http://schemas.microsoft.com/office/drawing/2014/main" id="{B427C7F1-18D7-D642-4F15-FE240B57770E}"/>
              </a:ext>
            </a:extLst>
          </p:cNvPr>
          <p:cNvSpPr/>
          <p:nvPr/>
        </p:nvSpPr>
        <p:spPr>
          <a:xfrm>
            <a:off x="8111396" y="7915344"/>
            <a:ext cx="5521079" cy="412861"/>
          </a:xfrm>
          <a:prstGeom prst="rect">
            <a:avLst/>
          </a:prstGeom>
          <a:noFill/>
          <a:ln/>
        </p:spPr>
        <p:txBody>
          <a:bodyPr wrap="square" rtlCol="0" anchor="ctr"/>
          <a:lstStyle/>
          <a:p>
            <a:pPr marL="0" indent="0">
              <a:buNone/>
            </a:pPr>
            <a:r>
              <a:rPr lang="en-US" sz="2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Better Investment Decisions</a:t>
            </a:r>
          </a:p>
        </p:txBody>
      </p:sp>
      <p:sp>
        <p:nvSpPr>
          <p:cNvPr id="50" name="TextBox 17">
            <a:extLst>
              <a:ext uri="{FF2B5EF4-FFF2-40B4-BE49-F238E27FC236}">
                <a16:creationId xmlns:a16="http://schemas.microsoft.com/office/drawing/2014/main" id="{BA3D814F-DA72-7FF8-053C-84D4DC967AD0}"/>
              </a:ext>
            </a:extLst>
          </p:cNvPr>
          <p:cNvSpPr txBox="1"/>
          <p:nvPr/>
        </p:nvSpPr>
        <p:spPr>
          <a:xfrm>
            <a:off x="8201269" y="8403106"/>
            <a:ext cx="3631702" cy="438903"/>
          </a:xfrm>
          <a:prstGeom prst="rect">
            <a:avLst/>
          </a:prstGeom>
        </p:spPr>
        <p:txBody>
          <a:bodyPr wrap="square" lIns="0" tIns="0" rIns="0" bIns="0" rtlCol="0" anchor="t">
            <a:spAutoFit/>
          </a:bodyPr>
          <a:lstStyle/>
          <a:p>
            <a:pPr>
              <a:lnSpc>
                <a:spcPts val="1680"/>
              </a:lnSpc>
            </a:pPr>
            <a:r>
              <a:rPr lang="en-US" i="1" spc="-70" dirty="0">
                <a:solidFill>
                  <a:srgbClr val="FFFFFF"/>
                </a:solidFill>
                <a:latin typeface="Work Sans" pitchFamily="2" charset="0"/>
                <a:ea typeface="Telegraf"/>
                <a:cs typeface="Telegraf"/>
                <a:sym typeface="Telegraf"/>
              </a:rPr>
              <a:t>Strategic CTI aligns security spend with the actual threat landscape.</a:t>
            </a:r>
          </a:p>
        </p:txBody>
      </p:sp>
      <p:grpSp>
        <p:nvGrpSpPr>
          <p:cNvPr id="51" name="Group 7">
            <a:extLst>
              <a:ext uri="{FF2B5EF4-FFF2-40B4-BE49-F238E27FC236}">
                <a16:creationId xmlns:a16="http://schemas.microsoft.com/office/drawing/2014/main" id="{064FEF8E-430C-89EB-C710-1B5453B93081}"/>
              </a:ext>
            </a:extLst>
          </p:cNvPr>
          <p:cNvGrpSpPr/>
          <p:nvPr/>
        </p:nvGrpSpPr>
        <p:grpSpPr>
          <a:xfrm>
            <a:off x="13487400" y="7746262"/>
            <a:ext cx="4438542" cy="1369621"/>
            <a:chOff x="0" y="0"/>
            <a:chExt cx="5516210" cy="3527477"/>
          </a:xfrm>
          <a:effectLst>
            <a:glow rad="304800">
              <a:srgbClr val="8E52F5">
                <a:alpha val="25000"/>
              </a:srgbClr>
            </a:glow>
          </a:effectLst>
        </p:grpSpPr>
        <p:sp>
          <p:nvSpPr>
            <p:cNvPr id="52" name="Freeform 8">
              <a:extLst>
                <a:ext uri="{FF2B5EF4-FFF2-40B4-BE49-F238E27FC236}">
                  <a16:creationId xmlns:a16="http://schemas.microsoft.com/office/drawing/2014/main" id="{8C1CF3A4-98AF-FC01-5C01-C1CAFBC0BEE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53" name="TextBox 9">
              <a:extLst>
                <a:ext uri="{FF2B5EF4-FFF2-40B4-BE49-F238E27FC236}">
                  <a16:creationId xmlns:a16="http://schemas.microsoft.com/office/drawing/2014/main" id="{8B752508-A33F-EE46-6E92-08E2D7661DBD}"/>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54" name="Text 11">
            <a:extLst>
              <a:ext uri="{FF2B5EF4-FFF2-40B4-BE49-F238E27FC236}">
                <a16:creationId xmlns:a16="http://schemas.microsoft.com/office/drawing/2014/main" id="{CE8BB4A6-0047-E4CE-1EA1-071C13C9EAD3}"/>
              </a:ext>
            </a:extLst>
          </p:cNvPr>
          <p:cNvSpPr/>
          <p:nvPr/>
        </p:nvSpPr>
        <p:spPr>
          <a:xfrm>
            <a:off x="13683570" y="7915344"/>
            <a:ext cx="3652895" cy="412861"/>
          </a:xfrm>
          <a:prstGeom prst="rect">
            <a:avLst/>
          </a:prstGeom>
          <a:noFill/>
          <a:ln/>
        </p:spPr>
        <p:txBody>
          <a:bodyPr wrap="square" rtlCol="0" anchor="ctr"/>
          <a:lstStyle/>
          <a:p>
            <a:pPr marL="0" indent="0">
              <a:buNone/>
            </a:pPr>
            <a:r>
              <a:rPr lang="en-US" sz="2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Real-World Relevance</a:t>
            </a:r>
          </a:p>
        </p:txBody>
      </p:sp>
      <p:sp>
        <p:nvSpPr>
          <p:cNvPr id="55" name="TextBox 17">
            <a:extLst>
              <a:ext uri="{FF2B5EF4-FFF2-40B4-BE49-F238E27FC236}">
                <a16:creationId xmlns:a16="http://schemas.microsoft.com/office/drawing/2014/main" id="{E8173C30-057B-9BBD-3BFB-671145FEF95A}"/>
              </a:ext>
            </a:extLst>
          </p:cNvPr>
          <p:cNvSpPr txBox="1"/>
          <p:nvPr/>
        </p:nvSpPr>
        <p:spPr>
          <a:xfrm>
            <a:off x="13623508" y="8403105"/>
            <a:ext cx="4166323" cy="438903"/>
          </a:xfrm>
          <a:prstGeom prst="rect">
            <a:avLst/>
          </a:prstGeom>
        </p:spPr>
        <p:txBody>
          <a:bodyPr wrap="square" lIns="0" tIns="0" rIns="0" bIns="0" rtlCol="0" anchor="t">
            <a:spAutoFit/>
          </a:bodyPr>
          <a:lstStyle/>
          <a:p>
            <a:pPr>
              <a:lnSpc>
                <a:spcPts val="1680"/>
              </a:lnSpc>
            </a:pPr>
            <a:r>
              <a:rPr lang="en-US" i="1" spc="-70" dirty="0">
                <a:solidFill>
                  <a:srgbClr val="FFFFFF"/>
                </a:solidFill>
                <a:latin typeface="Work Sans" pitchFamily="2" charset="0"/>
                <a:ea typeface="Telegraf"/>
                <a:cs typeface="Telegraf"/>
                <a:sym typeface="Telegraf"/>
              </a:rPr>
              <a:t>CTI grounds operations in actual actors targeting your industry and stack.</a:t>
            </a:r>
          </a:p>
        </p:txBody>
      </p:sp>
      <p:grpSp>
        <p:nvGrpSpPr>
          <p:cNvPr id="2" name="Group 4">
            <a:extLst>
              <a:ext uri="{FF2B5EF4-FFF2-40B4-BE49-F238E27FC236}">
                <a16:creationId xmlns:a16="http://schemas.microsoft.com/office/drawing/2014/main" id="{FDF50D2C-04C4-F07A-B5D0-FFD8FF02B3EE}"/>
              </a:ext>
            </a:extLst>
          </p:cNvPr>
          <p:cNvGrpSpPr/>
          <p:nvPr/>
        </p:nvGrpSpPr>
        <p:grpSpPr>
          <a:xfrm>
            <a:off x="8559761" y="1129653"/>
            <a:ext cx="247059" cy="56998"/>
            <a:chOff x="0" y="0"/>
            <a:chExt cx="65069" cy="15012"/>
          </a:xfrm>
        </p:grpSpPr>
        <p:sp>
          <p:nvSpPr>
            <p:cNvPr id="7" name="Freeform 5">
              <a:extLst>
                <a:ext uri="{FF2B5EF4-FFF2-40B4-BE49-F238E27FC236}">
                  <a16:creationId xmlns:a16="http://schemas.microsoft.com/office/drawing/2014/main" id="{1E379F5C-A0A2-9EC9-35C3-5A35DFEB00F3}"/>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6">
              <a:extLst>
                <a:ext uri="{FF2B5EF4-FFF2-40B4-BE49-F238E27FC236}">
                  <a16:creationId xmlns:a16="http://schemas.microsoft.com/office/drawing/2014/main" id="{110DDCAF-188A-4AD0-EE86-7E59048B0FFE}"/>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13">
            <a:extLst>
              <a:ext uri="{FF2B5EF4-FFF2-40B4-BE49-F238E27FC236}">
                <a16:creationId xmlns:a16="http://schemas.microsoft.com/office/drawing/2014/main" id="{54F9E22D-A396-4BF2-8C4C-0118DDC929E3}"/>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10" name="TextBox 14">
            <a:extLst>
              <a:ext uri="{FF2B5EF4-FFF2-40B4-BE49-F238E27FC236}">
                <a16:creationId xmlns:a16="http://schemas.microsoft.com/office/drawing/2014/main" id="{15F5BC3D-1418-81EF-AD67-171594810E45}"/>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12" name="TextBox 14">
            <a:extLst>
              <a:ext uri="{FF2B5EF4-FFF2-40B4-BE49-F238E27FC236}">
                <a16:creationId xmlns:a16="http://schemas.microsoft.com/office/drawing/2014/main" id="{73D69C18-CBE6-7F03-7F1A-E0524FF0C889}"/>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20" name="TextBox 14">
            <a:extLst>
              <a:ext uri="{FF2B5EF4-FFF2-40B4-BE49-F238E27FC236}">
                <a16:creationId xmlns:a16="http://schemas.microsoft.com/office/drawing/2014/main" id="{1D7077AB-B6FB-C8AD-D8E3-39B317869ABD}"/>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anim calcmode="lin" valueType="num">
                                      <p:cBhvr>
                                        <p:cTn id="23" dur="1000" fill="hold"/>
                                        <p:tgtEl>
                                          <p:spTgt spid="40"/>
                                        </p:tgtEl>
                                        <p:attrNameLst>
                                          <p:attrName>ppt_x</p:attrName>
                                        </p:attrNameLst>
                                      </p:cBhvr>
                                      <p:tavLst>
                                        <p:tav tm="0">
                                          <p:val>
                                            <p:strVal val="#ppt_x"/>
                                          </p:val>
                                        </p:tav>
                                        <p:tav tm="100000">
                                          <p:val>
                                            <p:strVal val="#ppt_x"/>
                                          </p:val>
                                        </p:tav>
                                      </p:tavLst>
                                    </p:anim>
                                    <p:anim calcmode="lin" valueType="num">
                                      <p:cBhvr>
                                        <p:cTn id="24" dur="1000" fill="hold"/>
                                        <p:tgtEl>
                                          <p:spTgt spid="4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1000"/>
                                        <p:tgtEl>
                                          <p:spTgt spid="39"/>
                                        </p:tgtEl>
                                      </p:cBhvr>
                                    </p:animEffect>
                                    <p:anim calcmode="lin" valueType="num">
                                      <p:cBhvr>
                                        <p:cTn id="28" dur="1000" fill="hold"/>
                                        <p:tgtEl>
                                          <p:spTgt spid="39"/>
                                        </p:tgtEl>
                                        <p:attrNameLst>
                                          <p:attrName>ppt_x</p:attrName>
                                        </p:attrNameLst>
                                      </p:cBhvr>
                                      <p:tavLst>
                                        <p:tav tm="0">
                                          <p:val>
                                            <p:strVal val="#ppt_x"/>
                                          </p:val>
                                        </p:tav>
                                        <p:tav tm="100000">
                                          <p:val>
                                            <p:strVal val="#ppt_x"/>
                                          </p:val>
                                        </p:tav>
                                      </p:tavLst>
                                    </p:anim>
                                    <p:anim calcmode="lin" valueType="num">
                                      <p:cBhvr>
                                        <p:cTn id="29" dur="1000" fill="hold"/>
                                        <p:tgtEl>
                                          <p:spTgt spid="3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1000"/>
                                        <p:tgtEl>
                                          <p:spTgt spid="36"/>
                                        </p:tgtEl>
                                      </p:cBhvr>
                                    </p:animEffect>
                                    <p:anim calcmode="lin" valueType="num">
                                      <p:cBhvr>
                                        <p:cTn id="33" dur="1000" fill="hold"/>
                                        <p:tgtEl>
                                          <p:spTgt spid="36"/>
                                        </p:tgtEl>
                                        <p:attrNameLst>
                                          <p:attrName>ppt_x</p:attrName>
                                        </p:attrNameLst>
                                      </p:cBhvr>
                                      <p:tavLst>
                                        <p:tav tm="0">
                                          <p:val>
                                            <p:strVal val="#ppt_x"/>
                                          </p:val>
                                        </p:tav>
                                        <p:tav tm="100000">
                                          <p:val>
                                            <p:strVal val="#ppt_x"/>
                                          </p:val>
                                        </p:tav>
                                      </p:tavLst>
                                    </p:anim>
                                    <p:anim calcmode="lin" valueType="num">
                                      <p:cBhvr>
                                        <p:cTn id="34" dur="1000" fill="hold"/>
                                        <p:tgtEl>
                                          <p:spTgt spid="3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1000"/>
                                        <p:tgtEl>
                                          <p:spTgt spid="41"/>
                                        </p:tgtEl>
                                      </p:cBhvr>
                                    </p:animEffect>
                                    <p:anim calcmode="lin" valueType="num">
                                      <p:cBhvr>
                                        <p:cTn id="38" dur="1000" fill="hold"/>
                                        <p:tgtEl>
                                          <p:spTgt spid="41"/>
                                        </p:tgtEl>
                                        <p:attrNameLst>
                                          <p:attrName>ppt_x</p:attrName>
                                        </p:attrNameLst>
                                      </p:cBhvr>
                                      <p:tavLst>
                                        <p:tav tm="0">
                                          <p:val>
                                            <p:strVal val="#ppt_x"/>
                                          </p:val>
                                        </p:tav>
                                        <p:tav tm="100000">
                                          <p:val>
                                            <p:strVal val="#ppt_x"/>
                                          </p:val>
                                        </p:tav>
                                      </p:tavLst>
                                    </p:anim>
                                    <p:anim calcmode="lin" valueType="num">
                                      <p:cBhvr>
                                        <p:cTn id="39" dur="1000" fill="hold"/>
                                        <p:tgtEl>
                                          <p:spTgt spid="4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1000"/>
                                        <p:tgtEl>
                                          <p:spTgt spid="45"/>
                                        </p:tgtEl>
                                      </p:cBhvr>
                                    </p:animEffect>
                                    <p:anim calcmode="lin" valueType="num">
                                      <p:cBhvr>
                                        <p:cTn id="43" dur="1000" fill="hold"/>
                                        <p:tgtEl>
                                          <p:spTgt spid="45"/>
                                        </p:tgtEl>
                                        <p:attrNameLst>
                                          <p:attrName>ppt_x</p:attrName>
                                        </p:attrNameLst>
                                      </p:cBhvr>
                                      <p:tavLst>
                                        <p:tav tm="0">
                                          <p:val>
                                            <p:strVal val="#ppt_x"/>
                                          </p:val>
                                        </p:tav>
                                        <p:tav tm="100000">
                                          <p:val>
                                            <p:strVal val="#ppt_x"/>
                                          </p:val>
                                        </p:tav>
                                      </p:tavLst>
                                    </p:anim>
                                    <p:anim calcmode="lin" valueType="num">
                                      <p:cBhvr>
                                        <p:cTn id="44" dur="1000" fill="hold"/>
                                        <p:tgtEl>
                                          <p:spTgt spid="4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1000"/>
                                        <p:tgtEl>
                                          <p:spTgt spid="44"/>
                                        </p:tgtEl>
                                      </p:cBhvr>
                                    </p:animEffect>
                                    <p:anim calcmode="lin" valueType="num">
                                      <p:cBhvr>
                                        <p:cTn id="48" dur="1000" fill="hold"/>
                                        <p:tgtEl>
                                          <p:spTgt spid="44"/>
                                        </p:tgtEl>
                                        <p:attrNameLst>
                                          <p:attrName>ppt_x</p:attrName>
                                        </p:attrNameLst>
                                      </p:cBhvr>
                                      <p:tavLst>
                                        <p:tav tm="0">
                                          <p:val>
                                            <p:strVal val="#ppt_x"/>
                                          </p:val>
                                        </p:tav>
                                        <p:tav tm="100000">
                                          <p:val>
                                            <p:strVal val="#ppt_x"/>
                                          </p:val>
                                        </p:tav>
                                      </p:tavLst>
                                    </p:anim>
                                    <p:anim calcmode="lin" valueType="num">
                                      <p:cBhvr>
                                        <p:cTn id="49" dur="1000" fill="hold"/>
                                        <p:tgtEl>
                                          <p:spTgt spid="4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1000"/>
                                        <p:tgtEl>
                                          <p:spTgt spid="34"/>
                                        </p:tgtEl>
                                      </p:cBhvr>
                                    </p:animEffect>
                                    <p:anim calcmode="lin" valueType="num">
                                      <p:cBhvr>
                                        <p:cTn id="53" dur="1000" fill="hold"/>
                                        <p:tgtEl>
                                          <p:spTgt spid="34"/>
                                        </p:tgtEl>
                                        <p:attrNameLst>
                                          <p:attrName>ppt_x</p:attrName>
                                        </p:attrNameLst>
                                      </p:cBhvr>
                                      <p:tavLst>
                                        <p:tav tm="0">
                                          <p:val>
                                            <p:strVal val="#ppt_x"/>
                                          </p:val>
                                        </p:tav>
                                        <p:tav tm="100000">
                                          <p:val>
                                            <p:strVal val="#ppt_x"/>
                                          </p:val>
                                        </p:tav>
                                      </p:tavLst>
                                    </p:anim>
                                    <p:anim calcmode="lin" valueType="num">
                                      <p:cBhvr>
                                        <p:cTn id="54" dur="1000" fill="hold"/>
                                        <p:tgtEl>
                                          <p:spTgt spid="3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1000"/>
                                        <p:tgtEl>
                                          <p:spTgt spid="35"/>
                                        </p:tgtEl>
                                      </p:cBhvr>
                                    </p:animEffect>
                                    <p:anim calcmode="lin" valueType="num">
                                      <p:cBhvr>
                                        <p:cTn id="58" dur="1000" fill="hold"/>
                                        <p:tgtEl>
                                          <p:spTgt spid="35"/>
                                        </p:tgtEl>
                                        <p:attrNameLst>
                                          <p:attrName>ppt_x</p:attrName>
                                        </p:attrNameLst>
                                      </p:cBhvr>
                                      <p:tavLst>
                                        <p:tav tm="0">
                                          <p:val>
                                            <p:strVal val="#ppt_x"/>
                                          </p:val>
                                        </p:tav>
                                        <p:tav tm="100000">
                                          <p:val>
                                            <p:strVal val="#ppt_x"/>
                                          </p:val>
                                        </p:tav>
                                      </p:tavLst>
                                    </p:anim>
                                    <p:anim calcmode="lin" valueType="num">
                                      <p:cBhvr>
                                        <p:cTn id="59" dur="1000" fill="hold"/>
                                        <p:tgtEl>
                                          <p:spTgt spid="3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1000"/>
                                        <p:tgtEl>
                                          <p:spTgt spid="50"/>
                                        </p:tgtEl>
                                      </p:cBhvr>
                                    </p:animEffect>
                                    <p:anim calcmode="lin" valueType="num">
                                      <p:cBhvr>
                                        <p:cTn id="68" dur="1000" fill="hold"/>
                                        <p:tgtEl>
                                          <p:spTgt spid="50"/>
                                        </p:tgtEl>
                                        <p:attrNameLst>
                                          <p:attrName>ppt_x</p:attrName>
                                        </p:attrNameLst>
                                      </p:cBhvr>
                                      <p:tavLst>
                                        <p:tav tm="0">
                                          <p:val>
                                            <p:strVal val="#ppt_x"/>
                                          </p:val>
                                        </p:tav>
                                        <p:tav tm="100000">
                                          <p:val>
                                            <p:strVal val="#ppt_x"/>
                                          </p:val>
                                        </p:tav>
                                      </p:tavLst>
                                    </p:anim>
                                    <p:anim calcmode="lin" valueType="num">
                                      <p:cBhvr>
                                        <p:cTn id="69" dur="1000" fill="hold"/>
                                        <p:tgtEl>
                                          <p:spTgt spid="5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1000"/>
                                        <p:tgtEl>
                                          <p:spTgt spid="49"/>
                                        </p:tgtEl>
                                      </p:cBhvr>
                                    </p:animEffect>
                                    <p:anim calcmode="lin" valueType="num">
                                      <p:cBhvr>
                                        <p:cTn id="73" dur="1000" fill="hold"/>
                                        <p:tgtEl>
                                          <p:spTgt spid="49"/>
                                        </p:tgtEl>
                                        <p:attrNameLst>
                                          <p:attrName>ppt_x</p:attrName>
                                        </p:attrNameLst>
                                      </p:cBhvr>
                                      <p:tavLst>
                                        <p:tav tm="0">
                                          <p:val>
                                            <p:strVal val="#ppt_x"/>
                                          </p:val>
                                        </p:tav>
                                        <p:tav tm="100000">
                                          <p:val>
                                            <p:strVal val="#ppt_x"/>
                                          </p:val>
                                        </p:tav>
                                      </p:tavLst>
                                    </p:anim>
                                    <p:anim calcmode="lin" valueType="num">
                                      <p:cBhvr>
                                        <p:cTn id="74" dur="1000" fill="hold"/>
                                        <p:tgtEl>
                                          <p:spTgt spid="49"/>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1000"/>
                                        <p:tgtEl>
                                          <p:spTgt spid="46"/>
                                        </p:tgtEl>
                                      </p:cBhvr>
                                    </p:animEffect>
                                    <p:anim calcmode="lin" valueType="num">
                                      <p:cBhvr>
                                        <p:cTn id="78" dur="1000" fill="hold"/>
                                        <p:tgtEl>
                                          <p:spTgt spid="46"/>
                                        </p:tgtEl>
                                        <p:attrNameLst>
                                          <p:attrName>ppt_x</p:attrName>
                                        </p:attrNameLst>
                                      </p:cBhvr>
                                      <p:tavLst>
                                        <p:tav tm="0">
                                          <p:val>
                                            <p:strVal val="#ppt_x"/>
                                          </p:val>
                                        </p:tav>
                                        <p:tav tm="100000">
                                          <p:val>
                                            <p:strVal val="#ppt_x"/>
                                          </p:val>
                                        </p:tav>
                                      </p:tavLst>
                                    </p:anim>
                                    <p:anim calcmode="lin" valueType="num">
                                      <p:cBhvr>
                                        <p:cTn id="79" dur="1000" fill="hold"/>
                                        <p:tgtEl>
                                          <p:spTgt spid="4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fade">
                                      <p:cBhvr>
                                        <p:cTn id="82" dur="1000"/>
                                        <p:tgtEl>
                                          <p:spTgt spid="55"/>
                                        </p:tgtEl>
                                      </p:cBhvr>
                                    </p:animEffect>
                                    <p:anim calcmode="lin" valueType="num">
                                      <p:cBhvr>
                                        <p:cTn id="83" dur="1000" fill="hold"/>
                                        <p:tgtEl>
                                          <p:spTgt spid="55"/>
                                        </p:tgtEl>
                                        <p:attrNameLst>
                                          <p:attrName>ppt_x</p:attrName>
                                        </p:attrNameLst>
                                      </p:cBhvr>
                                      <p:tavLst>
                                        <p:tav tm="0">
                                          <p:val>
                                            <p:strVal val="#ppt_x"/>
                                          </p:val>
                                        </p:tav>
                                        <p:tav tm="100000">
                                          <p:val>
                                            <p:strVal val="#ppt_x"/>
                                          </p:val>
                                        </p:tav>
                                      </p:tavLst>
                                    </p:anim>
                                    <p:anim calcmode="lin" valueType="num">
                                      <p:cBhvr>
                                        <p:cTn id="84" dur="1000" fill="hold"/>
                                        <p:tgtEl>
                                          <p:spTgt spid="55"/>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1000"/>
                                        <p:tgtEl>
                                          <p:spTgt spid="54"/>
                                        </p:tgtEl>
                                      </p:cBhvr>
                                    </p:animEffect>
                                    <p:anim calcmode="lin" valueType="num">
                                      <p:cBhvr>
                                        <p:cTn id="88" dur="1000" fill="hold"/>
                                        <p:tgtEl>
                                          <p:spTgt spid="54"/>
                                        </p:tgtEl>
                                        <p:attrNameLst>
                                          <p:attrName>ppt_x</p:attrName>
                                        </p:attrNameLst>
                                      </p:cBhvr>
                                      <p:tavLst>
                                        <p:tav tm="0">
                                          <p:val>
                                            <p:strVal val="#ppt_x"/>
                                          </p:val>
                                        </p:tav>
                                        <p:tav tm="100000">
                                          <p:val>
                                            <p:strVal val="#ppt_x"/>
                                          </p:val>
                                        </p:tav>
                                      </p:tavLst>
                                    </p:anim>
                                    <p:anim calcmode="lin" valueType="num">
                                      <p:cBhvr>
                                        <p:cTn id="89" dur="1000" fill="hold"/>
                                        <p:tgtEl>
                                          <p:spTgt spid="54"/>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51"/>
                                        </p:tgtEl>
                                        <p:attrNameLst>
                                          <p:attrName>style.visibility</p:attrName>
                                        </p:attrNameLst>
                                      </p:cBhvr>
                                      <p:to>
                                        <p:strVal val="visible"/>
                                      </p:to>
                                    </p:set>
                                    <p:animEffect transition="in" filter="fade">
                                      <p:cBhvr>
                                        <p:cTn id="92" dur="1000"/>
                                        <p:tgtEl>
                                          <p:spTgt spid="51"/>
                                        </p:tgtEl>
                                      </p:cBhvr>
                                    </p:animEffect>
                                    <p:anim calcmode="lin" valueType="num">
                                      <p:cBhvr>
                                        <p:cTn id="93" dur="1000" fill="hold"/>
                                        <p:tgtEl>
                                          <p:spTgt spid="51"/>
                                        </p:tgtEl>
                                        <p:attrNameLst>
                                          <p:attrName>ppt_x</p:attrName>
                                        </p:attrNameLst>
                                      </p:cBhvr>
                                      <p:tavLst>
                                        <p:tav tm="0">
                                          <p:val>
                                            <p:strVal val="#ppt_x"/>
                                          </p:val>
                                        </p:tav>
                                        <p:tav tm="100000">
                                          <p:val>
                                            <p:strVal val="#ppt_x"/>
                                          </p:val>
                                        </p:tav>
                                      </p:tavLst>
                                    </p:anim>
                                    <p:anim calcmode="lin" valueType="num">
                                      <p:cBhvr>
                                        <p:cTn id="9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anim calcmode="lin" valueType="num">
                                      <p:cBhvr>
                                        <p:cTn id="99" dur="500" fill="hold"/>
                                        <p:tgtEl>
                                          <p:spTgt spid="18"/>
                                        </p:tgtEl>
                                        <p:attrNameLst>
                                          <p:attrName>ppt_w</p:attrName>
                                        </p:attrNameLst>
                                      </p:cBhvr>
                                      <p:tavLst>
                                        <p:tav tm="0">
                                          <p:val>
                                            <p:fltVal val="0"/>
                                          </p:val>
                                        </p:tav>
                                        <p:tav tm="100000">
                                          <p:val>
                                            <p:strVal val="#ppt_w"/>
                                          </p:val>
                                        </p:tav>
                                      </p:tavLst>
                                    </p:anim>
                                    <p:anim calcmode="lin" valueType="num">
                                      <p:cBhvr>
                                        <p:cTn id="100" dur="500" fill="hold"/>
                                        <p:tgtEl>
                                          <p:spTgt spid="18"/>
                                        </p:tgtEl>
                                        <p:attrNameLst>
                                          <p:attrName>ppt_h</p:attrName>
                                        </p:attrNameLst>
                                      </p:cBhvr>
                                      <p:tavLst>
                                        <p:tav tm="0">
                                          <p:val>
                                            <p:fltVal val="0"/>
                                          </p:val>
                                        </p:tav>
                                        <p:tav tm="100000">
                                          <p:val>
                                            <p:strVal val="#ppt_h"/>
                                          </p:val>
                                        </p:tav>
                                      </p:tavLst>
                                    </p:anim>
                                    <p:animEffect transition="in" filter="fade">
                                      <p:cBhvr>
                                        <p:cTn id="101" dur="500"/>
                                        <p:tgtEl>
                                          <p:spTgt spid="18"/>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 calcmode="lin" valueType="num">
                                      <p:cBhvr>
                                        <p:cTn id="104" dur="500" fill="hold"/>
                                        <p:tgtEl>
                                          <p:spTgt spid="24"/>
                                        </p:tgtEl>
                                        <p:attrNameLst>
                                          <p:attrName>ppt_w</p:attrName>
                                        </p:attrNameLst>
                                      </p:cBhvr>
                                      <p:tavLst>
                                        <p:tav tm="0">
                                          <p:val>
                                            <p:fltVal val="0"/>
                                          </p:val>
                                        </p:tav>
                                        <p:tav tm="100000">
                                          <p:val>
                                            <p:strVal val="#ppt_w"/>
                                          </p:val>
                                        </p:tav>
                                      </p:tavLst>
                                    </p:anim>
                                    <p:anim calcmode="lin" valueType="num">
                                      <p:cBhvr>
                                        <p:cTn id="105" dur="500" fill="hold"/>
                                        <p:tgtEl>
                                          <p:spTgt spid="24"/>
                                        </p:tgtEl>
                                        <p:attrNameLst>
                                          <p:attrName>ppt_h</p:attrName>
                                        </p:attrNameLst>
                                      </p:cBhvr>
                                      <p:tavLst>
                                        <p:tav tm="0">
                                          <p:val>
                                            <p:fltVal val="0"/>
                                          </p:val>
                                        </p:tav>
                                        <p:tav tm="100000">
                                          <p:val>
                                            <p:strVal val="#ppt_h"/>
                                          </p:val>
                                        </p:tav>
                                      </p:tavLst>
                                    </p:anim>
                                    <p:animEffect transition="in" filter="fade">
                                      <p:cBhvr>
                                        <p:cTn id="106" dur="500"/>
                                        <p:tgtEl>
                                          <p:spTgt spid="24"/>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17"/>
                                        </p:tgtEl>
                                        <p:attrNameLst>
                                          <p:attrName>style.visibility</p:attrName>
                                        </p:attrNameLst>
                                      </p:cBhvr>
                                      <p:to>
                                        <p:strVal val="visible"/>
                                      </p:to>
                                    </p:set>
                                    <p:anim calcmode="lin" valueType="num">
                                      <p:cBhvr>
                                        <p:cTn id="109" dur="500" fill="hold"/>
                                        <p:tgtEl>
                                          <p:spTgt spid="17"/>
                                        </p:tgtEl>
                                        <p:attrNameLst>
                                          <p:attrName>ppt_w</p:attrName>
                                        </p:attrNameLst>
                                      </p:cBhvr>
                                      <p:tavLst>
                                        <p:tav tm="0">
                                          <p:val>
                                            <p:fltVal val="0"/>
                                          </p:val>
                                        </p:tav>
                                        <p:tav tm="100000">
                                          <p:val>
                                            <p:strVal val="#ppt_w"/>
                                          </p:val>
                                        </p:tav>
                                      </p:tavLst>
                                    </p:anim>
                                    <p:anim calcmode="lin" valueType="num">
                                      <p:cBhvr>
                                        <p:cTn id="110" dur="500" fill="hold"/>
                                        <p:tgtEl>
                                          <p:spTgt spid="17"/>
                                        </p:tgtEl>
                                        <p:attrNameLst>
                                          <p:attrName>ppt_h</p:attrName>
                                        </p:attrNameLst>
                                      </p:cBhvr>
                                      <p:tavLst>
                                        <p:tav tm="0">
                                          <p:val>
                                            <p:fltVal val="0"/>
                                          </p:val>
                                        </p:tav>
                                        <p:tav tm="100000">
                                          <p:val>
                                            <p:strVal val="#ppt_h"/>
                                          </p:val>
                                        </p:tav>
                                      </p:tavLst>
                                    </p:anim>
                                    <p:animEffect transition="in" filter="fade">
                                      <p:cBhvr>
                                        <p:cTn id="1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animBg="1"/>
      <p:bldP spid="18" grpId="0"/>
      <p:bldP spid="28" grpId="0" animBg="1"/>
      <p:bldP spid="30" grpId="0"/>
      <p:bldP spid="34" grpId="0" animBg="1"/>
      <p:bldP spid="35" grpId="0"/>
      <p:bldP spid="39" grpId="0" animBg="1"/>
      <p:bldP spid="40" grpId="0"/>
      <p:bldP spid="44" grpId="0" animBg="1"/>
      <p:bldP spid="45" grpId="0"/>
      <p:bldP spid="49" grpId="0" animBg="1"/>
      <p:bldP spid="50" grpId="0"/>
      <p:bldP spid="54" grpId="0" animBg="1"/>
      <p:bldP spid="5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3" name="Freeform 3"/>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6" name="TextBox 16"/>
          <p:cNvSpPr txBox="1"/>
          <p:nvPr/>
        </p:nvSpPr>
        <p:spPr>
          <a:xfrm>
            <a:off x="5552302" y="1973750"/>
            <a:ext cx="12491605" cy="1744067"/>
          </a:xfrm>
          <a:prstGeom prst="rect">
            <a:avLst/>
          </a:prstGeom>
        </p:spPr>
        <p:txBody>
          <a:bodyPr wrap="square" lIns="0" tIns="0" rIns="0" bIns="0" rtlCol="0" anchor="t">
            <a:spAutoFit/>
          </a:bodyPr>
          <a:lstStyle/>
          <a:p>
            <a:pPr algn="r">
              <a:lnSpc>
                <a:spcPts val="6810"/>
              </a:lnSpc>
            </a:pPr>
            <a:r>
              <a:rPr lang="en-US" sz="8205"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Types of Intelligences</a:t>
            </a:r>
          </a:p>
        </p:txBody>
      </p:sp>
      <p:sp>
        <p:nvSpPr>
          <p:cNvPr id="19" name="Freeform 19"/>
          <p:cNvSpPr/>
          <p:nvPr/>
        </p:nvSpPr>
        <p:spPr>
          <a:xfrm>
            <a:off x="1028700" y="2803853"/>
            <a:ext cx="545801"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0" name="Image 0" descr="/home/claude/cygnus_logo.png">
            <a:extLst>
              <a:ext uri="{FF2B5EF4-FFF2-40B4-BE49-F238E27FC236}">
                <a16:creationId xmlns:a16="http://schemas.microsoft.com/office/drawing/2014/main" id="{621EF3C4-5C75-7501-8BD7-2BCF81EE7F76}"/>
              </a:ext>
            </a:extLst>
          </p:cNvPr>
          <p:cNvPicPr>
            <a:picLocks noChangeAspect="1"/>
          </p:cNvPicPr>
          <p:nvPr/>
        </p:nvPicPr>
        <p:blipFill>
          <a:blip r:embed="rId4"/>
          <a:stretch>
            <a:fillRect/>
          </a:stretch>
        </p:blipFill>
        <p:spPr>
          <a:xfrm>
            <a:off x="651199" y="502921"/>
            <a:ext cx="1330002" cy="266000"/>
          </a:xfrm>
          <a:prstGeom prst="rect">
            <a:avLst/>
          </a:prstGeom>
        </p:spPr>
      </p:pic>
      <p:grpSp>
        <p:nvGrpSpPr>
          <p:cNvPr id="31" name="Group 7">
            <a:extLst>
              <a:ext uri="{FF2B5EF4-FFF2-40B4-BE49-F238E27FC236}">
                <a16:creationId xmlns:a16="http://schemas.microsoft.com/office/drawing/2014/main" id="{D15D7329-E0A7-2410-6FBF-9C1D093464F9}"/>
              </a:ext>
            </a:extLst>
          </p:cNvPr>
          <p:cNvGrpSpPr/>
          <p:nvPr/>
        </p:nvGrpSpPr>
        <p:grpSpPr>
          <a:xfrm>
            <a:off x="416285" y="4396614"/>
            <a:ext cx="3991711" cy="5086899"/>
            <a:chOff x="0" y="0"/>
            <a:chExt cx="5516210" cy="3527477"/>
          </a:xfrm>
          <a:effectLst>
            <a:glow rad="304800">
              <a:srgbClr val="8E52F5">
                <a:alpha val="25000"/>
              </a:srgbClr>
            </a:glow>
          </a:effectLst>
        </p:grpSpPr>
        <p:sp>
          <p:nvSpPr>
            <p:cNvPr id="32" name="Freeform 8">
              <a:extLst>
                <a:ext uri="{FF2B5EF4-FFF2-40B4-BE49-F238E27FC236}">
                  <a16:creationId xmlns:a16="http://schemas.microsoft.com/office/drawing/2014/main" id="{D3C8A5AF-C763-1B14-8979-B91E86A646E9}"/>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33" name="TextBox 9">
              <a:extLst>
                <a:ext uri="{FF2B5EF4-FFF2-40B4-BE49-F238E27FC236}">
                  <a16:creationId xmlns:a16="http://schemas.microsoft.com/office/drawing/2014/main" id="{DC582C77-A0A2-40B6-8E39-1E97808E377A}"/>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34" name="Text 11">
            <a:extLst>
              <a:ext uri="{FF2B5EF4-FFF2-40B4-BE49-F238E27FC236}">
                <a16:creationId xmlns:a16="http://schemas.microsoft.com/office/drawing/2014/main" id="{E798DDC5-173C-22C2-D68B-CF7F9E4D3D63}"/>
              </a:ext>
            </a:extLst>
          </p:cNvPr>
          <p:cNvSpPr/>
          <p:nvPr/>
        </p:nvSpPr>
        <p:spPr>
          <a:xfrm>
            <a:off x="645493" y="4550702"/>
            <a:ext cx="4307508" cy="908795"/>
          </a:xfrm>
          <a:prstGeom prst="rect">
            <a:avLst/>
          </a:prstGeom>
          <a:noFill/>
          <a:ln/>
        </p:spPr>
        <p:txBody>
          <a:bodyPr wrap="square" rtlCol="0" anchor="ctr"/>
          <a:lstStyle/>
          <a:p>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01 </a:t>
            </a:r>
            <a:r>
              <a:rPr lang="en-US" sz="28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STRATEGIC</a:t>
            </a:r>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 </a:t>
            </a:r>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ndParaRPr>
          </a:p>
        </p:txBody>
      </p:sp>
      <p:sp>
        <p:nvSpPr>
          <p:cNvPr id="35" name="TextBox 17">
            <a:extLst>
              <a:ext uri="{FF2B5EF4-FFF2-40B4-BE49-F238E27FC236}">
                <a16:creationId xmlns:a16="http://schemas.microsoft.com/office/drawing/2014/main" id="{2AC87796-2AEF-B869-28AD-FC9957BB584F}"/>
              </a:ext>
            </a:extLst>
          </p:cNvPr>
          <p:cNvSpPr txBox="1"/>
          <p:nvPr/>
        </p:nvSpPr>
        <p:spPr>
          <a:xfrm>
            <a:off x="645492" y="6612355"/>
            <a:ext cx="4180001" cy="2182970"/>
          </a:xfrm>
          <a:prstGeom prst="rect">
            <a:avLst/>
          </a:prstGeom>
        </p:spPr>
        <p:txBody>
          <a:bodyPr wrap="square" lIns="0" tIns="0" rIns="0" bIns="0" rtlCol="0" anchor="t">
            <a:spAutoFit/>
          </a:bodyPr>
          <a:lstStyle/>
          <a:p>
            <a:pPr>
              <a:lnSpc>
                <a:spcPts val="1680"/>
              </a:lnSpc>
            </a:pPr>
            <a:r>
              <a:rPr lang="en-US" sz="2400" i="1" spc="-70" dirty="0">
                <a:solidFill>
                  <a:srgbClr val="FFFFFF"/>
                </a:solidFill>
                <a:latin typeface="Work Sans" pitchFamily="2" charset="0"/>
                <a:ea typeface="Telegraf"/>
                <a:cs typeface="Telegraf"/>
                <a:sym typeface="Telegraf"/>
              </a:rPr>
              <a:t>▸  Board briefings &amp; risk assessments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Security roadmaps aligned to real threats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Audience: CISO, executives, board</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endParaRPr lang="en-US" sz="2400" i="1" spc="-70" dirty="0">
              <a:solidFill>
                <a:srgbClr val="FFFFFF"/>
              </a:solidFill>
              <a:latin typeface="Work Sans" pitchFamily="2" charset="0"/>
              <a:ea typeface="Telegraf"/>
              <a:cs typeface="Telegraf"/>
              <a:sym typeface="Telegraf"/>
            </a:endParaRPr>
          </a:p>
        </p:txBody>
      </p:sp>
      <p:sp>
        <p:nvSpPr>
          <p:cNvPr id="38" name="TextBox 17">
            <a:extLst>
              <a:ext uri="{FF2B5EF4-FFF2-40B4-BE49-F238E27FC236}">
                <a16:creationId xmlns:a16="http://schemas.microsoft.com/office/drawing/2014/main" id="{22103F68-8ECF-5672-DFA9-1825E9A5068B}"/>
              </a:ext>
            </a:extLst>
          </p:cNvPr>
          <p:cNvSpPr txBox="1"/>
          <p:nvPr/>
        </p:nvSpPr>
        <p:spPr>
          <a:xfrm>
            <a:off x="619456" y="5681971"/>
            <a:ext cx="3559825" cy="218008"/>
          </a:xfrm>
          <a:prstGeom prst="rect">
            <a:avLst/>
          </a:prstGeom>
        </p:spPr>
        <p:txBody>
          <a:bodyPr wrap="square" lIns="0" tIns="0" rIns="0" bIns="0" rtlCol="0" anchor="t">
            <a:spAutoFit/>
          </a:bodyPr>
          <a:lstStyle/>
          <a:p>
            <a:pPr algn="ctr">
              <a:lnSpc>
                <a:spcPts val="1680"/>
              </a:lnSpc>
            </a:pPr>
            <a:r>
              <a:rPr lang="en-US" sz="1600" i="1" spc="-70" dirty="0">
                <a:solidFill>
                  <a:srgbClr val="FFFFFF"/>
                </a:solidFill>
                <a:latin typeface="Work Sans" pitchFamily="2" charset="0"/>
                <a:ea typeface="Telegraf"/>
                <a:cs typeface="Telegraf"/>
                <a:sym typeface="Telegraf"/>
              </a:rPr>
              <a:t>What threats should we plan around?</a:t>
            </a:r>
          </a:p>
        </p:txBody>
      </p:sp>
      <p:sp>
        <p:nvSpPr>
          <p:cNvPr id="39" name="Shape 7">
            <a:extLst>
              <a:ext uri="{FF2B5EF4-FFF2-40B4-BE49-F238E27FC236}">
                <a16:creationId xmlns:a16="http://schemas.microsoft.com/office/drawing/2014/main" id="{B1B72CAB-9C2A-8078-0E84-08EE66EFC764}"/>
              </a:ext>
            </a:extLst>
          </p:cNvPr>
          <p:cNvSpPr/>
          <p:nvPr/>
        </p:nvSpPr>
        <p:spPr>
          <a:xfrm>
            <a:off x="762641" y="5988550"/>
            <a:ext cx="3273454" cy="54378"/>
          </a:xfrm>
          <a:prstGeom prst="rect">
            <a:avLst/>
          </a:prstGeom>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n w="12700">
            <a:solidFill>
              <a:srgbClr val="9966FF"/>
            </a:solidFill>
            <a:prstDash val="solid"/>
          </a:ln>
        </p:spPr>
        <p:txBody>
          <a:bodyPr/>
          <a:lstStyle/>
          <a:p>
            <a:endParaRPr lang="en-US"/>
          </a:p>
        </p:txBody>
      </p:sp>
      <p:grpSp>
        <p:nvGrpSpPr>
          <p:cNvPr id="68" name="Group 7">
            <a:extLst>
              <a:ext uri="{FF2B5EF4-FFF2-40B4-BE49-F238E27FC236}">
                <a16:creationId xmlns:a16="http://schemas.microsoft.com/office/drawing/2014/main" id="{911AABFB-3A74-53B6-833E-594325C128A1}"/>
              </a:ext>
            </a:extLst>
          </p:cNvPr>
          <p:cNvGrpSpPr/>
          <p:nvPr/>
        </p:nvGrpSpPr>
        <p:grpSpPr>
          <a:xfrm>
            <a:off x="4953001" y="4405771"/>
            <a:ext cx="3991711" cy="5086899"/>
            <a:chOff x="0" y="0"/>
            <a:chExt cx="5516210" cy="3527477"/>
          </a:xfrm>
          <a:effectLst>
            <a:glow rad="304800">
              <a:srgbClr val="8E52F5">
                <a:alpha val="25000"/>
              </a:srgbClr>
            </a:glow>
          </a:effectLst>
        </p:grpSpPr>
        <p:sp>
          <p:nvSpPr>
            <p:cNvPr id="69" name="Freeform 8">
              <a:extLst>
                <a:ext uri="{FF2B5EF4-FFF2-40B4-BE49-F238E27FC236}">
                  <a16:creationId xmlns:a16="http://schemas.microsoft.com/office/drawing/2014/main" id="{440AB292-3A82-CFFB-F332-0024F537D722}"/>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70" name="TextBox 9">
              <a:extLst>
                <a:ext uri="{FF2B5EF4-FFF2-40B4-BE49-F238E27FC236}">
                  <a16:creationId xmlns:a16="http://schemas.microsoft.com/office/drawing/2014/main" id="{9E7DDD5A-D4B2-E5D5-29C8-D84993824EA7}"/>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71" name="Text 11">
            <a:extLst>
              <a:ext uri="{FF2B5EF4-FFF2-40B4-BE49-F238E27FC236}">
                <a16:creationId xmlns:a16="http://schemas.microsoft.com/office/drawing/2014/main" id="{B993A487-747F-8D07-07E9-0E3CF9AD50FE}"/>
              </a:ext>
            </a:extLst>
          </p:cNvPr>
          <p:cNvSpPr/>
          <p:nvPr/>
        </p:nvSpPr>
        <p:spPr>
          <a:xfrm>
            <a:off x="5182209" y="4559859"/>
            <a:ext cx="4207031" cy="908795"/>
          </a:xfrm>
          <a:prstGeom prst="rect">
            <a:avLst/>
          </a:prstGeom>
          <a:noFill/>
          <a:ln/>
        </p:spPr>
        <p:txBody>
          <a:bodyPr wrap="square" rtlCol="0" anchor="ctr"/>
          <a:lstStyle/>
          <a:p>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02 </a:t>
            </a:r>
            <a:r>
              <a:rPr lang="en-US" sz="24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OPERATIONAL</a:t>
            </a:r>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 </a:t>
            </a:r>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ndParaRPr>
          </a:p>
        </p:txBody>
      </p:sp>
      <p:sp>
        <p:nvSpPr>
          <p:cNvPr id="72" name="TextBox 17">
            <a:extLst>
              <a:ext uri="{FF2B5EF4-FFF2-40B4-BE49-F238E27FC236}">
                <a16:creationId xmlns:a16="http://schemas.microsoft.com/office/drawing/2014/main" id="{FCF4D29B-9805-E946-6FAE-D63D24615E8F}"/>
              </a:ext>
            </a:extLst>
          </p:cNvPr>
          <p:cNvSpPr txBox="1"/>
          <p:nvPr/>
        </p:nvSpPr>
        <p:spPr>
          <a:xfrm>
            <a:off x="5182209" y="6621512"/>
            <a:ext cx="3559826" cy="2202078"/>
          </a:xfrm>
          <a:prstGeom prst="rect">
            <a:avLst/>
          </a:prstGeom>
        </p:spPr>
        <p:txBody>
          <a:bodyPr wrap="square" lIns="0" tIns="0" rIns="0" bIns="0" rtlCol="0" anchor="t">
            <a:spAutoFit/>
          </a:bodyPr>
          <a:lstStyle/>
          <a:p>
            <a:pPr>
              <a:lnSpc>
                <a:spcPts val="1680"/>
              </a:lnSpc>
            </a:pPr>
            <a:r>
              <a:rPr lang="en-US" sz="2400" i="1" spc="-70" dirty="0">
                <a:solidFill>
                  <a:srgbClr val="FFFFFF"/>
                </a:solidFill>
                <a:latin typeface="Work Sans" pitchFamily="2" charset="0"/>
                <a:ea typeface="Telegraf"/>
                <a:cs typeface="Telegraf"/>
                <a:sym typeface="Telegraf"/>
              </a:rPr>
              <a:t>▸  Adversary profiles &amp; campaign briefs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Hunt prioritization from real intel</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Audience: SOC managers, hunters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endParaRPr lang="en-US" sz="2400" i="1" spc="-70" dirty="0">
              <a:solidFill>
                <a:srgbClr val="FFFFFF"/>
              </a:solidFill>
              <a:latin typeface="Work Sans" pitchFamily="2" charset="0"/>
              <a:ea typeface="Telegraf"/>
              <a:cs typeface="Telegraf"/>
              <a:sym typeface="Telegraf"/>
            </a:endParaRPr>
          </a:p>
        </p:txBody>
      </p:sp>
      <p:sp>
        <p:nvSpPr>
          <p:cNvPr id="73" name="TextBox 17">
            <a:extLst>
              <a:ext uri="{FF2B5EF4-FFF2-40B4-BE49-F238E27FC236}">
                <a16:creationId xmlns:a16="http://schemas.microsoft.com/office/drawing/2014/main" id="{A9D0BF61-4478-9232-3D63-18A3994A8F9F}"/>
              </a:ext>
            </a:extLst>
          </p:cNvPr>
          <p:cNvSpPr txBox="1"/>
          <p:nvPr/>
        </p:nvSpPr>
        <p:spPr>
          <a:xfrm>
            <a:off x="5156172" y="5691128"/>
            <a:ext cx="3559825" cy="218008"/>
          </a:xfrm>
          <a:prstGeom prst="rect">
            <a:avLst/>
          </a:prstGeom>
        </p:spPr>
        <p:txBody>
          <a:bodyPr wrap="square" lIns="0" tIns="0" rIns="0" bIns="0" rtlCol="0" anchor="t">
            <a:spAutoFit/>
          </a:bodyPr>
          <a:lstStyle/>
          <a:p>
            <a:pPr algn="ctr">
              <a:lnSpc>
                <a:spcPts val="1680"/>
              </a:lnSpc>
            </a:pPr>
            <a:r>
              <a:rPr lang="en-US" sz="1600" i="1" spc="-70" dirty="0">
                <a:solidFill>
                  <a:srgbClr val="FFFFFF"/>
                </a:solidFill>
                <a:latin typeface="Work Sans" pitchFamily="2" charset="0"/>
                <a:ea typeface="Telegraf"/>
                <a:cs typeface="Telegraf"/>
                <a:sym typeface="Telegraf"/>
              </a:rPr>
              <a:t>What active campaigns target us?</a:t>
            </a:r>
          </a:p>
        </p:txBody>
      </p:sp>
      <p:sp>
        <p:nvSpPr>
          <p:cNvPr id="74" name="Shape 7">
            <a:extLst>
              <a:ext uri="{FF2B5EF4-FFF2-40B4-BE49-F238E27FC236}">
                <a16:creationId xmlns:a16="http://schemas.microsoft.com/office/drawing/2014/main" id="{4BC8427E-3DC8-387A-8334-5BAAF4BD31AE}"/>
              </a:ext>
            </a:extLst>
          </p:cNvPr>
          <p:cNvSpPr/>
          <p:nvPr/>
        </p:nvSpPr>
        <p:spPr>
          <a:xfrm>
            <a:off x="5299357" y="5997707"/>
            <a:ext cx="3273454" cy="54378"/>
          </a:xfrm>
          <a:prstGeom prst="rect">
            <a:avLst/>
          </a:prstGeom>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n w="12700">
            <a:solidFill>
              <a:srgbClr val="9966FF"/>
            </a:solidFill>
            <a:prstDash val="solid"/>
          </a:ln>
        </p:spPr>
        <p:txBody>
          <a:bodyPr/>
          <a:lstStyle/>
          <a:p>
            <a:endParaRPr lang="en-US"/>
          </a:p>
        </p:txBody>
      </p:sp>
      <p:grpSp>
        <p:nvGrpSpPr>
          <p:cNvPr id="75" name="Group 7">
            <a:extLst>
              <a:ext uri="{FF2B5EF4-FFF2-40B4-BE49-F238E27FC236}">
                <a16:creationId xmlns:a16="http://schemas.microsoft.com/office/drawing/2014/main" id="{15A07A19-B21A-A944-AE00-F56C6CF24356}"/>
              </a:ext>
            </a:extLst>
          </p:cNvPr>
          <p:cNvGrpSpPr/>
          <p:nvPr/>
        </p:nvGrpSpPr>
        <p:grpSpPr>
          <a:xfrm>
            <a:off x="9672974" y="4396614"/>
            <a:ext cx="3991711" cy="5086899"/>
            <a:chOff x="0" y="0"/>
            <a:chExt cx="5516210" cy="3527477"/>
          </a:xfrm>
          <a:effectLst>
            <a:glow rad="304800">
              <a:srgbClr val="8E52F5">
                <a:alpha val="25000"/>
              </a:srgbClr>
            </a:glow>
          </a:effectLst>
        </p:grpSpPr>
        <p:sp>
          <p:nvSpPr>
            <p:cNvPr id="76" name="Freeform 8">
              <a:extLst>
                <a:ext uri="{FF2B5EF4-FFF2-40B4-BE49-F238E27FC236}">
                  <a16:creationId xmlns:a16="http://schemas.microsoft.com/office/drawing/2014/main" id="{BC11FB1B-782C-43DF-BB34-05B993F69521}"/>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77" name="TextBox 9">
              <a:extLst>
                <a:ext uri="{FF2B5EF4-FFF2-40B4-BE49-F238E27FC236}">
                  <a16:creationId xmlns:a16="http://schemas.microsoft.com/office/drawing/2014/main" id="{09568588-F578-0A09-9BE1-2A86F4CC7D1E}"/>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78" name="Text 11">
            <a:extLst>
              <a:ext uri="{FF2B5EF4-FFF2-40B4-BE49-F238E27FC236}">
                <a16:creationId xmlns:a16="http://schemas.microsoft.com/office/drawing/2014/main" id="{2BB8EF5A-125D-A371-3E64-91A6ACA555F9}"/>
              </a:ext>
            </a:extLst>
          </p:cNvPr>
          <p:cNvSpPr/>
          <p:nvPr/>
        </p:nvSpPr>
        <p:spPr>
          <a:xfrm>
            <a:off x="9902182" y="4550702"/>
            <a:ext cx="4307508" cy="908795"/>
          </a:xfrm>
          <a:prstGeom prst="rect">
            <a:avLst/>
          </a:prstGeom>
          <a:noFill/>
          <a:ln/>
        </p:spPr>
        <p:txBody>
          <a:bodyPr wrap="square" rtlCol="0" anchor="ctr"/>
          <a:lstStyle/>
          <a:p>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03 </a:t>
            </a:r>
            <a:r>
              <a:rPr lang="en-US" sz="28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TACTICAL</a:t>
            </a:r>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 </a:t>
            </a:r>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ndParaRPr>
          </a:p>
        </p:txBody>
      </p:sp>
      <p:sp>
        <p:nvSpPr>
          <p:cNvPr id="79" name="TextBox 17">
            <a:extLst>
              <a:ext uri="{FF2B5EF4-FFF2-40B4-BE49-F238E27FC236}">
                <a16:creationId xmlns:a16="http://schemas.microsoft.com/office/drawing/2014/main" id="{BA11251D-D3A0-D07E-0434-AA392701785D}"/>
              </a:ext>
            </a:extLst>
          </p:cNvPr>
          <p:cNvSpPr txBox="1"/>
          <p:nvPr/>
        </p:nvSpPr>
        <p:spPr>
          <a:xfrm>
            <a:off x="9902181" y="6612355"/>
            <a:ext cx="3533789" cy="2182970"/>
          </a:xfrm>
          <a:prstGeom prst="rect">
            <a:avLst/>
          </a:prstGeom>
        </p:spPr>
        <p:txBody>
          <a:bodyPr wrap="square" lIns="0" tIns="0" rIns="0" bIns="0" rtlCol="0" anchor="t">
            <a:spAutoFit/>
          </a:bodyPr>
          <a:lstStyle/>
          <a:p>
            <a:pPr>
              <a:lnSpc>
                <a:spcPts val="1680"/>
              </a:lnSpc>
            </a:pPr>
            <a:r>
              <a:rPr lang="en-US" sz="2400" i="1" spc="-70" dirty="0">
                <a:solidFill>
                  <a:srgbClr val="FFFFFF"/>
                </a:solidFill>
                <a:latin typeface="Work Sans" pitchFamily="2" charset="0"/>
                <a:ea typeface="Telegraf"/>
                <a:cs typeface="Telegraf"/>
                <a:sym typeface="Telegraf"/>
              </a:rPr>
              <a:t>▸  Hunt queries &amp; detection hypotheses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Sigma/YARA rules &amp; response playbooks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Audience: Detection engineers, IR</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endParaRPr lang="en-US" sz="2400" i="1" spc="-70" dirty="0">
              <a:solidFill>
                <a:srgbClr val="FFFFFF"/>
              </a:solidFill>
              <a:latin typeface="Work Sans" pitchFamily="2" charset="0"/>
              <a:ea typeface="Telegraf"/>
              <a:cs typeface="Telegraf"/>
              <a:sym typeface="Telegraf"/>
            </a:endParaRPr>
          </a:p>
        </p:txBody>
      </p:sp>
      <p:sp>
        <p:nvSpPr>
          <p:cNvPr id="80" name="TextBox 17">
            <a:extLst>
              <a:ext uri="{FF2B5EF4-FFF2-40B4-BE49-F238E27FC236}">
                <a16:creationId xmlns:a16="http://schemas.microsoft.com/office/drawing/2014/main" id="{28CB5583-31C7-D561-A68C-DE76AE7F2640}"/>
              </a:ext>
            </a:extLst>
          </p:cNvPr>
          <p:cNvSpPr txBox="1"/>
          <p:nvPr/>
        </p:nvSpPr>
        <p:spPr>
          <a:xfrm>
            <a:off x="9876145" y="5681971"/>
            <a:ext cx="3559825" cy="218008"/>
          </a:xfrm>
          <a:prstGeom prst="rect">
            <a:avLst/>
          </a:prstGeom>
        </p:spPr>
        <p:txBody>
          <a:bodyPr wrap="square" lIns="0" tIns="0" rIns="0" bIns="0" rtlCol="0" anchor="t">
            <a:spAutoFit/>
          </a:bodyPr>
          <a:lstStyle/>
          <a:p>
            <a:pPr algn="ctr">
              <a:lnSpc>
                <a:spcPts val="1680"/>
              </a:lnSpc>
            </a:pPr>
            <a:r>
              <a:rPr lang="en-US" sz="1600" i="1" spc="-70" dirty="0">
                <a:solidFill>
                  <a:srgbClr val="FFFFFF"/>
                </a:solidFill>
                <a:latin typeface="Work Sans" pitchFamily="2" charset="0"/>
                <a:ea typeface="Telegraf"/>
                <a:cs typeface="Telegraf"/>
                <a:sym typeface="Telegraf"/>
              </a:rPr>
              <a:t>How do adversaries operate?</a:t>
            </a:r>
          </a:p>
        </p:txBody>
      </p:sp>
      <p:sp>
        <p:nvSpPr>
          <p:cNvPr id="81" name="Shape 7">
            <a:extLst>
              <a:ext uri="{FF2B5EF4-FFF2-40B4-BE49-F238E27FC236}">
                <a16:creationId xmlns:a16="http://schemas.microsoft.com/office/drawing/2014/main" id="{1E0F25B0-E20C-7C51-EC16-77F3D67FD194}"/>
              </a:ext>
            </a:extLst>
          </p:cNvPr>
          <p:cNvSpPr/>
          <p:nvPr/>
        </p:nvSpPr>
        <p:spPr>
          <a:xfrm>
            <a:off x="10019330" y="5988550"/>
            <a:ext cx="3273454" cy="54378"/>
          </a:xfrm>
          <a:prstGeom prst="rect">
            <a:avLst/>
          </a:prstGeom>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n w="12700">
            <a:solidFill>
              <a:srgbClr val="9966FF"/>
            </a:solidFill>
            <a:prstDash val="solid"/>
          </a:ln>
        </p:spPr>
        <p:txBody>
          <a:bodyPr/>
          <a:lstStyle/>
          <a:p>
            <a:endParaRPr lang="en-US"/>
          </a:p>
        </p:txBody>
      </p:sp>
      <p:grpSp>
        <p:nvGrpSpPr>
          <p:cNvPr id="82" name="Group 7">
            <a:extLst>
              <a:ext uri="{FF2B5EF4-FFF2-40B4-BE49-F238E27FC236}">
                <a16:creationId xmlns:a16="http://schemas.microsoft.com/office/drawing/2014/main" id="{6468DDFF-00F7-D72F-39E9-064656787400}"/>
              </a:ext>
            </a:extLst>
          </p:cNvPr>
          <p:cNvGrpSpPr/>
          <p:nvPr/>
        </p:nvGrpSpPr>
        <p:grpSpPr>
          <a:xfrm>
            <a:off x="14052196" y="4370683"/>
            <a:ext cx="3991711" cy="5086899"/>
            <a:chOff x="0" y="0"/>
            <a:chExt cx="5516210" cy="3527477"/>
          </a:xfrm>
          <a:effectLst>
            <a:glow rad="304800">
              <a:srgbClr val="8E52F5">
                <a:alpha val="25000"/>
              </a:srgbClr>
            </a:glow>
          </a:effectLst>
        </p:grpSpPr>
        <p:sp>
          <p:nvSpPr>
            <p:cNvPr id="83" name="Freeform 8">
              <a:extLst>
                <a:ext uri="{FF2B5EF4-FFF2-40B4-BE49-F238E27FC236}">
                  <a16:creationId xmlns:a16="http://schemas.microsoft.com/office/drawing/2014/main" id="{A7C7182C-9A8C-CF36-E029-377F11800074}"/>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84" name="TextBox 9">
              <a:extLst>
                <a:ext uri="{FF2B5EF4-FFF2-40B4-BE49-F238E27FC236}">
                  <a16:creationId xmlns:a16="http://schemas.microsoft.com/office/drawing/2014/main" id="{80249295-4A65-3B9D-FAE5-A721BA4F5B81}"/>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85" name="Text 11">
            <a:extLst>
              <a:ext uri="{FF2B5EF4-FFF2-40B4-BE49-F238E27FC236}">
                <a16:creationId xmlns:a16="http://schemas.microsoft.com/office/drawing/2014/main" id="{7EC62928-466F-FC5E-F7B4-59409FEB735D}"/>
              </a:ext>
            </a:extLst>
          </p:cNvPr>
          <p:cNvSpPr/>
          <p:nvPr/>
        </p:nvSpPr>
        <p:spPr>
          <a:xfrm>
            <a:off x="14281404" y="4524771"/>
            <a:ext cx="4307508" cy="908795"/>
          </a:xfrm>
          <a:prstGeom prst="rect">
            <a:avLst/>
          </a:prstGeom>
          <a:noFill/>
          <a:ln/>
        </p:spPr>
        <p:txBody>
          <a:bodyPr wrap="square" rtlCol="0" anchor="ctr"/>
          <a:lstStyle/>
          <a:p>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04 </a:t>
            </a:r>
            <a:r>
              <a:rPr lang="en-US" sz="28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TECHNICAL</a:t>
            </a:r>
            <a:r>
              <a:rPr lang="en-US" sz="60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 </a:t>
            </a:r>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ndParaRPr>
          </a:p>
        </p:txBody>
      </p:sp>
      <p:sp>
        <p:nvSpPr>
          <p:cNvPr id="86" name="TextBox 17">
            <a:extLst>
              <a:ext uri="{FF2B5EF4-FFF2-40B4-BE49-F238E27FC236}">
                <a16:creationId xmlns:a16="http://schemas.microsoft.com/office/drawing/2014/main" id="{4BBEB626-F773-B49E-CDF5-C73C5ECA5F9B}"/>
              </a:ext>
            </a:extLst>
          </p:cNvPr>
          <p:cNvSpPr txBox="1"/>
          <p:nvPr/>
        </p:nvSpPr>
        <p:spPr>
          <a:xfrm>
            <a:off x="14281403" y="6586424"/>
            <a:ext cx="3390603" cy="2202078"/>
          </a:xfrm>
          <a:prstGeom prst="rect">
            <a:avLst/>
          </a:prstGeom>
        </p:spPr>
        <p:txBody>
          <a:bodyPr wrap="square" lIns="0" tIns="0" rIns="0" bIns="0" rtlCol="0" anchor="t">
            <a:spAutoFit/>
          </a:bodyPr>
          <a:lstStyle/>
          <a:p>
            <a:pPr>
              <a:lnSpc>
                <a:spcPts val="1680"/>
              </a:lnSpc>
            </a:pPr>
            <a:r>
              <a:rPr lang="en-US" sz="2400" i="1" spc="-70" dirty="0">
                <a:solidFill>
                  <a:srgbClr val="FFFFFF"/>
                </a:solidFill>
                <a:latin typeface="Work Sans" pitchFamily="2" charset="0"/>
                <a:ea typeface="Telegraf"/>
                <a:cs typeface="Telegraf"/>
                <a:sym typeface="Telegraf"/>
              </a:rPr>
              <a:t>▸  IoC feeds, blocklists, EDR/FW rules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Automated enrichment pipelines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r>
              <a:rPr lang="en-US" sz="2400" i="1" spc="-70" dirty="0">
                <a:solidFill>
                  <a:srgbClr val="FFFFFF"/>
                </a:solidFill>
                <a:latin typeface="Work Sans" pitchFamily="2" charset="0"/>
                <a:ea typeface="Telegraf"/>
                <a:cs typeface="Telegraf"/>
                <a:sym typeface="Telegraf"/>
              </a:rPr>
              <a:t>▸  Audience: L1/L2 analysts, engineers</a:t>
            </a:r>
          </a:p>
          <a:p>
            <a:pPr>
              <a:lnSpc>
                <a:spcPts val="1680"/>
              </a:lnSpc>
            </a:pPr>
            <a:endParaRPr lang="en-US" sz="2400" i="1" spc="-70" dirty="0">
              <a:solidFill>
                <a:srgbClr val="FFFFFF"/>
              </a:solidFill>
              <a:latin typeface="Work Sans" pitchFamily="2" charset="0"/>
              <a:ea typeface="Telegraf"/>
              <a:cs typeface="Telegraf"/>
              <a:sym typeface="Telegraf"/>
            </a:endParaRPr>
          </a:p>
          <a:p>
            <a:pPr>
              <a:lnSpc>
                <a:spcPts val="1680"/>
              </a:lnSpc>
            </a:pPr>
            <a:endParaRPr lang="en-US" sz="2400" i="1" spc="-70" dirty="0">
              <a:solidFill>
                <a:srgbClr val="FFFFFF"/>
              </a:solidFill>
              <a:latin typeface="Work Sans" pitchFamily="2" charset="0"/>
              <a:ea typeface="Telegraf"/>
              <a:cs typeface="Telegraf"/>
              <a:sym typeface="Telegraf"/>
            </a:endParaRPr>
          </a:p>
        </p:txBody>
      </p:sp>
      <p:sp>
        <p:nvSpPr>
          <p:cNvPr id="87" name="TextBox 17">
            <a:extLst>
              <a:ext uri="{FF2B5EF4-FFF2-40B4-BE49-F238E27FC236}">
                <a16:creationId xmlns:a16="http://schemas.microsoft.com/office/drawing/2014/main" id="{C46BC241-889A-4167-76FD-D94A71283BCA}"/>
              </a:ext>
            </a:extLst>
          </p:cNvPr>
          <p:cNvSpPr txBox="1"/>
          <p:nvPr/>
        </p:nvSpPr>
        <p:spPr>
          <a:xfrm>
            <a:off x="14255367" y="5656040"/>
            <a:ext cx="3559825" cy="218008"/>
          </a:xfrm>
          <a:prstGeom prst="rect">
            <a:avLst/>
          </a:prstGeom>
        </p:spPr>
        <p:txBody>
          <a:bodyPr wrap="square" lIns="0" tIns="0" rIns="0" bIns="0" rtlCol="0" anchor="t">
            <a:spAutoFit/>
          </a:bodyPr>
          <a:lstStyle/>
          <a:p>
            <a:pPr algn="ctr">
              <a:lnSpc>
                <a:spcPts val="1680"/>
              </a:lnSpc>
            </a:pPr>
            <a:r>
              <a:rPr lang="en-US" sz="1600" i="1" spc="-70" dirty="0">
                <a:solidFill>
                  <a:srgbClr val="FFFFFF"/>
                </a:solidFill>
                <a:latin typeface="Work Sans" pitchFamily="2" charset="0"/>
                <a:ea typeface="Telegraf"/>
                <a:cs typeface="Telegraf"/>
                <a:sym typeface="Telegraf"/>
              </a:rPr>
              <a:t>What indicators do we block today?</a:t>
            </a:r>
          </a:p>
        </p:txBody>
      </p:sp>
      <p:sp>
        <p:nvSpPr>
          <p:cNvPr id="88" name="Shape 7">
            <a:extLst>
              <a:ext uri="{FF2B5EF4-FFF2-40B4-BE49-F238E27FC236}">
                <a16:creationId xmlns:a16="http://schemas.microsoft.com/office/drawing/2014/main" id="{5E5BD1DC-9E71-781C-156D-41C48D05816A}"/>
              </a:ext>
            </a:extLst>
          </p:cNvPr>
          <p:cNvSpPr/>
          <p:nvPr/>
        </p:nvSpPr>
        <p:spPr>
          <a:xfrm>
            <a:off x="14398552" y="5962619"/>
            <a:ext cx="3273454" cy="54378"/>
          </a:xfrm>
          <a:prstGeom prst="rect">
            <a:avLst/>
          </a:prstGeom>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n w="12700">
            <a:solidFill>
              <a:srgbClr val="9966FF"/>
            </a:solidFill>
            <a:prstDash val="solid"/>
          </a:ln>
        </p:spPr>
        <p:txBody>
          <a:bodyPr/>
          <a:lstStyle/>
          <a:p>
            <a:endParaRPr lang="en-US"/>
          </a:p>
        </p:txBody>
      </p:sp>
      <p:grpSp>
        <p:nvGrpSpPr>
          <p:cNvPr id="90" name="Group 7">
            <a:extLst>
              <a:ext uri="{FF2B5EF4-FFF2-40B4-BE49-F238E27FC236}">
                <a16:creationId xmlns:a16="http://schemas.microsoft.com/office/drawing/2014/main" id="{4A6D8A4C-EF0A-874F-813A-DE74E2AF9A57}"/>
              </a:ext>
            </a:extLst>
          </p:cNvPr>
          <p:cNvGrpSpPr/>
          <p:nvPr/>
        </p:nvGrpSpPr>
        <p:grpSpPr>
          <a:xfrm>
            <a:off x="2186128" y="1941773"/>
            <a:ext cx="3681272" cy="1574612"/>
            <a:chOff x="0" y="0"/>
            <a:chExt cx="5516210" cy="3527477"/>
          </a:xfrm>
          <a:effectLst>
            <a:glow rad="304800">
              <a:srgbClr val="8E52F5">
                <a:alpha val="25000"/>
              </a:srgbClr>
            </a:glow>
          </a:effectLst>
          <a:scene3d>
            <a:camera prst="perspectiveHeroicExtremeRightFacing"/>
            <a:lightRig rig="brightRoom" dir="t">
              <a:rot lat="0" lon="0" rev="1200000"/>
            </a:lightRig>
          </a:scene3d>
        </p:grpSpPr>
        <p:sp>
          <p:nvSpPr>
            <p:cNvPr id="91" name="Freeform 8">
              <a:extLst>
                <a:ext uri="{FF2B5EF4-FFF2-40B4-BE49-F238E27FC236}">
                  <a16:creationId xmlns:a16="http://schemas.microsoft.com/office/drawing/2014/main" id="{E8F79F40-8369-7B89-B78D-825B34F396D2}"/>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effectLst>
              <a:glow rad="127000">
                <a:schemeClr val="bg1">
                  <a:lumMod val="95000"/>
                </a:schemeClr>
              </a:glow>
            </a:effectLst>
            <a:sp3d extrusionH="171450" prstMaterial="matte">
              <a:bevelT w="107950" prst="artDeco"/>
              <a:bevelB w="165100" prst="coolSlant"/>
              <a:extrusionClr>
                <a:srgbClr val="8E52F5"/>
              </a:extrusionClr>
            </a:sp3d>
          </p:spPr>
          <p:txBody>
            <a:bodyPr/>
            <a:lstStyle/>
            <a:p>
              <a:r>
                <a:rPr lang="en-US" i="1" spc="-70" dirty="0">
                  <a:solidFill>
                    <a:srgbClr val="FFFFFF"/>
                  </a:solidFill>
                  <a:latin typeface="Work Sans" pitchFamily="2" charset="0"/>
                  <a:ea typeface="Telegraf"/>
                  <a:cs typeface="Telegraf"/>
                  <a:sym typeface="Telegraf"/>
                </a:rPr>
                <a:t>Each level answers a different question. Each serves a different audience. All four must reinforce each other.</a:t>
              </a:r>
            </a:p>
            <a:p>
              <a:endParaRPr lang="en-US" dirty="0"/>
            </a:p>
            <a:p>
              <a:endParaRPr lang="en-US" dirty="0"/>
            </a:p>
          </p:txBody>
        </p:sp>
        <p:sp>
          <p:nvSpPr>
            <p:cNvPr id="92" name="TextBox 9">
              <a:extLst>
                <a:ext uri="{FF2B5EF4-FFF2-40B4-BE49-F238E27FC236}">
                  <a16:creationId xmlns:a16="http://schemas.microsoft.com/office/drawing/2014/main" id="{B1BD90C3-DC7B-6684-C074-D7B9A0BAAEB4}"/>
                </a:ext>
              </a:extLst>
            </p:cNvPr>
            <p:cNvSpPr txBox="1"/>
            <p:nvPr/>
          </p:nvSpPr>
          <p:spPr>
            <a:xfrm>
              <a:off x="63500" y="6350"/>
              <a:ext cx="5389210" cy="3457627"/>
            </a:xfrm>
            <a:prstGeom prst="rect">
              <a:avLst/>
            </a:prstGeom>
            <a:ln>
              <a:solidFill>
                <a:srgbClr val="5E3587"/>
              </a:solidFill>
            </a:ln>
            <a:sp3d extrusionH="171450" prstMaterial="matte">
              <a:bevelT w="107950" prst="artDeco"/>
              <a:bevelB w="165100" prst="coolSlant"/>
              <a:extrusionClr>
                <a:srgbClr val="8E52F5"/>
              </a:extrusionClr>
            </a:sp3d>
          </p:spPr>
          <p:txBody>
            <a:bodyPr lIns="50800" tIns="50800" rIns="50800" bIns="50800" rtlCol="0" anchor="ctr"/>
            <a:lstStyle/>
            <a:p>
              <a:pPr algn="ctr">
                <a:lnSpc>
                  <a:spcPts val="1960"/>
                </a:lnSpc>
              </a:pPr>
              <a:endParaRPr/>
            </a:p>
          </p:txBody>
        </p:sp>
      </p:grpSp>
      <p:grpSp>
        <p:nvGrpSpPr>
          <p:cNvPr id="2" name="Group 4">
            <a:extLst>
              <a:ext uri="{FF2B5EF4-FFF2-40B4-BE49-F238E27FC236}">
                <a16:creationId xmlns:a16="http://schemas.microsoft.com/office/drawing/2014/main" id="{F62F47C9-CCE6-5009-3A7B-4A83AB0003E2}"/>
              </a:ext>
            </a:extLst>
          </p:cNvPr>
          <p:cNvGrpSpPr/>
          <p:nvPr/>
        </p:nvGrpSpPr>
        <p:grpSpPr>
          <a:xfrm>
            <a:off x="8559761" y="1129653"/>
            <a:ext cx="247059" cy="56998"/>
            <a:chOff x="0" y="0"/>
            <a:chExt cx="65069" cy="15012"/>
          </a:xfrm>
        </p:grpSpPr>
        <p:sp>
          <p:nvSpPr>
            <p:cNvPr id="7" name="Freeform 5">
              <a:extLst>
                <a:ext uri="{FF2B5EF4-FFF2-40B4-BE49-F238E27FC236}">
                  <a16:creationId xmlns:a16="http://schemas.microsoft.com/office/drawing/2014/main" id="{BC08644E-9CFF-9A47-7FC0-4C90CBE39D16}"/>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6">
              <a:extLst>
                <a:ext uri="{FF2B5EF4-FFF2-40B4-BE49-F238E27FC236}">
                  <a16:creationId xmlns:a16="http://schemas.microsoft.com/office/drawing/2014/main" id="{4499DBBD-7CAE-B788-B3E9-BC5E3460E1B5}"/>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TextBox 13">
            <a:extLst>
              <a:ext uri="{FF2B5EF4-FFF2-40B4-BE49-F238E27FC236}">
                <a16:creationId xmlns:a16="http://schemas.microsoft.com/office/drawing/2014/main" id="{43667DA0-4F1E-2E4B-8A95-30A2C3F1F678}"/>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10" name="TextBox 14">
            <a:extLst>
              <a:ext uri="{FF2B5EF4-FFF2-40B4-BE49-F238E27FC236}">
                <a16:creationId xmlns:a16="http://schemas.microsoft.com/office/drawing/2014/main" id="{ADE2FEA4-E540-1F52-57FD-97F48B3BC727}"/>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12" name="TextBox 14">
            <a:extLst>
              <a:ext uri="{FF2B5EF4-FFF2-40B4-BE49-F238E27FC236}">
                <a16:creationId xmlns:a16="http://schemas.microsoft.com/office/drawing/2014/main" id="{447CAE5C-321A-1F59-D483-A5C3E9A2BDC3}"/>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17" name="TextBox 14">
            <a:extLst>
              <a:ext uri="{FF2B5EF4-FFF2-40B4-BE49-F238E27FC236}">
                <a16:creationId xmlns:a16="http://schemas.microsoft.com/office/drawing/2014/main" id="{8811B686-BC9D-C2B0-F0AC-327450311E28}"/>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1000"/>
                                        <p:tgtEl>
                                          <p:spTgt spid="35"/>
                                        </p:tgtEl>
                                      </p:cBhvr>
                                    </p:animEffect>
                                    <p:anim calcmode="lin" valueType="num">
                                      <p:cBhvr>
                                        <p:cTn id="18" dur="1000" fill="hold"/>
                                        <p:tgtEl>
                                          <p:spTgt spid="35"/>
                                        </p:tgtEl>
                                        <p:attrNameLst>
                                          <p:attrName>ppt_x</p:attrName>
                                        </p:attrNameLst>
                                      </p:cBhvr>
                                      <p:tavLst>
                                        <p:tav tm="0">
                                          <p:val>
                                            <p:strVal val="#ppt_x"/>
                                          </p:val>
                                        </p:tav>
                                        <p:tav tm="100000">
                                          <p:val>
                                            <p:strVal val="#ppt_x"/>
                                          </p:val>
                                        </p:tav>
                                      </p:tavLst>
                                    </p:anim>
                                    <p:anim calcmode="lin" valueType="num">
                                      <p:cBhvr>
                                        <p:cTn id="19" dur="1000" fill="hold"/>
                                        <p:tgtEl>
                                          <p:spTgt spid="3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anim calcmode="lin" valueType="num">
                                      <p:cBhvr>
                                        <p:cTn id="23" dur="1000" fill="hold"/>
                                        <p:tgtEl>
                                          <p:spTgt spid="38"/>
                                        </p:tgtEl>
                                        <p:attrNameLst>
                                          <p:attrName>ppt_x</p:attrName>
                                        </p:attrNameLst>
                                      </p:cBhvr>
                                      <p:tavLst>
                                        <p:tav tm="0">
                                          <p:val>
                                            <p:strVal val="#ppt_x"/>
                                          </p:val>
                                        </p:tav>
                                        <p:tav tm="100000">
                                          <p:val>
                                            <p:strVal val="#ppt_x"/>
                                          </p:val>
                                        </p:tav>
                                      </p:tavLst>
                                    </p:anim>
                                    <p:anim calcmode="lin" valueType="num">
                                      <p:cBhvr>
                                        <p:cTn id="24" dur="1000" fill="hold"/>
                                        <p:tgtEl>
                                          <p:spTgt spid="3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1000"/>
                                        <p:tgtEl>
                                          <p:spTgt spid="39"/>
                                        </p:tgtEl>
                                      </p:cBhvr>
                                    </p:animEffect>
                                    <p:anim calcmode="lin" valueType="num">
                                      <p:cBhvr>
                                        <p:cTn id="28" dur="1000" fill="hold"/>
                                        <p:tgtEl>
                                          <p:spTgt spid="39"/>
                                        </p:tgtEl>
                                        <p:attrNameLst>
                                          <p:attrName>ppt_x</p:attrName>
                                        </p:attrNameLst>
                                      </p:cBhvr>
                                      <p:tavLst>
                                        <p:tav tm="0">
                                          <p:val>
                                            <p:strVal val="#ppt_x"/>
                                          </p:val>
                                        </p:tav>
                                        <p:tav tm="100000">
                                          <p:val>
                                            <p:strVal val="#ppt_x"/>
                                          </p:val>
                                        </p:tav>
                                      </p:tavLst>
                                    </p:anim>
                                    <p:anim calcmode="lin" valueType="num">
                                      <p:cBhvr>
                                        <p:cTn id="29" dur="1000" fill="hold"/>
                                        <p:tgtEl>
                                          <p:spTgt spid="3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1000"/>
                                        <p:tgtEl>
                                          <p:spTgt spid="68"/>
                                        </p:tgtEl>
                                      </p:cBhvr>
                                    </p:animEffect>
                                    <p:anim calcmode="lin" valueType="num">
                                      <p:cBhvr>
                                        <p:cTn id="33" dur="1000" fill="hold"/>
                                        <p:tgtEl>
                                          <p:spTgt spid="68"/>
                                        </p:tgtEl>
                                        <p:attrNameLst>
                                          <p:attrName>ppt_x</p:attrName>
                                        </p:attrNameLst>
                                      </p:cBhvr>
                                      <p:tavLst>
                                        <p:tav tm="0">
                                          <p:val>
                                            <p:strVal val="#ppt_x"/>
                                          </p:val>
                                        </p:tav>
                                        <p:tav tm="100000">
                                          <p:val>
                                            <p:strVal val="#ppt_x"/>
                                          </p:val>
                                        </p:tav>
                                      </p:tavLst>
                                    </p:anim>
                                    <p:anim calcmode="lin" valueType="num">
                                      <p:cBhvr>
                                        <p:cTn id="34" dur="1000" fill="hold"/>
                                        <p:tgtEl>
                                          <p:spTgt spid="6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1000"/>
                                        <p:tgtEl>
                                          <p:spTgt spid="71"/>
                                        </p:tgtEl>
                                      </p:cBhvr>
                                    </p:animEffect>
                                    <p:anim calcmode="lin" valueType="num">
                                      <p:cBhvr>
                                        <p:cTn id="38" dur="1000" fill="hold"/>
                                        <p:tgtEl>
                                          <p:spTgt spid="71"/>
                                        </p:tgtEl>
                                        <p:attrNameLst>
                                          <p:attrName>ppt_x</p:attrName>
                                        </p:attrNameLst>
                                      </p:cBhvr>
                                      <p:tavLst>
                                        <p:tav tm="0">
                                          <p:val>
                                            <p:strVal val="#ppt_x"/>
                                          </p:val>
                                        </p:tav>
                                        <p:tav tm="100000">
                                          <p:val>
                                            <p:strVal val="#ppt_x"/>
                                          </p:val>
                                        </p:tav>
                                      </p:tavLst>
                                    </p:anim>
                                    <p:anim calcmode="lin" valueType="num">
                                      <p:cBhvr>
                                        <p:cTn id="39" dur="1000" fill="hold"/>
                                        <p:tgtEl>
                                          <p:spTgt spid="7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1000"/>
                                        <p:tgtEl>
                                          <p:spTgt spid="72"/>
                                        </p:tgtEl>
                                      </p:cBhvr>
                                    </p:animEffect>
                                    <p:anim calcmode="lin" valueType="num">
                                      <p:cBhvr>
                                        <p:cTn id="43" dur="1000" fill="hold"/>
                                        <p:tgtEl>
                                          <p:spTgt spid="72"/>
                                        </p:tgtEl>
                                        <p:attrNameLst>
                                          <p:attrName>ppt_x</p:attrName>
                                        </p:attrNameLst>
                                      </p:cBhvr>
                                      <p:tavLst>
                                        <p:tav tm="0">
                                          <p:val>
                                            <p:strVal val="#ppt_x"/>
                                          </p:val>
                                        </p:tav>
                                        <p:tav tm="100000">
                                          <p:val>
                                            <p:strVal val="#ppt_x"/>
                                          </p:val>
                                        </p:tav>
                                      </p:tavLst>
                                    </p:anim>
                                    <p:anim calcmode="lin" valueType="num">
                                      <p:cBhvr>
                                        <p:cTn id="44" dur="1000" fill="hold"/>
                                        <p:tgtEl>
                                          <p:spTgt spid="7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1000"/>
                                        <p:tgtEl>
                                          <p:spTgt spid="73"/>
                                        </p:tgtEl>
                                      </p:cBhvr>
                                    </p:animEffect>
                                    <p:anim calcmode="lin" valueType="num">
                                      <p:cBhvr>
                                        <p:cTn id="48" dur="1000" fill="hold"/>
                                        <p:tgtEl>
                                          <p:spTgt spid="73"/>
                                        </p:tgtEl>
                                        <p:attrNameLst>
                                          <p:attrName>ppt_x</p:attrName>
                                        </p:attrNameLst>
                                      </p:cBhvr>
                                      <p:tavLst>
                                        <p:tav tm="0">
                                          <p:val>
                                            <p:strVal val="#ppt_x"/>
                                          </p:val>
                                        </p:tav>
                                        <p:tav tm="100000">
                                          <p:val>
                                            <p:strVal val="#ppt_x"/>
                                          </p:val>
                                        </p:tav>
                                      </p:tavLst>
                                    </p:anim>
                                    <p:anim calcmode="lin" valueType="num">
                                      <p:cBhvr>
                                        <p:cTn id="49" dur="1000" fill="hold"/>
                                        <p:tgtEl>
                                          <p:spTgt spid="7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74"/>
                                        </p:tgtEl>
                                        <p:attrNameLst>
                                          <p:attrName>style.visibility</p:attrName>
                                        </p:attrNameLst>
                                      </p:cBhvr>
                                      <p:to>
                                        <p:strVal val="visible"/>
                                      </p:to>
                                    </p:set>
                                    <p:animEffect transition="in" filter="fade">
                                      <p:cBhvr>
                                        <p:cTn id="52" dur="1000"/>
                                        <p:tgtEl>
                                          <p:spTgt spid="74"/>
                                        </p:tgtEl>
                                      </p:cBhvr>
                                    </p:animEffect>
                                    <p:anim calcmode="lin" valueType="num">
                                      <p:cBhvr>
                                        <p:cTn id="53" dur="1000" fill="hold"/>
                                        <p:tgtEl>
                                          <p:spTgt spid="74"/>
                                        </p:tgtEl>
                                        <p:attrNameLst>
                                          <p:attrName>ppt_x</p:attrName>
                                        </p:attrNameLst>
                                      </p:cBhvr>
                                      <p:tavLst>
                                        <p:tav tm="0">
                                          <p:val>
                                            <p:strVal val="#ppt_x"/>
                                          </p:val>
                                        </p:tav>
                                        <p:tav tm="100000">
                                          <p:val>
                                            <p:strVal val="#ppt_x"/>
                                          </p:val>
                                        </p:tav>
                                      </p:tavLst>
                                    </p:anim>
                                    <p:anim calcmode="lin" valueType="num">
                                      <p:cBhvr>
                                        <p:cTn id="54" dur="1000" fill="hold"/>
                                        <p:tgtEl>
                                          <p:spTgt spid="74"/>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75"/>
                                        </p:tgtEl>
                                        <p:attrNameLst>
                                          <p:attrName>style.visibility</p:attrName>
                                        </p:attrNameLst>
                                      </p:cBhvr>
                                      <p:to>
                                        <p:strVal val="visible"/>
                                      </p:to>
                                    </p:set>
                                    <p:animEffect transition="in" filter="fade">
                                      <p:cBhvr>
                                        <p:cTn id="57" dur="1000"/>
                                        <p:tgtEl>
                                          <p:spTgt spid="75"/>
                                        </p:tgtEl>
                                      </p:cBhvr>
                                    </p:animEffect>
                                    <p:anim calcmode="lin" valueType="num">
                                      <p:cBhvr>
                                        <p:cTn id="58" dur="1000" fill="hold"/>
                                        <p:tgtEl>
                                          <p:spTgt spid="75"/>
                                        </p:tgtEl>
                                        <p:attrNameLst>
                                          <p:attrName>ppt_x</p:attrName>
                                        </p:attrNameLst>
                                      </p:cBhvr>
                                      <p:tavLst>
                                        <p:tav tm="0">
                                          <p:val>
                                            <p:strVal val="#ppt_x"/>
                                          </p:val>
                                        </p:tav>
                                        <p:tav tm="100000">
                                          <p:val>
                                            <p:strVal val="#ppt_x"/>
                                          </p:val>
                                        </p:tav>
                                      </p:tavLst>
                                    </p:anim>
                                    <p:anim calcmode="lin" valueType="num">
                                      <p:cBhvr>
                                        <p:cTn id="59" dur="1000" fill="hold"/>
                                        <p:tgtEl>
                                          <p:spTgt spid="7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78"/>
                                        </p:tgtEl>
                                        <p:attrNameLst>
                                          <p:attrName>style.visibility</p:attrName>
                                        </p:attrNameLst>
                                      </p:cBhvr>
                                      <p:to>
                                        <p:strVal val="visible"/>
                                      </p:to>
                                    </p:set>
                                    <p:animEffect transition="in" filter="fade">
                                      <p:cBhvr>
                                        <p:cTn id="62" dur="1000"/>
                                        <p:tgtEl>
                                          <p:spTgt spid="78"/>
                                        </p:tgtEl>
                                      </p:cBhvr>
                                    </p:animEffect>
                                    <p:anim calcmode="lin" valueType="num">
                                      <p:cBhvr>
                                        <p:cTn id="63" dur="1000" fill="hold"/>
                                        <p:tgtEl>
                                          <p:spTgt spid="78"/>
                                        </p:tgtEl>
                                        <p:attrNameLst>
                                          <p:attrName>ppt_x</p:attrName>
                                        </p:attrNameLst>
                                      </p:cBhvr>
                                      <p:tavLst>
                                        <p:tav tm="0">
                                          <p:val>
                                            <p:strVal val="#ppt_x"/>
                                          </p:val>
                                        </p:tav>
                                        <p:tav tm="100000">
                                          <p:val>
                                            <p:strVal val="#ppt_x"/>
                                          </p:val>
                                        </p:tav>
                                      </p:tavLst>
                                    </p:anim>
                                    <p:anim calcmode="lin" valueType="num">
                                      <p:cBhvr>
                                        <p:cTn id="64" dur="1000" fill="hold"/>
                                        <p:tgtEl>
                                          <p:spTgt spid="78"/>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79"/>
                                        </p:tgtEl>
                                        <p:attrNameLst>
                                          <p:attrName>style.visibility</p:attrName>
                                        </p:attrNameLst>
                                      </p:cBhvr>
                                      <p:to>
                                        <p:strVal val="visible"/>
                                      </p:to>
                                    </p:set>
                                    <p:animEffect transition="in" filter="fade">
                                      <p:cBhvr>
                                        <p:cTn id="67" dur="1000"/>
                                        <p:tgtEl>
                                          <p:spTgt spid="79"/>
                                        </p:tgtEl>
                                      </p:cBhvr>
                                    </p:animEffect>
                                    <p:anim calcmode="lin" valueType="num">
                                      <p:cBhvr>
                                        <p:cTn id="68" dur="1000" fill="hold"/>
                                        <p:tgtEl>
                                          <p:spTgt spid="79"/>
                                        </p:tgtEl>
                                        <p:attrNameLst>
                                          <p:attrName>ppt_x</p:attrName>
                                        </p:attrNameLst>
                                      </p:cBhvr>
                                      <p:tavLst>
                                        <p:tav tm="0">
                                          <p:val>
                                            <p:strVal val="#ppt_x"/>
                                          </p:val>
                                        </p:tav>
                                        <p:tav tm="100000">
                                          <p:val>
                                            <p:strVal val="#ppt_x"/>
                                          </p:val>
                                        </p:tav>
                                      </p:tavLst>
                                    </p:anim>
                                    <p:anim calcmode="lin" valueType="num">
                                      <p:cBhvr>
                                        <p:cTn id="69" dur="1000" fill="hold"/>
                                        <p:tgtEl>
                                          <p:spTgt spid="7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80"/>
                                        </p:tgtEl>
                                        <p:attrNameLst>
                                          <p:attrName>style.visibility</p:attrName>
                                        </p:attrNameLst>
                                      </p:cBhvr>
                                      <p:to>
                                        <p:strVal val="visible"/>
                                      </p:to>
                                    </p:set>
                                    <p:animEffect transition="in" filter="fade">
                                      <p:cBhvr>
                                        <p:cTn id="72" dur="1000"/>
                                        <p:tgtEl>
                                          <p:spTgt spid="80"/>
                                        </p:tgtEl>
                                      </p:cBhvr>
                                    </p:animEffect>
                                    <p:anim calcmode="lin" valueType="num">
                                      <p:cBhvr>
                                        <p:cTn id="73" dur="1000" fill="hold"/>
                                        <p:tgtEl>
                                          <p:spTgt spid="80"/>
                                        </p:tgtEl>
                                        <p:attrNameLst>
                                          <p:attrName>ppt_x</p:attrName>
                                        </p:attrNameLst>
                                      </p:cBhvr>
                                      <p:tavLst>
                                        <p:tav tm="0">
                                          <p:val>
                                            <p:strVal val="#ppt_x"/>
                                          </p:val>
                                        </p:tav>
                                        <p:tav tm="100000">
                                          <p:val>
                                            <p:strVal val="#ppt_x"/>
                                          </p:val>
                                        </p:tav>
                                      </p:tavLst>
                                    </p:anim>
                                    <p:anim calcmode="lin" valueType="num">
                                      <p:cBhvr>
                                        <p:cTn id="74" dur="1000" fill="hold"/>
                                        <p:tgtEl>
                                          <p:spTgt spid="8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81"/>
                                        </p:tgtEl>
                                        <p:attrNameLst>
                                          <p:attrName>style.visibility</p:attrName>
                                        </p:attrNameLst>
                                      </p:cBhvr>
                                      <p:to>
                                        <p:strVal val="visible"/>
                                      </p:to>
                                    </p:set>
                                    <p:animEffect transition="in" filter="fade">
                                      <p:cBhvr>
                                        <p:cTn id="77" dur="1000"/>
                                        <p:tgtEl>
                                          <p:spTgt spid="81"/>
                                        </p:tgtEl>
                                      </p:cBhvr>
                                    </p:animEffect>
                                    <p:anim calcmode="lin" valueType="num">
                                      <p:cBhvr>
                                        <p:cTn id="78" dur="1000" fill="hold"/>
                                        <p:tgtEl>
                                          <p:spTgt spid="81"/>
                                        </p:tgtEl>
                                        <p:attrNameLst>
                                          <p:attrName>ppt_x</p:attrName>
                                        </p:attrNameLst>
                                      </p:cBhvr>
                                      <p:tavLst>
                                        <p:tav tm="0">
                                          <p:val>
                                            <p:strVal val="#ppt_x"/>
                                          </p:val>
                                        </p:tav>
                                        <p:tav tm="100000">
                                          <p:val>
                                            <p:strVal val="#ppt_x"/>
                                          </p:val>
                                        </p:tav>
                                      </p:tavLst>
                                    </p:anim>
                                    <p:anim calcmode="lin" valueType="num">
                                      <p:cBhvr>
                                        <p:cTn id="79" dur="1000" fill="hold"/>
                                        <p:tgtEl>
                                          <p:spTgt spid="81"/>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86"/>
                                        </p:tgtEl>
                                        <p:attrNameLst>
                                          <p:attrName>style.visibility</p:attrName>
                                        </p:attrNameLst>
                                      </p:cBhvr>
                                      <p:to>
                                        <p:strVal val="visible"/>
                                      </p:to>
                                    </p:set>
                                    <p:animEffect transition="in" filter="fade">
                                      <p:cBhvr>
                                        <p:cTn id="82" dur="1000"/>
                                        <p:tgtEl>
                                          <p:spTgt spid="86"/>
                                        </p:tgtEl>
                                      </p:cBhvr>
                                    </p:animEffect>
                                    <p:anim calcmode="lin" valueType="num">
                                      <p:cBhvr>
                                        <p:cTn id="83" dur="1000" fill="hold"/>
                                        <p:tgtEl>
                                          <p:spTgt spid="86"/>
                                        </p:tgtEl>
                                        <p:attrNameLst>
                                          <p:attrName>ppt_x</p:attrName>
                                        </p:attrNameLst>
                                      </p:cBhvr>
                                      <p:tavLst>
                                        <p:tav tm="0">
                                          <p:val>
                                            <p:strVal val="#ppt_x"/>
                                          </p:val>
                                        </p:tav>
                                        <p:tav tm="100000">
                                          <p:val>
                                            <p:strVal val="#ppt_x"/>
                                          </p:val>
                                        </p:tav>
                                      </p:tavLst>
                                    </p:anim>
                                    <p:anim calcmode="lin" valueType="num">
                                      <p:cBhvr>
                                        <p:cTn id="84" dur="1000" fill="hold"/>
                                        <p:tgtEl>
                                          <p:spTgt spid="8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fade">
                                      <p:cBhvr>
                                        <p:cTn id="87" dur="1000"/>
                                        <p:tgtEl>
                                          <p:spTgt spid="87"/>
                                        </p:tgtEl>
                                      </p:cBhvr>
                                    </p:animEffect>
                                    <p:anim calcmode="lin" valueType="num">
                                      <p:cBhvr>
                                        <p:cTn id="88" dur="1000" fill="hold"/>
                                        <p:tgtEl>
                                          <p:spTgt spid="87"/>
                                        </p:tgtEl>
                                        <p:attrNameLst>
                                          <p:attrName>ppt_x</p:attrName>
                                        </p:attrNameLst>
                                      </p:cBhvr>
                                      <p:tavLst>
                                        <p:tav tm="0">
                                          <p:val>
                                            <p:strVal val="#ppt_x"/>
                                          </p:val>
                                        </p:tav>
                                        <p:tav tm="100000">
                                          <p:val>
                                            <p:strVal val="#ppt_x"/>
                                          </p:val>
                                        </p:tav>
                                      </p:tavLst>
                                    </p:anim>
                                    <p:anim calcmode="lin" valueType="num">
                                      <p:cBhvr>
                                        <p:cTn id="89" dur="1000" fill="hold"/>
                                        <p:tgtEl>
                                          <p:spTgt spid="8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88"/>
                                        </p:tgtEl>
                                        <p:attrNameLst>
                                          <p:attrName>style.visibility</p:attrName>
                                        </p:attrNameLst>
                                      </p:cBhvr>
                                      <p:to>
                                        <p:strVal val="visible"/>
                                      </p:to>
                                    </p:set>
                                    <p:animEffect transition="in" filter="fade">
                                      <p:cBhvr>
                                        <p:cTn id="92" dur="1000"/>
                                        <p:tgtEl>
                                          <p:spTgt spid="88"/>
                                        </p:tgtEl>
                                      </p:cBhvr>
                                    </p:animEffect>
                                    <p:anim calcmode="lin" valueType="num">
                                      <p:cBhvr>
                                        <p:cTn id="93" dur="1000" fill="hold"/>
                                        <p:tgtEl>
                                          <p:spTgt spid="88"/>
                                        </p:tgtEl>
                                        <p:attrNameLst>
                                          <p:attrName>ppt_x</p:attrName>
                                        </p:attrNameLst>
                                      </p:cBhvr>
                                      <p:tavLst>
                                        <p:tav tm="0">
                                          <p:val>
                                            <p:strVal val="#ppt_x"/>
                                          </p:val>
                                        </p:tav>
                                        <p:tav tm="100000">
                                          <p:val>
                                            <p:strVal val="#ppt_x"/>
                                          </p:val>
                                        </p:tav>
                                      </p:tavLst>
                                    </p:anim>
                                    <p:anim calcmode="lin" valueType="num">
                                      <p:cBhvr>
                                        <p:cTn id="94" dur="1000" fill="hold"/>
                                        <p:tgtEl>
                                          <p:spTgt spid="88"/>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85"/>
                                        </p:tgtEl>
                                        <p:attrNameLst>
                                          <p:attrName>style.visibility</p:attrName>
                                        </p:attrNameLst>
                                      </p:cBhvr>
                                      <p:to>
                                        <p:strVal val="visible"/>
                                      </p:to>
                                    </p:set>
                                    <p:animEffect transition="in" filter="fade">
                                      <p:cBhvr>
                                        <p:cTn id="97" dur="1000"/>
                                        <p:tgtEl>
                                          <p:spTgt spid="85"/>
                                        </p:tgtEl>
                                      </p:cBhvr>
                                    </p:animEffect>
                                    <p:anim calcmode="lin" valueType="num">
                                      <p:cBhvr>
                                        <p:cTn id="98" dur="1000" fill="hold"/>
                                        <p:tgtEl>
                                          <p:spTgt spid="85"/>
                                        </p:tgtEl>
                                        <p:attrNameLst>
                                          <p:attrName>ppt_x</p:attrName>
                                        </p:attrNameLst>
                                      </p:cBhvr>
                                      <p:tavLst>
                                        <p:tav tm="0">
                                          <p:val>
                                            <p:strVal val="#ppt_x"/>
                                          </p:val>
                                        </p:tav>
                                        <p:tav tm="100000">
                                          <p:val>
                                            <p:strVal val="#ppt_x"/>
                                          </p:val>
                                        </p:tav>
                                      </p:tavLst>
                                    </p:anim>
                                    <p:anim calcmode="lin" valueType="num">
                                      <p:cBhvr>
                                        <p:cTn id="99" dur="1000" fill="hold"/>
                                        <p:tgtEl>
                                          <p:spTgt spid="85"/>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82"/>
                                        </p:tgtEl>
                                        <p:attrNameLst>
                                          <p:attrName>style.visibility</p:attrName>
                                        </p:attrNameLst>
                                      </p:cBhvr>
                                      <p:to>
                                        <p:strVal val="visible"/>
                                      </p:to>
                                    </p:set>
                                    <p:animEffect transition="in" filter="fade">
                                      <p:cBhvr>
                                        <p:cTn id="102" dur="1000"/>
                                        <p:tgtEl>
                                          <p:spTgt spid="82"/>
                                        </p:tgtEl>
                                      </p:cBhvr>
                                    </p:animEffect>
                                    <p:anim calcmode="lin" valueType="num">
                                      <p:cBhvr>
                                        <p:cTn id="103" dur="1000" fill="hold"/>
                                        <p:tgtEl>
                                          <p:spTgt spid="82"/>
                                        </p:tgtEl>
                                        <p:attrNameLst>
                                          <p:attrName>ppt_x</p:attrName>
                                        </p:attrNameLst>
                                      </p:cBhvr>
                                      <p:tavLst>
                                        <p:tav tm="0">
                                          <p:val>
                                            <p:strVal val="#ppt_x"/>
                                          </p:val>
                                        </p:tav>
                                        <p:tav tm="100000">
                                          <p:val>
                                            <p:strVal val="#ppt_x"/>
                                          </p:val>
                                        </p:tav>
                                      </p:tavLst>
                                    </p:anim>
                                    <p:anim calcmode="lin" valueType="num">
                                      <p:cBhvr>
                                        <p:cTn id="104"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8" grpId="0"/>
      <p:bldP spid="39" grpId="0" animBg="1"/>
      <p:bldP spid="71" grpId="0" animBg="1"/>
      <p:bldP spid="72" grpId="0"/>
      <p:bldP spid="73" grpId="0"/>
      <p:bldP spid="74" grpId="0" animBg="1"/>
      <p:bldP spid="78" grpId="0" animBg="1"/>
      <p:bldP spid="79" grpId="0"/>
      <p:bldP spid="80" grpId="0"/>
      <p:bldP spid="81" grpId="0" animBg="1"/>
      <p:bldP spid="85" grpId="0" animBg="1"/>
      <p:bldP spid="86" grpId="0"/>
      <p:bldP spid="87" grpId="0"/>
      <p:bldP spid="8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3" name="Freeform 3"/>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6" name="TextBox 16"/>
          <p:cNvSpPr txBox="1"/>
          <p:nvPr/>
        </p:nvSpPr>
        <p:spPr>
          <a:xfrm>
            <a:off x="673796" y="2363817"/>
            <a:ext cx="7598128" cy="2180084"/>
          </a:xfrm>
          <a:prstGeom prst="rect">
            <a:avLst/>
          </a:prstGeom>
        </p:spPr>
        <p:txBody>
          <a:bodyPr lIns="0" tIns="0" rIns="0" bIns="0" rtlCol="0" anchor="t">
            <a:spAutoFit/>
          </a:bodyPr>
          <a:lstStyle/>
          <a:p>
            <a:pPr algn="l">
              <a:lnSpc>
                <a:spcPts val="8457"/>
              </a:lnSpc>
            </a:pPr>
            <a:r>
              <a:rPr lang="en-US" sz="1019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The CTI Lifecycle </a:t>
            </a:r>
          </a:p>
        </p:txBody>
      </p:sp>
      <p:sp>
        <p:nvSpPr>
          <p:cNvPr id="18" name="Freeform 18"/>
          <p:cNvSpPr/>
          <p:nvPr/>
        </p:nvSpPr>
        <p:spPr>
          <a:xfrm>
            <a:off x="6813563" y="2617983"/>
            <a:ext cx="545801"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9" name="Image 0" descr="/home/claude/cygnus_logo.png">
            <a:extLst>
              <a:ext uri="{FF2B5EF4-FFF2-40B4-BE49-F238E27FC236}">
                <a16:creationId xmlns:a16="http://schemas.microsoft.com/office/drawing/2014/main" id="{E6632CDE-011D-B167-2C85-A0A82EC88721}"/>
              </a:ext>
            </a:extLst>
          </p:cNvPr>
          <p:cNvPicPr>
            <a:picLocks noChangeAspect="1"/>
          </p:cNvPicPr>
          <p:nvPr/>
        </p:nvPicPr>
        <p:blipFill>
          <a:blip r:embed="rId4"/>
          <a:stretch>
            <a:fillRect/>
          </a:stretch>
        </p:blipFill>
        <p:spPr>
          <a:xfrm>
            <a:off x="651199" y="502921"/>
            <a:ext cx="1330002" cy="266000"/>
          </a:xfrm>
          <a:prstGeom prst="rect">
            <a:avLst/>
          </a:prstGeom>
        </p:spPr>
      </p:pic>
      <p:grpSp>
        <p:nvGrpSpPr>
          <p:cNvPr id="64" name="Group 7">
            <a:extLst>
              <a:ext uri="{FF2B5EF4-FFF2-40B4-BE49-F238E27FC236}">
                <a16:creationId xmlns:a16="http://schemas.microsoft.com/office/drawing/2014/main" id="{D069643E-53CA-9D74-13E4-4F006A0532CA}"/>
              </a:ext>
            </a:extLst>
          </p:cNvPr>
          <p:cNvGrpSpPr/>
          <p:nvPr/>
        </p:nvGrpSpPr>
        <p:grpSpPr>
          <a:xfrm>
            <a:off x="762000" y="6244554"/>
            <a:ext cx="2856502" cy="5825586"/>
            <a:chOff x="0" y="0"/>
            <a:chExt cx="5516210" cy="3527477"/>
          </a:xfrm>
          <a:effectLst>
            <a:glow rad="304800">
              <a:srgbClr val="8E52F5">
                <a:alpha val="25000"/>
              </a:srgbClr>
            </a:glow>
          </a:effectLst>
          <a:scene3d>
            <a:camera prst="isometricOffAxis1Right"/>
            <a:lightRig rig="threePt" dir="t"/>
          </a:scene3d>
        </p:grpSpPr>
        <p:sp>
          <p:nvSpPr>
            <p:cNvPr id="65" name="Freeform 8">
              <a:extLst>
                <a:ext uri="{FF2B5EF4-FFF2-40B4-BE49-F238E27FC236}">
                  <a16:creationId xmlns:a16="http://schemas.microsoft.com/office/drawing/2014/main" id="{A4F7DD4A-6D96-5E0A-209D-71E36E86D599}"/>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rPr>
                <a:t>01 </a:t>
              </a:r>
              <a:r>
                <a:rPr lang="en-US" sz="2800" b="1" dirty="0">
                  <a:solidFill>
                    <a:srgbClr val="FFFFFF"/>
                  </a:solidFill>
                  <a:latin typeface="Calibri" pitchFamily="34" charset="0"/>
                  <a:ea typeface="Calibri" pitchFamily="34" charset="-122"/>
                  <a:cs typeface="Calibri" pitchFamily="34" charset="-120"/>
                </a:rPr>
                <a:t>Planning &amp;</a:t>
              </a:r>
              <a:endParaRPr lang="en-US" sz="2800" dirty="0"/>
            </a:p>
            <a:p>
              <a:r>
                <a:rPr lang="en-US" sz="2800" b="1" dirty="0">
                  <a:solidFill>
                    <a:srgbClr val="FFFFFF"/>
                  </a:solidFill>
                  <a:latin typeface="Calibri" pitchFamily="34" charset="0"/>
                  <a:ea typeface="Calibri" pitchFamily="34" charset="-122"/>
                  <a:cs typeface="Calibri" pitchFamily="34" charset="-120"/>
                </a:rPr>
                <a:t>Direction</a:t>
              </a:r>
            </a:p>
            <a:p>
              <a:endParaRPr lang="en-US" sz="2800" dirty="0"/>
            </a:p>
            <a:p>
              <a:r>
                <a:rPr lang="en-US" sz="2800" dirty="0">
                  <a:solidFill>
                    <a:schemeClr val="bg1"/>
                  </a:solidFill>
                  <a:latin typeface="Telegraf" panose="020B0604020202020204" charset="0"/>
                  <a:ea typeface="Calibri" pitchFamily="34" charset="-122"/>
                  <a:cs typeface="Calibri" pitchFamily="34" charset="-120"/>
                </a:rPr>
                <a:t>Define PIRs. Who are we hunting? What assets are at risk?</a:t>
              </a:r>
              <a:endParaRPr lang="en-US" sz="2800" dirty="0">
                <a:solidFill>
                  <a:schemeClr val="bg1"/>
                </a:solidFill>
                <a:latin typeface="Telegraf" panose="020B0604020202020204" charset="0"/>
              </a:endParaRPr>
            </a:p>
            <a:p>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ndParaRPr>
            </a:p>
          </p:txBody>
        </p:sp>
        <p:sp>
          <p:nvSpPr>
            <p:cNvPr id="66" name="TextBox 9">
              <a:extLst>
                <a:ext uri="{FF2B5EF4-FFF2-40B4-BE49-F238E27FC236}">
                  <a16:creationId xmlns:a16="http://schemas.microsoft.com/office/drawing/2014/main" id="{E8D3BB3F-3273-084D-AA50-F3D78CBDA592}"/>
                </a:ext>
              </a:extLst>
            </p:cNvPr>
            <p:cNvSpPr txBox="1"/>
            <p:nvPr/>
          </p:nvSpPr>
          <p:spPr>
            <a:xfrm>
              <a:off x="63500" y="6350"/>
              <a:ext cx="5389210" cy="3457627"/>
            </a:xfrm>
            <a:prstGeom prst="rect">
              <a:avLst/>
            </a:prstGeom>
            <a:ln>
              <a:solidFill>
                <a:srgbClr val="5E3587"/>
              </a:solidFill>
            </a:ln>
            <a:sp3d/>
          </p:spPr>
          <p:txBody>
            <a:bodyPr lIns="50800" tIns="50800" rIns="50800" bIns="50800" rtlCol="0" anchor="ctr"/>
            <a:lstStyle/>
            <a:p>
              <a:pPr algn="ctr">
                <a:lnSpc>
                  <a:spcPts val="1960"/>
                </a:lnSpc>
              </a:pPr>
              <a:endParaRPr/>
            </a:p>
          </p:txBody>
        </p:sp>
      </p:grpSp>
      <p:grpSp>
        <p:nvGrpSpPr>
          <p:cNvPr id="72" name="Group 7">
            <a:extLst>
              <a:ext uri="{FF2B5EF4-FFF2-40B4-BE49-F238E27FC236}">
                <a16:creationId xmlns:a16="http://schemas.microsoft.com/office/drawing/2014/main" id="{47874B74-16EE-D05B-DC3B-B66B1F2AE21F}"/>
              </a:ext>
            </a:extLst>
          </p:cNvPr>
          <p:cNvGrpSpPr/>
          <p:nvPr/>
        </p:nvGrpSpPr>
        <p:grpSpPr>
          <a:xfrm>
            <a:off x="3634943" y="5459315"/>
            <a:ext cx="2856502" cy="5825586"/>
            <a:chOff x="0" y="0"/>
            <a:chExt cx="5516210" cy="3527477"/>
          </a:xfrm>
          <a:effectLst>
            <a:glow rad="304800">
              <a:srgbClr val="8E52F5">
                <a:alpha val="25000"/>
              </a:srgbClr>
            </a:glow>
          </a:effectLst>
          <a:scene3d>
            <a:camera prst="isometricOffAxis1Right"/>
            <a:lightRig rig="threePt" dir="t"/>
          </a:scene3d>
        </p:grpSpPr>
        <p:sp>
          <p:nvSpPr>
            <p:cNvPr id="73" name="Freeform 8">
              <a:extLst>
                <a:ext uri="{FF2B5EF4-FFF2-40B4-BE49-F238E27FC236}">
                  <a16:creationId xmlns:a16="http://schemas.microsoft.com/office/drawing/2014/main" id="{E0BA7B45-2CF8-E797-33EC-FD83466A2AEB}"/>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rPr>
                <a:t>02 </a:t>
              </a:r>
              <a:r>
                <a:rPr lang="en-US" sz="2800" b="1" dirty="0">
                  <a:solidFill>
                    <a:srgbClr val="FFFFFF"/>
                  </a:solidFill>
                  <a:latin typeface="Calibri" pitchFamily="34" charset="0"/>
                  <a:ea typeface="Calibri" pitchFamily="34" charset="-122"/>
                  <a:cs typeface="Calibri" pitchFamily="34" charset="-120"/>
                </a:rPr>
                <a:t>Collection</a:t>
              </a:r>
            </a:p>
            <a:p>
              <a:endParaRPr lang="en-US" sz="2800" dirty="0"/>
            </a:p>
            <a:p>
              <a:r>
                <a:rPr lang="en-US" sz="2800" dirty="0">
                  <a:solidFill>
                    <a:schemeClr val="bg1"/>
                  </a:solidFill>
                  <a:latin typeface="Telegraf" panose="020B0604020202020204" charset="0"/>
                  <a:ea typeface="Calibri" pitchFamily="34" charset="-122"/>
                  <a:cs typeface="Calibri" pitchFamily="34" charset="-120"/>
                </a:rPr>
                <a:t>EDR, SIEM, DNS, proxy, auth logs + external intel scoped to PIRs.</a:t>
              </a:r>
            </a:p>
            <a:p>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ndParaRPr>
            </a:p>
          </p:txBody>
        </p:sp>
        <p:sp>
          <p:nvSpPr>
            <p:cNvPr id="74" name="TextBox 9">
              <a:extLst>
                <a:ext uri="{FF2B5EF4-FFF2-40B4-BE49-F238E27FC236}">
                  <a16:creationId xmlns:a16="http://schemas.microsoft.com/office/drawing/2014/main" id="{B92B18B7-BB6A-94C8-1620-0737C47FFFF0}"/>
                </a:ext>
              </a:extLst>
            </p:cNvPr>
            <p:cNvSpPr txBox="1"/>
            <p:nvPr/>
          </p:nvSpPr>
          <p:spPr>
            <a:xfrm>
              <a:off x="63500" y="6350"/>
              <a:ext cx="5389210" cy="3457627"/>
            </a:xfrm>
            <a:prstGeom prst="rect">
              <a:avLst/>
            </a:prstGeom>
            <a:ln>
              <a:solidFill>
                <a:srgbClr val="5E3587"/>
              </a:solidFill>
            </a:ln>
            <a:sp3d/>
          </p:spPr>
          <p:txBody>
            <a:bodyPr lIns="50800" tIns="50800" rIns="50800" bIns="50800" rtlCol="0" anchor="ctr"/>
            <a:lstStyle/>
            <a:p>
              <a:pPr algn="ctr">
                <a:lnSpc>
                  <a:spcPts val="1960"/>
                </a:lnSpc>
              </a:pPr>
              <a:endParaRPr/>
            </a:p>
          </p:txBody>
        </p:sp>
      </p:grpSp>
      <p:grpSp>
        <p:nvGrpSpPr>
          <p:cNvPr id="75" name="Group 7">
            <a:extLst>
              <a:ext uri="{FF2B5EF4-FFF2-40B4-BE49-F238E27FC236}">
                <a16:creationId xmlns:a16="http://schemas.microsoft.com/office/drawing/2014/main" id="{4282FAD1-1F75-56B1-A9E9-083FA46B335B}"/>
              </a:ext>
            </a:extLst>
          </p:cNvPr>
          <p:cNvGrpSpPr/>
          <p:nvPr/>
        </p:nvGrpSpPr>
        <p:grpSpPr>
          <a:xfrm>
            <a:off x="6635596" y="4455521"/>
            <a:ext cx="2856502" cy="7315200"/>
            <a:chOff x="0" y="0"/>
            <a:chExt cx="5516210" cy="3527477"/>
          </a:xfrm>
          <a:effectLst>
            <a:glow rad="304800">
              <a:srgbClr val="8E52F5">
                <a:alpha val="25000"/>
              </a:srgbClr>
            </a:glow>
          </a:effectLst>
          <a:scene3d>
            <a:camera prst="isometricOffAxis1Right"/>
            <a:lightRig rig="threePt" dir="t"/>
          </a:scene3d>
        </p:grpSpPr>
        <p:sp>
          <p:nvSpPr>
            <p:cNvPr id="76" name="Freeform 8">
              <a:extLst>
                <a:ext uri="{FF2B5EF4-FFF2-40B4-BE49-F238E27FC236}">
                  <a16:creationId xmlns:a16="http://schemas.microsoft.com/office/drawing/2014/main" id="{DFB00B6A-BF66-E84E-DB83-BE7CCB5015F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rPr>
                <a:t>03 </a:t>
              </a:r>
              <a:r>
                <a:rPr lang="en-US" sz="2800" b="1" dirty="0">
                  <a:solidFill>
                    <a:srgbClr val="FFFFFF"/>
                  </a:solidFill>
                  <a:latin typeface="Calibri" pitchFamily="34" charset="0"/>
                  <a:ea typeface="Calibri" pitchFamily="34" charset="-122"/>
                  <a:cs typeface="Calibri" pitchFamily="34" charset="-120"/>
                </a:rPr>
                <a:t>Processing</a:t>
              </a:r>
            </a:p>
            <a:p>
              <a:endParaRPr lang="en-US" sz="2800" dirty="0"/>
            </a:p>
            <a:p>
              <a:r>
                <a:rPr lang="en-US" sz="2800" dirty="0">
                  <a:solidFill>
                    <a:schemeClr val="bg1"/>
                  </a:solidFill>
                  <a:latin typeface="Telegraf" panose="020B0604020202020204" charset="0"/>
                  <a:ea typeface="Calibri" pitchFamily="34" charset="-122"/>
                  <a:cs typeface="Calibri" pitchFamily="34" charset="-120"/>
                </a:rPr>
                <a:t>Normalize, enrich with GeoIP / WHOIS / ATT&amp;CK tags. Raw → structured.</a:t>
              </a:r>
            </a:p>
            <a:p>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ndParaRPr>
            </a:p>
          </p:txBody>
        </p:sp>
        <p:sp>
          <p:nvSpPr>
            <p:cNvPr id="77" name="TextBox 9">
              <a:extLst>
                <a:ext uri="{FF2B5EF4-FFF2-40B4-BE49-F238E27FC236}">
                  <a16:creationId xmlns:a16="http://schemas.microsoft.com/office/drawing/2014/main" id="{E93C3878-F7D5-D409-BC23-E00732EFF30F}"/>
                </a:ext>
              </a:extLst>
            </p:cNvPr>
            <p:cNvSpPr txBox="1"/>
            <p:nvPr/>
          </p:nvSpPr>
          <p:spPr>
            <a:xfrm>
              <a:off x="63500" y="6350"/>
              <a:ext cx="5389210" cy="3457627"/>
            </a:xfrm>
            <a:prstGeom prst="rect">
              <a:avLst/>
            </a:prstGeom>
            <a:ln>
              <a:solidFill>
                <a:srgbClr val="5E3587"/>
              </a:solidFill>
            </a:ln>
            <a:sp3d/>
          </p:spPr>
          <p:txBody>
            <a:bodyPr lIns="50800" tIns="50800" rIns="50800" bIns="50800" rtlCol="0" anchor="ctr"/>
            <a:lstStyle/>
            <a:p>
              <a:pPr algn="ctr">
                <a:lnSpc>
                  <a:spcPts val="1960"/>
                </a:lnSpc>
              </a:pPr>
              <a:endParaRPr/>
            </a:p>
          </p:txBody>
        </p:sp>
      </p:grpSp>
      <p:grpSp>
        <p:nvGrpSpPr>
          <p:cNvPr id="78" name="Group 7">
            <a:extLst>
              <a:ext uri="{FF2B5EF4-FFF2-40B4-BE49-F238E27FC236}">
                <a16:creationId xmlns:a16="http://schemas.microsoft.com/office/drawing/2014/main" id="{E7EEDBD3-A8C3-374D-9F0B-23B53F6EF764}"/>
              </a:ext>
            </a:extLst>
          </p:cNvPr>
          <p:cNvGrpSpPr/>
          <p:nvPr/>
        </p:nvGrpSpPr>
        <p:grpSpPr>
          <a:xfrm>
            <a:off x="9570120" y="3646802"/>
            <a:ext cx="2856502" cy="7778117"/>
            <a:chOff x="0" y="0"/>
            <a:chExt cx="5516210" cy="3527477"/>
          </a:xfrm>
          <a:effectLst>
            <a:glow rad="304800">
              <a:srgbClr val="8E52F5">
                <a:alpha val="25000"/>
              </a:srgbClr>
            </a:glow>
          </a:effectLst>
          <a:scene3d>
            <a:camera prst="isometricOffAxis1Right"/>
            <a:lightRig rig="threePt" dir="t"/>
          </a:scene3d>
        </p:grpSpPr>
        <p:sp>
          <p:nvSpPr>
            <p:cNvPr id="79" name="Freeform 8">
              <a:extLst>
                <a:ext uri="{FF2B5EF4-FFF2-40B4-BE49-F238E27FC236}">
                  <a16:creationId xmlns:a16="http://schemas.microsoft.com/office/drawing/2014/main" id="{E4258E56-4C03-36ED-952F-59DF8D5FFCB9}"/>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rPr>
                <a:t>04 </a:t>
              </a:r>
              <a:r>
                <a:rPr lang="en-US" sz="2800" b="1" dirty="0">
                  <a:solidFill>
                    <a:srgbClr val="FFFFFF"/>
                  </a:solidFill>
                  <a:latin typeface="Calibri" pitchFamily="34" charset="0"/>
                  <a:ea typeface="Calibri" pitchFamily="34" charset="-122"/>
                  <a:cs typeface="Calibri" pitchFamily="34" charset="-120"/>
                </a:rPr>
                <a:t>Analysis &amp;</a:t>
              </a:r>
            </a:p>
            <a:p>
              <a:r>
                <a:rPr lang="en-US" sz="2800" b="1" dirty="0">
                  <a:solidFill>
                    <a:srgbClr val="FFFFFF"/>
                  </a:solidFill>
                  <a:latin typeface="Calibri" pitchFamily="34" charset="0"/>
                  <a:ea typeface="Calibri" pitchFamily="34" charset="-122"/>
                  <a:cs typeface="Calibri" pitchFamily="34" charset="-120"/>
                </a:rPr>
                <a:t>Production</a:t>
              </a:r>
            </a:p>
            <a:p>
              <a:endParaRPr lang="en-US" sz="2800" dirty="0"/>
            </a:p>
            <a:p>
              <a:r>
                <a:rPr lang="en-US" sz="2800" dirty="0">
                  <a:solidFill>
                    <a:schemeClr val="bg1"/>
                  </a:solidFill>
                  <a:latin typeface="Telegraf" panose="020B0604020202020204" charset="0"/>
                  <a:ea typeface="Calibri" pitchFamily="34" charset="-122"/>
                  <a:cs typeface="Calibri" pitchFamily="34" charset="-120"/>
                </a:rPr>
                <a:t>What? Who? Why? How do we stop it? Actor profiles, IoC sets, kill chains.</a:t>
              </a:r>
            </a:p>
            <a:p>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ndParaRPr>
            </a:p>
          </p:txBody>
        </p:sp>
        <p:sp>
          <p:nvSpPr>
            <p:cNvPr id="80" name="TextBox 9">
              <a:extLst>
                <a:ext uri="{FF2B5EF4-FFF2-40B4-BE49-F238E27FC236}">
                  <a16:creationId xmlns:a16="http://schemas.microsoft.com/office/drawing/2014/main" id="{1F26A312-B00E-D474-0819-3B5B0B807C22}"/>
                </a:ext>
              </a:extLst>
            </p:cNvPr>
            <p:cNvSpPr txBox="1"/>
            <p:nvPr/>
          </p:nvSpPr>
          <p:spPr>
            <a:xfrm>
              <a:off x="63500" y="6350"/>
              <a:ext cx="5389210" cy="3457627"/>
            </a:xfrm>
            <a:prstGeom prst="rect">
              <a:avLst/>
            </a:prstGeom>
            <a:ln>
              <a:solidFill>
                <a:srgbClr val="5E3587"/>
              </a:solidFill>
            </a:ln>
            <a:sp3d/>
          </p:spPr>
          <p:txBody>
            <a:bodyPr lIns="50800" tIns="50800" rIns="50800" bIns="50800" rtlCol="0" anchor="ctr"/>
            <a:lstStyle/>
            <a:p>
              <a:pPr algn="ctr">
                <a:lnSpc>
                  <a:spcPts val="1960"/>
                </a:lnSpc>
              </a:pPr>
              <a:endParaRPr/>
            </a:p>
          </p:txBody>
        </p:sp>
      </p:grpSp>
      <p:grpSp>
        <p:nvGrpSpPr>
          <p:cNvPr id="81" name="Group 7">
            <a:extLst>
              <a:ext uri="{FF2B5EF4-FFF2-40B4-BE49-F238E27FC236}">
                <a16:creationId xmlns:a16="http://schemas.microsoft.com/office/drawing/2014/main" id="{FADFB720-5DB3-7E12-2801-116597A4FE44}"/>
              </a:ext>
            </a:extLst>
          </p:cNvPr>
          <p:cNvGrpSpPr/>
          <p:nvPr/>
        </p:nvGrpSpPr>
        <p:grpSpPr>
          <a:xfrm>
            <a:off x="12540676" y="2694241"/>
            <a:ext cx="2856502" cy="8351025"/>
            <a:chOff x="0" y="0"/>
            <a:chExt cx="5516210" cy="3527477"/>
          </a:xfrm>
          <a:effectLst>
            <a:glow rad="304800">
              <a:srgbClr val="8E52F5">
                <a:alpha val="25000"/>
              </a:srgbClr>
            </a:glow>
          </a:effectLst>
          <a:scene3d>
            <a:camera prst="isometricOffAxis1Right"/>
            <a:lightRig rig="threePt" dir="t"/>
          </a:scene3d>
        </p:grpSpPr>
        <p:sp>
          <p:nvSpPr>
            <p:cNvPr id="82" name="Freeform 8">
              <a:extLst>
                <a:ext uri="{FF2B5EF4-FFF2-40B4-BE49-F238E27FC236}">
                  <a16:creationId xmlns:a16="http://schemas.microsoft.com/office/drawing/2014/main" id="{971CF0E7-0E57-2753-351F-5D56BB9F2BF4}"/>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rPr>
                <a:t>05</a:t>
              </a:r>
              <a:r>
                <a:rPr lang="en-US" sz="2400" b="1" dirty="0">
                  <a:solidFill>
                    <a:srgbClr val="FFFFFF"/>
                  </a:solidFill>
                  <a:latin typeface="Calibri" pitchFamily="34" charset="0"/>
                  <a:ea typeface="Calibri" pitchFamily="34" charset="-122"/>
                  <a:cs typeface="Calibri" pitchFamily="34" charset="-120"/>
                </a:rPr>
                <a:t>Dissemination</a:t>
              </a:r>
            </a:p>
            <a:p>
              <a:endParaRPr lang="en-US" sz="2800" dirty="0"/>
            </a:p>
            <a:p>
              <a:r>
                <a:rPr lang="en-US" sz="2800" dirty="0">
                  <a:solidFill>
                    <a:schemeClr val="bg1"/>
                  </a:solidFill>
                  <a:latin typeface="Telegraf" panose="020B0604020202020204" charset="0"/>
                  <a:ea typeface="Calibri" pitchFamily="34" charset="-122"/>
                  <a:cs typeface="Calibri" pitchFamily="34" charset="-120"/>
                </a:rPr>
                <a:t>Flash reports → SOC. Briefings → leadership. Sigma rules → engineers.</a:t>
              </a:r>
            </a:p>
            <a:p>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ndParaRPr>
            </a:p>
          </p:txBody>
        </p:sp>
        <p:sp>
          <p:nvSpPr>
            <p:cNvPr id="83" name="TextBox 9">
              <a:extLst>
                <a:ext uri="{FF2B5EF4-FFF2-40B4-BE49-F238E27FC236}">
                  <a16:creationId xmlns:a16="http://schemas.microsoft.com/office/drawing/2014/main" id="{8B9D59F4-F1B6-D315-128C-4B80E4BC918C}"/>
                </a:ext>
              </a:extLst>
            </p:cNvPr>
            <p:cNvSpPr txBox="1"/>
            <p:nvPr/>
          </p:nvSpPr>
          <p:spPr>
            <a:xfrm>
              <a:off x="63500" y="6350"/>
              <a:ext cx="5389210" cy="3457627"/>
            </a:xfrm>
            <a:prstGeom prst="rect">
              <a:avLst/>
            </a:prstGeom>
            <a:ln>
              <a:solidFill>
                <a:srgbClr val="5E3587"/>
              </a:solidFill>
            </a:ln>
            <a:sp3d/>
          </p:spPr>
          <p:txBody>
            <a:bodyPr lIns="50800" tIns="50800" rIns="50800" bIns="50800" rtlCol="0" anchor="ctr"/>
            <a:lstStyle/>
            <a:p>
              <a:pPr algn="ctr">
                <a:lnSpc>
                  <a:spcPts val="1960"/>
                </a:lnSpc>
              </a:pPr>
              <a:endParaRPr/>
            </a:p>
          </p:txBody>
        </p:sp>
      </p:grpSp>
      <p:grpSp>
        <p:nvGrpSpPr>
          <p:cNvPr id="84" name="Group 7">
            <a:extLst>
              <a:ext uri="{FF2B5EF4-FFF2-40B4-BE49-F238E27FC236}">
                <a16:creationId xmlns:a16="http://schemas.microsoft.com/office/drawing/2014/main" id="{5C697B1F-BD99-862C-C4BC-C0A24FD3EB12}"/>
              </a:ext>
            </a:extLst>
          </p:cNvPr>
          <p:cNvGrpSpPr/>
          <p:nvPr/>
        </p:nvGrpSpPr>
        <p:grpSpPr>
          <a:xfrm>
            <a:off x="15508083" y="2006136"/>
            <a:ext cx="2856502" cy="8667333"/>
            <a:chOff x="0" y="0"/>
            <a:chExt cx="5516210" cy="3527477"/>
          </a:xfrm>
          <a:effectLst>
            <a:glow rad="304800">
              <a:srgbClr val="8E52F5">
                <a:alpha val="25000"/>
              </a:srgbClr>
            </a:glow>
          </a:effectLst>
          <a:scene3d>
            <a:camera prst="isometricOffAxis1Right"/>
            <a:lightRig rig="threePt" dir="t"/>
          </a:scene3d>
        </p:grpSpPr>
        <p:sp>
          <p:nvSpPr>
            <p:cNvPr id="85" name="Freeform 8">
              <a:extLst>
                <a:ext uri="{FF2B5EF4-FFF2-40B4-BE49-F238E27FC236}">
                  <a16:creationId xmlns:a16="http://schemas.microsoft.com/office/drawing/2014/main" id="{C5CD31FB-D620-2846-0F70-777DDE4B0FB9}"/>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rPr>
                <a:t>06 </a:t>
              </a:r>
              <a:r>
                <a:rPr lang="en-US" sz="2800" b="1" dirty="0">
                  <a:solidFill>
                    <a:srgbClr val="FFFFFF"/>
                  </a:solidFill>
                  <a:latin typeface="Calibri" pitchFamily="34" charset="0"/>
                  <a:ea typeface="Calibri" pitchFamily="34" charset="-122"/>
                  <a:cs typeface="Calibri" pitchFamily="34" charset="-120"/>
                </a:rPr>
                <a:t>Feedback</a:t>
              </a:r>
            </a:p>
            <a:p>
              <a:endParaRPr lang="en-US" sz="2800" dirty="0"/>
            </a:p>
            <a:p>
              <a:r>
                <a:rPr lang="en-US" sz="2800" dirty="0">
                  <a:solidFill>
                    <a:schemeClr val="bg1"/>
                  </a:solidFill>
                  <a:latin typeface="Telegraf" panose="020B0604020202020204" charset="0"/>
                  <a:ea typeface="Calibri" pitchFamily="34" charset="-122"/>
                  <a:cs typeface="Calibri" pitchFamily="34" charset="-120"/>
                </a:rPr>
                <a:t>Define PIRs. Who are we hunting? What assets are at risk?</a:t>
              </a:r>
              <a:endParaRPr lang="en-US" sz="2800" dirty="0">
                <a:solidFill>
                  <a:schemeClr val="bg1"/>
                </a:solidFill>
                <a:latin typeface="Telegraf" panose="020B0604020202020204" charset="0"/>
              </a:endParaRPr>
            </a:p>
            <a:p>
              <a:endPar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endParaRPr>
            </a:p>
          </p:txBody>
        </p:sp>
        <p:sp>
          <p:nvSpPr>
            <p:cNvPr id="86" name="TextBox 9">
              <a:extLst>
                <a:ext uri="{FF2B5EF4-FFF2-40B4-BE49-F238E27FC236}">
                  <a16:creationId xmlns:a16="http://schemas.microsoft.com/office/drawing/2014/main" id="{8B5FB29B-6392-B563-8FD2-0947EBE68E64}"/>
                </a:ext>
              </a:extLst>
            </p:cNvPr>
            <p:cNvSpPr txBox="1"/>
            <p:nvPr/>
          </p:nvSpPr>
          <p:spPr>
            <a:xfrm>
              <a:off x="63500" y="6350"/>
              <a:ext cx="5389210" cy="3457627"/>
            </a:xfrm>
            <a:prstGeom prst="rect">
              <a:avLst/>
            </a:prstGeom>
            <a:ln>
              <a:solidFill>
                <a:srgbClr val="5E3587"/>
              </a:solidFill>
            </a:ln>
            <a:sp3d/>
          </p:spPr>
          <p:txBody>
            <a:bodyPr lIns="50800" tIns="50800" rIns="50800" bIns="50800" rtlCol="0" anchor="ctr"/>
            <a:lstStyle/>
            <a:p>
              <a:pPr algn="ctr">
                <a:lnSpc>
                  <a:spcPts val="1960"/>
                </a:lnSpc>
              </a:pPr>
              <a:endParaRPr/>
            </a:p>
          </p:txBody>
        </p:sp>
      </p:grpSp>
      <p:grpSp>
        <p:nvGrpSpPr>
          <p:cNvPr id="2" name="Group 4">
            <a:extLst>
              <a:ext uri="{FF2B5EF4-FFF2-40B4-BE49-F238E27FC236}">
                <a16:creationId xmlns:a16="http://schemas.microsoft.com/office/drawing/2014/main" id="{11BE3CAE-44E3-6993-2C7E-437ED99E6DB9}"/>
              </a:ext>
            </a:extLst>
          </p:cNvPr>
          <p:cNvGrpSpPr/>
          <p:nvPr/>
        </p:nvGrpSpPr>
        <p:grpSpPr>
          <a:xfrm>
            <a:off x="8559761" y="1129653"/>
            <a:ext cx="247059" cy="56998"/>
            <a:chOff x="0" y="0"/>
            <a:chExt cx="65069" cy="15012"/>
          </a:xfrm>
        </p:grpSpPr>
        <p:sp>
          <p:nvSpPr>
            <p:cNvPr id="7" name="Freeform 5">
              <a:extLst>
                <a:ext uri="{FF2B5EF4-FFF2-40B4-BE49-F238E27FC236}">
                  <a16:creationId xmlns:a16="http://schemas.microsoft.com/office/drawing/2014/main" id="{DA07BE1E-FD31-0E15-4FE8-3EF3205ED3C7}"/>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6">
              <a:extLst>
                <a:ext uri="{FF2B5EF4-FFF2-40B4-BE49-F238E27FC236}">
                  <a16:creationId xmlns:a16="http://schemas.microsoft.com/office/drawing/2014/main" id="{93C93B91-8875-7230-2FF1-DC548E77C7B0}"/>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9" name="TextBox 13">
            <a:extLst>
              <a:ext uri="{FF2B5EF4-FFF2-40B4-BE49-F238E27FC236}">
                <a16:creationId xmlns:a16="http://schemas.microsoft.com/office/drawing/2014/main" id="{7B95417A-786C-27D7-BFDC-8B6767383185}"/>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10" name="TextBox 14">
            <a:extLst>
              <a:ext uri="{FF2B5EF4-FFF2-40B4-BE49-F238E27FC236}">
                <a16:creationId xmlns:a16="http://schemas.microsoft.com/office/drawing/2014/main" id="{1D4C17E8-AD4F-E284-EEF4-99A175CB1543}"/>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12" name="TextBox 14">
            <a:extLst>
              <a:ext uri="{FF2B5EF4-FFF2-40B4-BE49-F238E27FC236}">
                <a16:creationId xmlns:a16="http://schemas.microsoft.com/office/drawing/2014/main" id="{7F8E5C00-FFA9-BA90-778F-98DD89BAB6E3}"/>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17" name="TextBox 14">
            <a:extLst>
              <a:ext uri="{FF2B5EF4-FFF2-40B4-BE49-F238E27FC236}">
                <a16:creationId xmlns:a16="http://schemas.microsoft.com/office/drawing/2014/main" id="{F1F227E4-7AB0-0939-4686-AD861A0625B9}"/>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additive="base">
                                        <p:cTn id="7" dur="500" fill="hold"/>
                                        <p:tgtEl>
                                          <p:spTgt spid="64"/>
                                        </p:tgtEl>
                                        <p:attrNameLst>
                                          <p:attrName>ppt_x</p:attrName>
                                        </p:attrNameLst>
                                      </p:cBhvr>
                                      <p:tavLst>
                                        <p:tav tm="0">
                                          <p:val>
                                            <p:strVal val="#ppt_x"/>
                                          </p:val>
                                        </p:tav>
                                        <p:tav tm="100000">
                                          <p:val>
                                            <p:strVal val="#ppt_x"/>
                                          </p:val>
                                        </p:tav>
                                      </p:tavLst>
                                    </p:anim>
                                    <p:anim calcmode="lin" valueType="num">
                                      <p:cBhvr additive="base">
                                        <p:cTn id="8"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
                                        </p:tgtEl>
                                        <p:attrNameLst>
                                          <p:attrName>style.visibility</p:attrName>
                                        </p:attrNameLst>
                                      </p:cBhvr>
                                      <p:to>
                                        <p:strVal val="visible"/>
                                      </p:to>
                                    </p:set>
                                    <p:anim calcmode="lin" valueType="num">
                                      <p:cBhvr additive="base">
                                        <p:cTn id="13" dur="500" fill="hold"/>
                                        <p:tgtEl>
                                          <p:spTgt spid="72"/>
                                        </p:tgtEl>
                                        <p:attrNameLst>
                                          <p:attrName>ppt_x</p:attrName>
                                        </p:attrNameLst>
                                      </p:cBhvr>
                                      <p:tavLst>
                                        <p:tav tm="0">
                                          <p:val>
                                            <p:strVal val="#ppt_x"/>
                                          </p:val>
                                        </p:tav>
                                        <p:tav tm="100000">
                                          <p:val>
                                            <p:strVal val="#ppt_x"/>
                                          </p:val>
                                        </p:tav>
                                      </p:tavLst>
                                    </p:anim>
                                    <p:anim calcmode="lin" valueType="num">
                                      <p:cBhvr additive="base">
                                        <p:cTn id="14"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fill="hold"/>
                                        <p:tgtEl>
                                          <p:spTgt spid="75"/>
                                        </p:tgtEl>
                                        <p:attrNameLst>
                                          <p:attrName>ppt_x</p:attrName>
                                        </p:attrNameLst>
                                      </p:cBhvr>
                                      <p:tavLst>
                                        <p:tav tm="0">
                                          <p:val>
                                            <p:strVal val="#ppt_x"/>
                                          </p:val>
                                        </p:tav>
                                        <p:tav tm="100000">
                                          <p:val>
                                            <p:strVal val="#ppt_x"/>
                                          </p:val>
                                        </p:tav>
                                      </p:tavLst>
                                    </p:anim>
                                    <p:anim calcmode="lin" valueType="num">
                                      <p:cBhvr additive="base">
                                        <p:cTn id="20"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8"/>
                                        </p:tgtEl>
                                        <p:attrNameLst>
                                          <p:attrName>style.visibility</p:attrName>
                                        </p:attrNameLst>
                                      </p:cBhvr>
                                      <p:to>
                                        <p:strVal val="visible"/>
                                      </p:to>
                                    </p:set>
                                    <p:anim calcmode="lin" valueType="num">
                                      <p:cBhvr additive="base">
                                        <p:cTn id="25" dur="500" fill="hold"/>
                                        <p:tgtEl>
                                          <p:spTgt spid="78"/>
                                        </p:tgtEl>
                                        <p:attrNameLst>
                                          <p:attrName>ppt_x</p:attrName>
                                        </p:attrNameLst>
                                      </p:cBhvr>
                                      <p:tavLst>
                                        <p:tav tm="0">
                                          <p:val>
                                            <p:strVal val="#ppt_x"/>
                                          </p:val>
                                        </p:tav>
                                        <p:tav tm="100000">
                                          <p:val>
                                            <p:strVal val="#ppt_x"/>
                                          </p:val>
                                        </p:tav>
                                      </p:tavLst>
                                    </p:anim>
                                    <p:anim calcmode="lin" valueType="num">
                                      <p:cBhvr additive="base">
                                        <p:cTn id="26"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
                                        </p:tgtEl>
                                        <p:attrNameLst>
                                          <p:attrName>style.visibility</p:attrName>
                                        </p:attrNameLst>
                                      </p:cBhvr>
                                      <p:to>
                                        <p:strVal val="visible"/>
                                      </p:to>
                                    </p:set>
                                    <p:anim calcmode="lin" valueType="num">
                                      <p:cBhvr additive="base">
                                        <p:cTn id="31" dur="500" fill="hold"/>
                                        <p:tgtEl>
                                          <p:spTgt spid="81"/>
                                        </p:tgtEl>
                                        <p:attrNameLst>
                                          <p:attrName>ppt_x</p:attrName>
                                        </p:attrNameLst>
                                      </p:cBhvr>
                                      <p:tavLst>
                                        <p:tav tm="0">
                                          <p:val>
                                            <p:strVal val="#ppt_x"/>
                                          </p:val>
                                        </p:tav>
                                        <p:tav tm="100000">
                                          <p:val>
                                            <p:strVal val="#ppt_x"/>
                                          </p:val>
                                        </p:tav>
                                      </p:tavLst>
                                    </p:anim>
                                    <p:anim calcmode="lin" valueType="num">
                                      <p:cBhvr additive="base">
                                        <p:cTn id="32" dur="500" fill="hold"/>
                                        <p:tgtEl>
                                          <p:spTgt spid="8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4"/>
                                        </p:tgtEl>
                                        <p:attrNameLst>
                                          <p:attrName>style.visibility</p:attrName>
                                        </p:attrNameLst>
                                      </p:cBhvr>
                                      <p:to>
                                        <p:strVal val="visible"/>
                                      </p:to>
                                    </p:set>
                                    <p:anim calcmode="lin" valueType="num">
                                      <p:cBhvr additive="base">
                                        <p:cTn id="37" dur="500" fill="hold"/>
                                        <p:tgtEl>
                                          <p:spTgt spid="84"/>
                                        </p:tgtEl>
                                        <p:attrNameLst>
                                          <p:attrName>ppt_x</p:attrName>
                                        </p:attrNameLst>
                                      </p:cBhvr>
                                      <p:tavLst>
                                        <p:tav tm="0">
                                          <p:val>
                                            <p:strVal val="#ppt_x"/>
                                          </p:val>
                                        </p:tav>
                                        <p:tav tm="100000">
                                          <p:val>
                                            <p:strVal val="#ppt_x"/>
                                          </p:val>
                                        </p:tav>
                                      </p:tavLst>
                                    </p:anim>
                                    <p:anim calcmode="lin" valueType="num">
                                      <p:cBhvr additive="base">
                                        <p:cTn id="3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a:extLst>
            <a:ext uri="{FF2B5EF4-FFF2-40B4-BE49-F238E27FC236}">
              <a16:creationId xmlns:a16="http://schemas.microsoft.com/office/drawing/2014/main" id="{520DC8EB-F521-C9C6-994C-6CDAE678B61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9D81BE1-9CA1-BD8F-F39B-A5FC2476492F}"/>
              </a:ext>
            </a:extLst>
          </p:cNvPr>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24DC193-79B4-A861-BBE5-660046500747}"/>
              </a:ext>
            </a:extLst>
          </p:cNvPr>
          <p:cNvSpPr txBox="1"/>
          <p:nvPr/>
        </p:nvSpPr>
        <p:spPr>
          <a:xfrm>
            <a:off x="762000" y="1892778"/>
            <a:ext cx="8700069" cy="1104790"/>
          </a:xfrm>
          <a:prstGeom prst="rect">
            <a:avLst/>
          </a:prstGeom>
        </p:spPr>
        <p:txBody>
          <a:bodyPr wrap="square" lIns="0" tIns="0" rIns="0" bIns="0" rtlCol="0" anchor="t">
            <a:spAutoFit/>
          </a:bodyPr>
          <a:lstStyle/>
          <a:p>
            <a:pPr marL="0" marR="0" lvl="0" indent="0" algn="l" defTabSz="914400" rtl="0" eaLnBrk="1" fontAlgn="auto" latinLnBrk="0" hangingPunct="1">
              <a:lnSpc>
                <a:spcPts val="4095"/>
              </a:lnSpc>
              <a:spcBef>
                <a:spcPts val="0"/>
              </a:spcBef>
              <a:spcAft>
                <a:spcPts val="0"/>
              </a:spcAft>
              <a:buClrTx/>
              <a:buSzTx/>
              <a:buFontTx/>
              <a:buNone/>
              <a:tabLst/>
              <a:defRPr/>
            </a:pPr>
            <a:r>
              <a:rPr kumimoji="0" lang="en-US" sz="7200" b="0" i="0" u="none" strike="noStrike" kern="1200" cap="none" spc="0" normalizeH="0" baseline="0" noProof="0" dirty="0">
                <a:ln>
                  <a:noFill/>
                </a:ln>
                <a:gradFill>
                  <a:gsLst>
                    <a:gs pos="0">
                      <a:srgbClr val="8064A2">
                        <a:lumMod val="0"/>
                        <a:lumOff val="100000"/>
                      </a:srgbClr>
                    </a:gs>
                    <a:gs pos="35000">
                      <a:srgbClr val="8064A2">
                        <a:lumMod val="0"/>
                        <a:lumOff val="100000"/>
                      </a:srgbClr>
                    </a:gs>
                    <a:gs pos="100000">
                      <a:srgbClr val="8064A2">
                        <a:lumMod val="100000"/>
                      </a:srgbClr>
                    </a:gs>
                  </a:gsLst>
                  <a:path path="circle">
                    <a:fillToRect l="50000" t="-80000" r="50000" b="180000"/>
                  </a:path>
                </a:gradFill>
                <a:effectLst/>
                <a:uLnTx/>
                <a:uFillTx/>
                <a:latin typeface="RQND Pro Wide"/>
                <a:ea typeface="RQND Pro Wide"/>
                <a:cs typeface="RQND Pro Wide"/>
                <a:sym typeface="RQND Pro Wide"/>
              </a:rPr>
              <a:t>45 Minutes → 90 Seconds.</a:t>
            </a:r>
          </a:p>
        </p:txBody>
      </p:sp>
      <p:sp>
        <p:nvSpPr>
          <p:cNvPr id="18" name="TextBox 18">
            <a:extLst>
              <a:ext uri="{FF2B5EF4-FFF2-40B4-BE49-F238E27FC236}">
                <a16:creationId xmlns:a16="http://schemas.microsoft.com/office/drawing/2014/main" id="{52B2D035-027A-80B5-BC6A-71305A887190}"/>
              </a:ext>
            </a:extLst>
          </p:cNvPr>
          <p:cNvSpPr txBox="1"/>
          <p:nvPr/>
        </p:nvSpPr>
        <p:spPr>
          <a:xfrm>
            <a:off x="2781040" y="3645862"/>
            <a:ext cx="6574108" cy="414344"/>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lang="en-US" sz="4000" spc="-120" dirty="0">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a:latin typeface="Telegraf"/>
                <a:ea typeface="Telegraf"/>
                <a:cs typeface="Telegraf"/>
                <a:sym typeface="Telegraf"/>
              </a:rPr>
              <a:t>WITHOUT CTI</a:t>
            </a:r>
            <a:endParaRPr kumimoji="0" lang="en-US" sz="4000" b="0" i="0" u="none" strike="noStrike" kern="1200" cap="none" spc="-120" normalizeH="0" baseline="0" noProof="0" dirty="0">
              <a:ln>
                <a:noFill/>
              </a:ln>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a:effectLst/>
              <a:uLnTx/>
              <a:uFillTx/>
              <a:latin typeface="Telegraf"/>
              <a:ea typeface="Telegraf"/>
              <a:cs typeface="Telegraf"/>
              <a:sym typeface="Telegraf"/>
            </a:endParaRPr>
          </a:p>
        </p:txBody>
      </p:sp>
      <p:pic>
        <p:nvPicPr>
          <p:cNvPr id="23" name="Image 0" descr="/home/claude/cygnus_logo.png">
            <a:extLst>
              <a:ext uri="{FF2B5EF4-FFF2-40B4-BE49-F238E27FC236}">
                <a16:creationId xmlns:a16="http://schemas.microsoft.com/office/drawing/2014/main" id="{EA10D617-90A9-B425-B016-FC4344F67298}"/>
              </a:ext>
            </a:extLst>
          </p:cNvPr>
          <p:cNvPicPr>
            <a:picLocks noChangeAspect="1"/>
          </p:cNvPicPr>
          <p:nvPr/>
        </p:nvPicPr>
        <p:blipFill>
          <a:blip r:embed="rId3"/>
          <a:stretch>
            <a:fillRect/>
          </a:stretch>
        </p:blipFill>
        <p:spPr>
          <a:xfrm>
            <a:off x="651199" y="502921"/>
            <a:ext cx="1330002" cy="266000"/>
          </a:xfrm>
          <a:prstGeom prst="rect">
            <a:avLst/>
          </a:prstGeom>
        </p:spPr>
      </p:pic>
      <p:grpSp>
        <p:nvGrpSpPr>
          <p:cNvPr id="8" name="Group 4">
            <a:extLst>
              <a:ext uri="{FF2B5EF4-FFF2-40B4-BE49-F238E27FC236}">
                <a16:creationId xmlns:a16="http://schemas.microsoft.com/office/drawing/2014/main" id="{7BD8D25A-6F5A-BC90-F6A6-52416963D1FE}"/>
              </a:ext>
            </a:extLst>
          </p:cNvPr>
          <p:cNvGrpSpPr/>
          <p:nvPr/>
        </p:nvGrpSpPr>
        <p:grpSpPr>
          <a:xfrm>
            <a:off x="9700781" y="1153708"/>
            <a:ext cx="247059" cy="56998"/>
            <a:chOff x="0" y="0"/>
            <a:chExt cx="65069" cy="15012"/>
          </a:xfrm>
        </p:grpSpPr>
        <p:sp>
          <p:nvSpPr>
            <p:cNvPr id="17" name="Freeform 5">
              <a:extLst>
                <a:ext uri="{FF2B5EF4-FFF2-40B4-BE49-F238E27FC236}">
                  <a16:creationId xmlns:a16="http://schemas.microsoft.com/office/drawing/2014/main" id="{0A518C8A-FFC6-9CF9-C041-0237015860C8}"/>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TextBox 6">
              <a:extLst>
                <a:ext uri="{FF2B5EF4-FFF2-40B4-BE49-F238E27FC236}">
                  <a16:creationId xmlns:a16="http://schemas.microsoft.com/office/drawing/2014/main" id="{8700C471-9490-80F0-0FDF-57C68D6D8575}"/>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1" name="TextBox 13">
            <a:extLst>
              <a:ext uri="{FF2B5EF4-FFF2-40B4-BE49-F238E27FC236}">
                <a16:creationId xmlns:a16="http://schemas.microsoft.com/office/drawing/2014/main" id="{015A505D-560D-5BED-53DE-E9B62277072C}"/>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32" name="TextBox 14">
            <a:extLst>
              <a:ext uri="{FF2B5EF4-FFF2-40B4-BE49-F238E27FC236}">
                <a16:creationId xmlns:a16="http://schemas.microsoft.com/office/drawing/2014/main" id="{24344CC3-4834-7151-A3A1-01271D633C47}"/>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34" name="TextBox 14">
            <a:extLst>
              <a:ext uri="{FF2B5EF4-FFF2-40B4-BE49-F238E27FC236}">
                <a16:creationId xmlns:a16="http://schemas.microsoft.com/office/drawing/2014/main" id="{23E82555-993D-FEBB-3561-23BA36073CD3}"/>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CTI</a:t>
            </a:r>
          </a:p>
        </p:txBody>
      </p:sp>
      <p:sp>
        <p:nvSpPr>
          <p:cNvPr id="35" name="TextBox 14">
            <a:extLst>
              <a:ext uri="{FF2B5EF4-FFF2-40B4-BE49-F238E27FC236}">
                <a16:creationId xmlns:a16="http://schemas.microsoft.com/office/drawing/2014/main" id="{DC3B6DBE-DC4D-E2A9-2948-D1027BFC6EB9}"/>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Solution</a:t>
            </a:r>
          </a:p>
        </p:txBody>
      </p:sp>
      <p:grpSp>
        <p:nvGrpSpPr>
          <p:cNvPr id="36" name="Group 7">
            <a:extLst>
              <a:ext uri="{FF2B5EF4-FFF2-40B4-BE49-F238E27FC236}">
                <a16:creationId xmlns:a16="http://schemas.microsoft.com/office/drawing/2014/main" id="{6ED556B5-6283-6F3C-074F-B1D029461167}"/>
              </a:ext>
            </a:extLst>
          </p:cNvPr>
          <p:cNvGrpSpPr/>
          <p:nvPr/>
        </p:nvGrpSpPr>
        <p:grpSpPr>
          <a:xfrm>
            <a:off x="10538640" y="1573209"/>
            <a:ext cx="6574108" cy="1138607"/>
            <a:chOff x="0" y="0"/>
            <a:chExt cx="5516210" cy="3527477"/>
          </a:xfrm>
        </p:grpSpPr>
        <p:sp>
          <p:nvSpPr>
            <p:cNvPr id="37" name="Freeform 8">
              <a:extLst>
                <a:ext uri="{FF2B5EF4-FFF2-40B4-BE49-F238E27FC236}">
                  <a16:creationId xmlns:a16="http://schemas.microsoft.com/office/drawing/2014/main" id="{24904DBD-2A17-30C1-B367-0E14FF3517A8}"/>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38" name="TextBox 9">
              <a:extLst>
                <a:ext uri="{FF2B5EF4-FFF2-40B4-BE49-F238E27FC236}">
                  <a16:creationId xmlns:a16="http://schemas.microsoft.com/office/drawing/2014/main" id="{26D7B7F1-CD17-A9AF-D4A2-A68A3813A6AB}"/>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20" name="Freeform 20">
            <a:extLst>
              <a:ext uri="{FF2B5EF4-FFF2-40B4-BE49-F238E27FC236}">
                <a16:creationId xmlns:a16="http://schemas.microsoft.com/office/drawing/2014/main" id="{B1047445-DCC7-DB1D-15D5-3AA5E7461A74}"/>
              </a:ext>
            </a:extLst>
          </p:cNvPr>
          <p:cNvSpPr/>
          <p:nvPr/>
        </p:nvSpPr>
        <p:spPr>
          <a:xfrm>
            <a:off x="9355148" y="1779611"/>
            <a:ext cx="545801"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 name="TextBox 18">
            <a:extLst>
              <a:ext uri="{FF2B5EF4-FFF2-40B4-BE49-F238E27FC236}">
                <a16:creationId xmlns:a16="http://schemas.microsoft.com/office/drawing/2014/main" id="{4C25D5DF-1EBB-C4AD-7CA2-B2928BEBD7E7}"/>
              </a:ext>
            </a:extLst>
          </p:cNvPr>
          <p:cNvSpPr txBox="1"/>
          <p:nvPr/>
        </p:nvSpPr>
        <p:spPr>
          <a:xfrm>
            <a:off x="11892860" y="2014830"/>
            <a:ext cx="6574108" cy="360163"/>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Alert: outbound traffic to unknown IP</a:t>
            </a:r>
          </a:p>
        </p:txBody>
      </p:sp>
      <p:sp>
        <p:nvSpPr>
          <p:cNvPr id="40" name="TextBox 18">
            <a:extLst>
              <a:ext uri="{FF2B5EF4-FFF2-40B4-BE49-F238E27FC236}">
                <a16:creationId xmlns:a16="http://schemas.microsoft.com/office/drawing/2014/main" id="{6796774E-39D7-2C5E-BF17-A3A63E1C980E}"/>
              </a:ext>
            </a:extLst>
          </p:cNvPr>
          <p:cNvSpPr txBox="1"/>
          <p:nvPr/>
        </p:nvSpPr>
        <p:spPr>
          <a:xfrm>
            <a:off x="12039600" y="3559083"/>
            <a:ext cx="6574108" cy="414344"/>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lang="en-US" sz="4000" spc="-120" dirty="0">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a:latin typeface="Telegraf"/>
                <a:ea typeface="Telegraf"/>
                <a:cs typeface="Telegraf"/>
                <a:sym typeface="Telegraf"/>
              </a:rPr>
              <a:t>WITH CTI</a:t>
            </a:r>
            <a:endParaRPr kumimoji="0" lang="en-US" sz="4000" b="0" i="0" u="none" strike="noStrike" kern="1200" cap="none" spc="-120" normalizeH="0" baseline="0" noProof="0" dirty="0">
              <a:ln>
                <a:noFill/>
              </a:ln>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a:effectLst/>
              <a:uLnTx/>
              <a:uFillTx/>
              <a:latin typeface="Telegraf"/>
              <a:ea typeface="Telegraf"/>
              <a:cs typeface="Telegraf"/>
              <a:sym typeface="Telegraf"/>
            </a:endParaRPr>
          </a:p>
        </p:txBody>
      </p:sp>
      <p:pic>
        <p:nvPicPr>
          <p:cNvPr id="45" name="Graphic 44" descr="Warning with solid fill">
            <a:extLst>
              <a:ext uri="{FF2B5EF4-FFF2-40B4-BE49-F238E27FC236}">
                <a16:creationId xmlns:a16="http://schemas.microsoft.com/office/drawing/2014/main" id="{9F2E014D-74CD-21A9-64DF-C604EA1017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50697" y="1743499"/>
            <a:ext cx="809338" cy="809338"/>
          </a:xfrm>
          <a:prstGeom prst="rect">
            <a:avLst/>
          </a:prstGeom>
          <a:effectLst>
            <a:glow rad="228600">
              <a:schemeClr val="accent4">
                <a:satMod val="175000"/>
                <a:alpha val="40000"/>
              </a:schemeClr>
            </a:glow>
          </a:effectLst>
        </p:spPr>
      </p:pic>
      <p:graphicFrame>
        <p:nvGraphicFramePr>
          <p:cNvPr id="47" name="Diagram 46">
            <a:extLst>
              <a:ext uri="{FF2B5EF4-FFF2-40B4-BE49-F238E27FC236}">
                <a16:creationId xmlns:a16="http://schemas.microsoft.com/office/drawing/2014/main" id="{C84BA8F0-CD33-864D-2D56-9CFFBAA39E51}"/>
              </a:ext>
            </a:extLst>
          </p:cNvPr>
          <p:cNvGraphicFramePr/>
          <p:nvPr>
            <p:extLst>
              <p:ext uri="{D42A27DB-BD31-4B8C-83A1-F6EECF244321}">
                <p14:modId xmlns:p14="http://schemas.microsoft.com/office/powerpoint/2010/main" val="217868107"/>
              </p:ext>
            </p:extLst>
          </p:nvPr>
        </p:nvGraphicFramePr>
        <p:xfrm>
          <a:off x="510013" y="4306947"/>
          <a:ext cx="8153400" cy="565846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48" name="Diagram 47">
            <a:extLst>
              <a:ext uri="{FF2B5EF4-FFF2-40B4-BE49-F238E27FC236}">
                <a16:creationId xmlns:a16="http://schemas.microsoft.com/office/drawing/2014/main" id="{1F850001-0512-3FF8-3AB7-2E167665F28B}"/>
              </a:ext>
            </a:extLst>
          </p:cNvPr>
          <p:cNvGraphicFramePr/>
          <p:nvPr>
            <p:extLst>
              <p:ext uri="{D42A27DB-BD31-4B8C-83A1-F6EECF244321}">
                <p14:modId xmlns:p14="http://schemas.microsoft.com/office/powerpoint/2010/main" val="1908451402"/>
              </p:ext>
            </p:extLst>
          </p:nvPr>
        </p:nvGraphicFramePr>
        <p:xfrm>
          <a:off x="9760555" y="4306946"/>
          <a:ext cx="8153400" cy="5658463"/>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266682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45"/>
                                        </p:tgtEl>
                                      </p:cBhvr>
                                    </p:animEffect>
                                    <p:animScale>
                                      <p:cBhvr>
                                        <p:cTn id="7" dur="250" autoRev="1" fill="hold"/>
                                        <p:tgtEl>
                                          <p:spTgt spid="45"/>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6"/>
                                        </p:tgtEl>
                                      </p:cBhvr>
                                    </p:animEffect>
                                    <p:animScale>
                                      <p:cBhvr>
                                        <p:cTn id="10" dur="250" autoRev="1" fill="hold"/>
                                        <p:tgtEl>
                                          <p:spTgt spid="36"/>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39"/>
                                        </p:tgtEl>
                                      </p:cBhvr>
                                    </p:animEffect>
                                    <p:animScale>
                                      <p:cBhvr>
                                        <p:cTn id="13" dur="250" autoRev="1" fill="hold"/>
                                        <p:tgtEl>
                                          <p:spTgt spid="39"/>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1000"/>
                                        <p:tgtEl>
                                          <p:spTgt spid="18"/>
                                        </p:tgtEl>
                                      </p:cBhvr>
                                    </p:animEffect>
                                    <p:anim calcmode="lin" valueType="num">
                                      <p:cBhvr>
                                        <p:cTn id="19" dur="1000" fill="hold"/>
                                        <p:tgtEl>
                                          <p:spTgt spid="18"/>
                                        </p:tgtEl>
                                        <p:attrNameLst>
                                          <p:attrName>ppt_x</p:attrName>
                                        </p:attrNameLst>
                                      </p:cBhvr>
                                      <p:tavLst>
                                        <p:tav tm="0">
                                          <p:val>
                                            <p:strVal val="#ppt_x"/>
                                          </p:val>
                                        </p:tav>
                                        <p:tav tm="100000">
                                          <p:val>
                                            <p:strVal val="#ppt_x"/>
                                          </p:val>
                                        </p:tav>
                                      </p:tavLst>
                                    </p:anim>
                                    <p:anim calcmode="lin" valueType="num">
                                      <p:cBhvr>
                                        <p:cTn id="20" dur="1000" fill="hold"/>
                                        <p:tgtEl>
                                          <p:spTgt spid="18"/>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1000"/>
                                        <p:tgtEl>
                                          <p:spTgt spid="47"/>
                                        </p:tgtEl>
                                      </p:cBhvr>
                                    </p:animEffect>
                                    <p:anim calcmode="lin" valueType="num">
                                      <p:cBhvr>
                                        <p:cTn id="24" dur="1000" fill="hold"/>
                                        <p:tgtEl>
                                          <p:spTgt spid="47"/>
                                        </p:tgtEl>
                                        <p:attrNameLst>
                                          <p:attrName>ppt_x</p:attrName>
                                        </p:attrNameLst>
                                      </p:cBhvr>
                                      <p:tavLst>
                                        <p:tav tm="0">
                                          <p:val>
                                            <p:strVal val="#ppt_x"/>
                                          </p:val>
                                        </p:tav>
                                        <p:tav tm="100000">
                                          <p:val>
                                            <p:strVal val="#ppt_x"/>
                                          </p:val>
                                        </p:tav>
                                      </p:tavLst>
                                    </p:anim>
                                    <p:anim calcmode="lin" valueType="num">
                                      <p:cBhvr>
                                        <p:cTn id="25"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1000"/>
                                        <p:tgtEl>
                                          <p:spTgt spid="40"/>
                                        </p:tgtEl>
                                      </p:cBhvr>
                                    </p:animEffect>
                                    <p:anim calcmode="lin" valueType="num">
                                      <p:cBhvr>
                                        <p:cTn id="31" dur="1000" fill="hold"/>
                                        <p:tgtEl>
                                          <p:spTgt spid="40"/>
                                        </p:tgtEl>
                                        <p:attrNameLst>
                                          <p:attrName>ppt_x</p:attrName>
                                        </p:attrNameLst>
                                      </p:cBhvr>
                                      <p:tavLst>
                                        <p:tav tm="0">
                                          <p:val>
                                            <p:strVal val="#ppt_x"/>
                                          </p:val>
                                        </p:tav>
                                        <p:tav tm="100000">
                                          <p:val>
                                            <p:strVal val="#ppt_x"/>
                                          </p:val>
                                        </p:tav>
                                      </p:tavLst>
                                    </p:anim>
                                    <p:anim calcmode="lin" valueType="num">
                                      <p:cBhvr>
                                        <p:cTn id="32" dur="1000" fill="hold"/>
                                        <p:tgtEl>
                                          <p:spTgt spid="4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1000"/>
                                        <p:tgtEl>
                                          <p:spTgt spid="48"/>
                                        </p:tgtEl>
                                      </p:cBhvr>
                                    </p:animEffect>
                                    <p:anim calcmode="lin" valueType="num">
                                      <p:cBhvr>
                                        <p:cTn id="36" dur="1000" fill="hold"/>
                                        <p:tgtEl>
                                          <p:spTgt spid="48"/>
                                        </p:tgtEl>
                                        <p:attrNameLst>
                                          <p:attrName>ppt_x</p:attrName>
                                        </p:attrNameLst>
                                      </p:cBhvr>
                                      <p:tavLst>
                                        <p:tav tm="0">
                                          <p:val>
                                            <p:strVal val="#ppt_x"/>
                                          </p:val>
                                        </p:tav>
                                        <p:tav tm="100000">
                                          <p:val>
                                            <p:strVal val="#ppt_x"/>
                                          </p:val>
                                        </p:tav>
                                      </p:tavLst>
                                    </p:anim>
                                    <p:anim calcmode="lin" valueType="num">
                                      <p:cBhvr>
                                        <p:cTn id="37"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9" grpId="0"/>
      <p:bldP spid="40" grpId="0"/>
      <p:bldGraphic spid="47" grpId="0">
        <p:bldAsOne/>
      </p:bldGraphic>
      <p:bldGraphic spid="48"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a:extLst>
            <a:ext uri="{FF2B5EF4-FFF2-40B4-BE49-F238E27FC236}">
              <a16:creationId xmlns:a16="http://schemas.microsoft.com/office/drawing/2014/main" id="{17361E55-F4B1-22C1-2BD0-34D1D0A793F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E445D69-3F53-0CDE-8276-CE5A7A8DAD21}"/>
              </a:ext>
            </a:extLst>
          </p:cNvPr>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E768DE55-A0E8-B45D-DF65-91B5427248AC}"/>
              </a:ext>
            </a:extLst>
          </p:cNvPr>
          <p:cNvSpPr txBox="1"/>
          <p:nvPr/>
        </p:nvSpPr>
        <p:spPr>
          <a:xfrm>
            <a:off x="489099" y="1607969"/>
            <a:ext cx="9138949" cy="1630575"/>
          </a:xfrm>
          <a:prstGeom prst="rect">
            <a:avLst/>
          </a:prstGeom>
        </p:spPr>
        <p:txBody>
          <a:bodyPr wrap="square" lIns="0" tIns="0" rIns="0" bIns="0" rtlCol="0" anchor="t">
            <a:spAutoFit/>
          </a:bodyPr>
          <a:lstStyle/>
          <a:p>
            <a:pPr marL="0" marR="0" lvl="0" indent="0" algn="l" defTabSz="914400" rtl="0" eaLnBrk="1" fontAlgn="auto" latinLnBrk="0" hangingPunct="1">
              <a:lnSpc>
                <a:spcPts val="4095"/>
              </a:lnSpc>
              <a:spcBef>
                <a:spcPts val="0"/>
              </a:spcBef>
              <a:spcAft>
                <a:spcPts val="0"/>
              </a:spcAft>
              <a:buClrTx/>
              <a:buSzTx/>
              <a:buFontTx/>
              <a:buNone/>
              <a:tabLst/>
              <a:defRPr/>
            </a:pPr>
            <a:r>
              <a:rPr kumimoji="0" lang="en-US" sz="7200" b="0" i="0" u="none" strike="noStrike" kern="1200" cap="none" spc="0" normalizeH="0" baseline="0" noProof="0" dirty="0">
                <a:ln>
                  <a:noFill/>
                </a:ln>
                <a:gradFill>
                  <a:gsLst>
                    <a:gs pos="0">
                      <a:srgbClr val="8064A2">
                        <a:lumMod val="0"/>
                        <a:lumOff val="100000"/>
                      </a:srgbClr>
                    </a:gs>
                    <a:gs pos="35000">
                      <a:srgbClr val="8064A2">
                        <a:lumMod val="0"/>
                        <a:lumOff val="100000"/>
                      </a:srgbClr>
                    </a:gs>
                    <a:gs pos="100000">
                      <a:srgbClr val="8064A2">
                        <a:lumMod val="100000"/>
                      </a:srgbClr>
                    </a:gs>
                  </a:gsLst>
                  <a:path path="circle">
                    <a:fillToRect l="50000" t="-80000" r="50000" b="180000"/>
                  </a:path>
                </a:gradFill>
                <a:effectLst/>
                <a:uLnTx/>
                <a:uFillTx/>
                <a:latin typeface="RQND Pro Wide"/>
                <a:ea typeface="RQND Pro Wide"/>
                <a:cs typeface="RQND Pro Wide"/>
                <a:sym typeface="RQND Pro Wide"/>
              </a:rPr>
              <a:t>Why We Hunt Behavior, Not Indicators</a:t>
            </a:r>
          </a:p>
        </p:txBody>
      </p:sp>
      <p:pic>
        <p:nvPicPr>
          <p:cNvPr id="23" name="Image 0" descr="/home/claude/cygnus_logo.png">
            <a:extLst>
              <a:ext uri="{FF2B5EF4-FFF2-40B4-BE49-F238E27FC236}">
                <a16:creationId xmlns:a16="http://schemas.microsoft.com/office/drawing/2014/main" id="{FA2EFBFF-FC64-E45C-41E2-3E15B52059A6}"/>
              </a:ext>
            </a:extLst>
          </p:cNvPr>
          <p:cNvPicPr>
            <a:picLocks noChangeAspect="1"/>
          </p:cNvPicPr>
          <p:nvPr/>
        </p:nvPicPr>
        <p:blipFill>
          <a:blip r:embed="rId3"/>
          <a:stretch>
            <a:fillRect/>
          </a:stretch>
        </p:blipFill>
        <p:spPr>
          <a:xfrm>
            <a:off x="651199" y="502921"/>
            <a:ext cx="1330002" cy="266000"/>
          </a:xfrm>
          <a:prstGeom prst="rect">
            <a:avLst/>
          </a:prstGeom>
        </p:spPr>
      </p:pic>
      <p:grpSp>
        <p:nvGrpSpPr>
          <p:cNvPr id="8" name="Group 4">
            <a:extLst>
              <a:ext uri="{FF2B5EF4-FFF2-40B4-BE49-F238E27FC236}">
                <a16:creationId xmlns:a16="http://schemas.microsoft.com/office/drawing/2014/main" id="{5B187BAE-A6D3-0302-437D-C37741F37215}"/>
              </a:ext>
            </a:extLst>
          </p:cNvPr>
          <p:cNvGrpSpPr/>
          <p:nvPr/>
        </p:nvGrpSpPr>
        <p:grpSpPr>
          <a:xfrm>
            <a:off x="9700781" y="1153708"/>
            <a:ext cx="247059" cy="56998"/>
            <a:chOff x="0" y="0"/>
            <a:chExt cx="65069" cy="15012"/>
          </a:xfrm>
        </p:grpSpPr>
        <p:sp>
          <p:nvSpPr>
            <p:cNvPr id="17" name="Freeform 5">
              <a:extLst>
                <a:ext uri="{FF2B5EF4-FFF2-40B4-BE49-F238E27FC236}">
                  <a16:creationId xmlns:a16="http://schemas.microsoft.com/office/drawing/2014/main" id="{BC414A31-4F24-4900-1CAC-98AD2CCF04D3}"/>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TextBox 6">
              <a:extLst>
                <a:ext uri="{FF2B5EF4-FFF2-40B4-BE49-F238E27FC236}">
                  <a16:creationId xmlns:a16="http://schemas.microsoft.com/office/drawing/2014/main" id="{B76FE73E-1391-0EEC-8D83-E098217D8449}"/>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1" name="TextBox 13">
            <a:extLst>
              <a:ext uri="{FF2B5EF4-FFF2-40B4-BE49-F238E27FC236}">
                <a16:creationId xmlns:a16="http://schemas.microsoft.com/office/drawing/2014/main" id="{4707C57C-B83F-41DB-2480-1001CB46766D}"/>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32" name="TextBox 14">
            <a:extLst>
              <a:ext uri="{FF2B5EF4-FFF2-40B4-BE49-F238E27FC236}">
                <a16:creationId xmlns:a16="http://schemas.microsoft.com/office/drawing/2014/main" id="{DE742E61-DB89-1692-FD00-E77C3A018EF9}"/>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34" name="TextBox 14">
            <a:extLst>
              <a:ext uri="{FF2B5EF4-FFF2-40B4-BE49-F238E27FC236}">
                <a16:creationId xmlns:a16="http://schemas.microsoft.com/office/drawing/2014/main" id="{7062D44B-1727-EA0C-B760-9612A7E2520D}"/>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CTI</a:t>
            </a:r>
          </a:p>
        </p:txBody>
      </p:sp>
      <p:sp>
        <p:nvSpPr>
          <p:cNvPr id="35" name="TextBox 14">
            <a:extLst>
              <a:ext uri="{FF2B5EF4-FFF2-40B4-BE49-F238E27FC236}">
                <a16:creationId xmlns:a16="http://schemas.microsoft.com/office/drawing/2014/main" id="{CD13E774-2BA0-5E8D-8E7F-091997A7A836}"/>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Solution</a:t>
            </a:r>
          </a:p>
        </p:txBody>
      </p:sp>
      <p:grpSp>
        <p:nvGrpSpPr>
          <p:cNvPr id="36" name="Group 7">
            <a:extLst>
              <a:ext uri="{FF2B5EF4-FFF2-40B4-BE49-F238E27FC236}">
                <a16:creationId xmlns:a16="http://schemas.microsoft.com/office/drawing/2014/main" id="{6577EDBB-8772-D7B3-C478-7575AB99BB15}"/>
              </a:ext>
            </a:extLst>
          </p:cNvPr>
          <p:cNvGrpSpPr/>
          <p:nvPr/>
        </p:nvGrpSpPr>
        <p:grpSpPr>
          <a:xfrm>
            <a:off x="10538640" y="1573209"/>
            <a:ext cx="6574108" cy="1138607"/>
            <a:chOff x="0" y="0"/>
            <a:chExt cx="5516210" cy="3527477"/>
          </a:xfrm>
        </p:grpSpPr>
        <p:sp>
          <p:nvSpPr>
            <p:cNvPr id="37" name="Freeform 8">
              <a:extLst>
                <a:ext uri="{FF2B5EF4-FFF2-40B4-BE49-F238E27FC236}">
                  <a16:creationId xmlns:a16="http://schemas.microsoft.com/office/drawing/2014/main" id="{D7AB9B7C-E757-2DDC-B647-9109F20AA19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38" name="TextBox 9">
              <a:extLst>
                <a:ext uri="{FF2B5EF4-FFF2-40B4-BE49-F238E27FC236}">
                  <a16:creationId xmlns:a16="http://schemas.microsoft.com/office/drawing/2014/main" id="{4E224995-97BA-2D2A-5B87-1DE42E8B6529}"/>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20" name="Freeform 20">
            <a:extLst>
              <a:ext uri="{FF2B5EF4-FFF2-40B4-BE49-F238E27FC236}">
                <a16:creationId xmlns:a16="http://schemas.microsoft.com/office/drawing/2014/main" id="{8CBAF90B-6BE0-C2B3-DC40-FF9DC6CD8CEF}"/>
              </a:ext>
            </a:extLst>
          </p:cNvPr>
          <p:cNvSpPr/>
          <p:nvPr/>
        </p:nvSpPr>
        <p:spPr>
          <a:xfrm flipH="1">
            <a:off x="10653999" y="1839866"/>
            <a:ext cx="630884"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 name="TextBox 18">
            <a:extLst>
              <a:ext uri="{FF2B5EF4-FFF2-40B4-BE49-F238E27FC236}">
                <a16:creationId xmlns:a16="http://schemas.microsoft.com/office/drawing/2014/main" id="{8B5C9B67-CBB8-C139-119B-B7E4DDFD5F97}"/>
              </a:ext>
            </a:extLst>
          </p:cNvPr>
          <p:cNvSpPr txBox="1"/>
          <p:nvPr/>
        </p:nvSpPr>
        <p:spPr>
          <a:xfrm>
            <a:off x="11494701" y="1767259"/>
            <a:ext cx="5588013" cy="732060"/>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An adversary changes an IP in seconds. Changing how they operate takes months.</a:t>
            </a:r>
          </a:p>
        </p:txBody>
      </p:sp>
      <p:graphicFrame>
        <p:nvGraphicFramePr>
          <p:cNvPr id="47" name="Diagram 46">
            <a:extLst>
              <a:ext uri="{FF2B5EF4-FFF2-40B4-BE49-F238E27FC236}">
                <a16:creationId xmlns:a16="http://schemas.microsoft.com/office/drawing/2014/main" id="{CD31F84B-38EF-25AC-2B7D-6B18BAD7F621}"/>
              </a:ext>
            </a:extLst>
          </p:cNvPr>
          <p:cNvGraphicFramePr/>
          <p:nvPr>
            <p:extLst>
              <p:ext uri="{D42A27DB-BD31-4B8C-83A1-F6EECF244321}">
                <p14:modId xmlns:p14="http://schemas.microsoft.com/office/powerpoint/2010/main" val="472089001"/>
              </p:ext>
            </p:extLst>
          </p:nvPr>
        </p:nvGraphicFramePr>
        <p:xfrm>
          <a:off x="8475552" y="3007896"/>
          <a:ext cx="9812448" cy="68569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2" name="Diagram 1">
            <a:extLst>
              <a:ext uri="{FF2B5EF4-FFF2-40B4-BE49-F238E27FC236}">
                <a16:creationId xmlns:a16="http://schemas.microsoft.com/office/drawing/2014/main" id="{26DD5550-D5AE-86D6-F6D8-EEE2699B530E}"/>
              </a:ext>
            </a:extLst>
          </p:cNvPr>
          <p:cNvGraphicFramePr/>
          <p:nvPr>
            <p:extLst>
              <p:ext uri="{D42A27DB-BD31-4B8C-83A1-F6EECF244321}">
                <p14:modId xmlns:p14="http://schemas.microsoft.com/office/powerpoint/2010/main" val="3458425400"/>
              </p:ext>
            </p:extLst>
          </p:nvPr>
        </p:nvGraphicFramePr>
        <p:xfrm>
          <a:off x="7235733" y="2768547"/>
          <a:ext cx="7467415" cy="560744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pSp>
        <p:nvGrpSpPr>
          <p:cNvPr id="5" name="Group 7">
            <a:extLst>
              <a:ext uri="{FF2B5EF4-FFF2-40B4-BE49-F238E27FC236}">
                <a16:creationId xmlns:a16="http://schemas.microsoft.com/office/drawing/2014/main" id="{E7366A82-F3D6-E463-CEE1-CC38F222DF39}"/>
              </a:ext>
            </a:extLst>
          </p:cNvPr>
          <p:cNvGrpSpPr/>
          <p:nvPr/>
        </p:nvGrpSpPr>
        <p:grpSpPr>
          <a:xfrm>
            <a:off x="568736" y="3823922"/>
            <a:ext cx="6517864" cy="5205778"/>
            <a:chOff x="0" y="0"/>
            <a:chExt cx="5516210" cy="3527477"/>
          </a:xfrm>
        </p:grpSpPr>
        <p:sp>
          <p:nvSpPr>
            <p:cNvPr id="6" name="Freeform 8">
              <a:extLst>
                <a:ext uri="{FF2B5EF4-FFF2-40B4-BE49-F238E27FC236}">
                  <a16:creationId xmlns:a16="http://schemas.microsoft.com/office/drawing/2014/main" id="{6BD1CF4B-C2C3-8746-9E20-72D2F2C623D2}"/>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7" name="TextBox 9">
              <a:extLst>
                <a:ext uri="{FF2B5EF4-FFF2-40B4-BE49-F238E27FC236}">
                  <a16:creationId xmlns:a16="http://schemas.microsoft.com/office/drawing/2014/main" id="{F8B2B104-66AF-9E35-D24E-45139485D00C}"/>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4" name="TextBox 18">
            <a:extLst>
              <a:ext uri="{FF2B5EF4-FFF2-40B4-BE49-F238E27FC236}">
                <a16:creationId xmlns:a16="http://schemas.microsoft.com/office/drawing/2014/main" id="{D911D3AB-4FCD-2582-A61E-02712BC35684}"/>
              </a:ext>
            </a:extLst>
          </p:cNvPr>
          <p:cNvSpPr txBox="1"/>
          <p:nvPr/>
        </p:nvSpPr>
        <p:spPr>
          <a:xfrm>
            <a:off x="856874" y="4056057"/>
            <a:ext cx="5588013" cy="4451027"/>
          </a:xfrm>
          <a:prstGeom prst="rect">
            <a:avLst/>
          </a:prstGeom>
        </p:spPr>
        <p:txBody>
          <a:bodyPr wrap="square" lIns="0" tIns="0" rIns="0" bIns="0" rtlCol="0" anchor="t">
            <a:spAutoFit/>
          </a:bodyPr>
          <a:lstStyle/>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Detection built on behavior survives:</a:t>
            </a:r>
          </a:p>
          <a:p>
            <a:pPr marL="0" marR="0" lvl="0" indent="0" algn="l" defTabSz="914400" rtl="0" eaLnBrk="1" fontAlgn="auto" latinLnBrk="0" hangingPunct="1">
              <a:lnSpc>
                <a:spcPts val="2879"/>
              </a:lnSpc>
              <a:spcBef>
                <a:spcPts val="0"/>
              </a:spcBef>
              <a:spcAft>
                <a:spcPts val="0"/>
              </a:spcAft>
              <a:buClrTx/>
              <a:buSzTx/>
              <a:buFontTx/>
              <a:buNone/>
              <a:tabLst/>
              <a:defRPr/>
            </a:pPr>
            <a:endPar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endParaRPr>
          </a:p>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  IP rotation</a:t>
            </a:r>
          </a:p>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  Domain changes</a:t>
            </a:r>
          </a:p>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  New malware versions</a:t>
            </a:r>
          </a:p>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  Full infrastructure rebuilds</a:t>
            </a:r>
          </a:p>
          <a:p>
            <a:pPr marL="0" marR="0" lvl="0" indent="0" algn="l" defTabSz="914400" rtl="0" eaLnBrk="1" fontAlgn="auto" latinLnBrk="0" hangingPunct="1">
              <a:lnSpc>
                <a:spcPts val="2879"/>
              </a:lnSpc>
              <a:spcBef>
                <a:spcPts val="0"/>
              </a:spcBef>
              <a:spcAft>
                <a:spcPts val="0"/>
              </a:spcAft>
              <a:buClrTx/>
              <a:buSzTx/>
              <a:buFontTx/>
              <a:buNone/>
              <a:tabLst/>
              <a:defRPr/>
            </a:pPr>
            <a:endPar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endParaRPr>
          </a:p>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IoC-only detection fails the moment the adversary refreshes a server.</a:t>
            </a:r>
          </a:p>
          <a:p>
            <a:pPr marL="0" marR="0" lvl="0" indent="0" algn="l" defTabSz="914400" rtl="0" eaLnBrk="1" fontAlgn="auto" latinLnBrk="0" hangingPunct="1">
              <a:lnSpc>
                <a:spcPts val="2879"/>
              </a:lnSpc>
              <a:spcBef>
                <a:spcPts val="0"/>
              </a:spcBef>
              <a:spcAft>
                <a:spcPts val="0"/>
              </a:spcAft>
              <a:buClrTx/>
              <a:buSzTx/>
              <a:buFontTx/>
              <a:buNone/>
              <a:tabLst/>
              <a:defRPr/>
            </a:pPr>
            <a:endPar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endParaRPr>
          </a:p>
          <a:p>
            <a:pPr marL="0" marR="0" lvl="0" indent="0" algn="l" defTabSz="914400" rtl="0" eaLnBrk="1" fontAlgn="auto" latinLnBrk="0" hangingPunct="1">
              <a:lnSpc>
                <a:spcPts val="2879"/>
              </a:lnSpc>
              <a:spcBef>
                <a:spcPts val="0"/>
              </a:spcBef>
              <a:spcAft>
                <a:spcPts val="0"/>
              </a:spcAft>
              <a:buClrTx/>
              <a:buSzTx/>
              <a:buFontTx/>
              <a:buNone/>
              <a:tabLst/>
              <a:defRPr/>
            </a:pPr>
            <a:r>
              <a:rPr kumimoji="0" lang="en-US" sz="2400" b="0" i="0" u="none" strike="noStrike" kern="1200" cap="none" spc="-120" normalizeH="0" baseline="0" noProof="0" dirty="0">
                <a:ln>
                  <a:noFill/>
                </a:ln>
                <a:solidFill>
                  <a:srgbClr val="FFFFFF"/>
                </a:solidFill>
                <a:effectLst/>
                <a:uLnTx/>
                <a:uFillTx/>
                <a:latin typeface="Telegraf"/>
                <a:ea typeface="Telegraf"/>
                <a:cs typeface="Telegraf"/>
                <a:sym typeface="Telegraf"/>
              </a:rPr>
              <a:t>TTP detection catches the same adversary for years.</a:t>
            </a:r>
          </a:p>
        </p:txBody>
      </p:sp>
    </p:spTree>
    <p:extLst>
      <p:ext uri="{BB962C8B-B14F-4D97-AF65-F5344CB8AC3E}">
        <p14:creationId xmlns:p14="http://schemas.microsoft.com/office/powerpoint/2010/main" val="2410708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1"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1000" fill="hold"/>
                                        <p:tgtEl>
                                          <p:spTgt spid="47"/>
                                        </p:tgtEl>
                                        <p:attrNameLst>
                                          <p:attrName>ppt_w</p:attrName>
                                        </p:attrNameLst>
                                      </p:cBhvr>
                                      <p:tavLst>
                                        <p:tav tm="0">
                                          <p:val>
                                            <p:strVal val="#ppt_w*0.70"/>
                                          </p:val>
                                        </p:tav>
                                        <p:tav tm="100000">
                                          <p:val>
                                            <p:strVal val="#ppt_w"/>
                                          </p:val>
                                        </p:tav>
                                      </p:tavLst>
                                    </p:anim>
                                    <p:anim calcmode="lin" valueType="num">
                                      <p:cBhvr>
                                        <p:cTn id="8" dur="1000" fill="hold"/>
                                        <p:tgtEl>
                                          <p:spTgt spid="47"/>
                                        </p:tgtEl>
                                        <p:attrNameLst>
                                          <p:attrName>ppt_h</p:attrName>
                                        </p:attrNameLst>
                                      </p:cBhvr>
                                      <p:tavLst>
                                        <p:tav tm="0">
                                          <p:val>
                                            <p:strVal val="#ppt_h"/>
                                          </p:val>
                                        </p:tav>
                                        <p:tav tm="100000">
                                          <p:val>
                                            <p:strVal val="#ppt_h"/>
                                          </p:val>
                                        </p:tav>
                                      </p:tavLst>
                                    </p:anim>
                                    <p:animEffect transition="in" filter="fade">
                                      <p:cBhvr>
                                        <p:cTn id="9" dur="10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p:tgtEl>
                                          <p:spTgt spid="2"/>
                                        </p:tgtEl>
                                        <p:attrNameLst>
                                          <p:attrName>ppt_y</p:attrName>
                                        </p:attrNameLst>
                                      </p:cBhvr>
                                      <p:tavLst>
                                        <p:tav tm="0">
                                          <p:val>
                                            <p:strVal val="#ppt_y+#ppt_h*1.125000"/>
                                          </p:val>
                                        </p:tav>
                                        <p:tav tm="100000">
                                          <p:val>
                                            <p:strVal val="#ppt_y"/>
                                          </p:val>
                                        </p:tav>
                                      </p:tavLst>
                                    </p:anim>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1">
        <p:bldAsOne/>
      </p:bldGraphic>
      <p:bldGraphic spid="2"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3" name="Freeform 3"/>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6" name="TextBox 16"/>
          <p:cNvSpPr txBox="1"/>
          <p:nvPr/>
        </p:nvSpPr>
        <p:spPr>
          <a:xfrm>
            <a:off x="6776733" y="1856873"/>
            <a:ext cx="10830534" cy="1231106"/>
          </a:xfrm>
          <a:prstGeom prst="rect">
            <a:avLst/>
          </a:prstGeom>
        </p:spPr>
        <p:txBody>
          <a:bodyPr wrap="square" lIns="0" tIns="0" rIns="0" bIns="0" rtlCol="0" anchor="t">
            <a:spAutoFit/>
          </a:bodyPr>
          <a:lstStyle/>
          <a:p>
            <a:pPr algn="r">
              <a:lnSpc>
                <a:spcPts val="4765"/>
              </a:lnSpc>
            </a:pPr>
            <a:r>
              <a:rPr lang="en-US" sz="574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Prioritization  Quality Over Quantity</a:t>
            </a:r>
          </a:p>
        </p:txBody>
      </p:sp>
      <p:sp>
        <p:nvSpPr>
          <p:cNvPr id="22" name="Freeform 22"/>
          <p:cNvSpPr/>
          <p:nvPr/>
        </p:nvSpPr>
        <p:spPr>
          <a:xfrm flipH="1">
            <a:off x="10720342" y="2527193"/>
            <a:ext cx="608231" cy="480305"/>
          </a:xfrm>
          <a:custGeom>
            <a:avLst/>
            <a:gdLst/>
            <a:ahLst/>
            <a:cxnLst/>
            <a:rect l="l" t="t" r="r" b="b"/>
            <a:pathLst>
              <a:path w="545801" h="480305">
                <a:moveTo>
                  <a:pt x="0" y="0"/>
                </a:moveTo>
                <a:lnTo>
                  <a:pt x="545801" y="0"/>
                </a:lnTo>
                <a:lnTo>
                  <a:pt x="545801" y="480304"/>
                </a:lnTo>
                <a:lnTo>
                  <a:pt x="0" y="4803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30" name="Image 0" descr="/home/claude/cygnus_logo.png">
            <a:extLst>
              <a:ext uri="{FF2B5EF4-FFF2-40B4-BE49-F238E27FC236}">
                <a16:creationId xmlns:a16="http://schemas.microsoft.com/office/drawing/2014/main" id="{D3995383-C9CE-A366-B7FD-590437C9E75C}"/>
              </a:ext>
            </a:extLst>
          </p:cNvPr>
          <p:cNvPicPr>
            <a:picLocks noChangeAspect="1"/>
          </p:cNvPicPr>
          <p:nvPr/>
        </p:nvPicPr>
        <p:blipFill>
          <a:blip r:embed="rId4"/>
          <a:stretch>
            <a:fillRect/>
          </a:stretch>
        </p:blipFill>
        <p:spPr>
          <a:xfrm>
            <a:off x="651199" y="502921"/>
            <a:ext cx="1330002" cy="266000"/>
          </a:xfrm>
          <a:prstGeom prst="rect">
            <a:avLst/>
          </a:prstGeom>
        </p:spPr>
      </p:pic>
      <p:grpSp>
        <p:nvGrpSpPr>
          <p:cNvPr id="2" name="Group 7">
            <a:extLst>
              <a:ext uri="{FF2B5EF4-FFF2-40B4-BE49-F238E27FC236}">
                <a16:creationId xmlns:a16="http://schemas.microsoft.com/office/drawing/2014/main" id="{34956120-8B7D-F33A-CDAA-332F128C9DC6}"/>
              </a:ext>
            </a:extLst>
          </p:cNvPr>
          <p:cNvGrpSpPr/>
          <p:nvPr/>
        </p:nvGrpSpPr>
        <p:grpSpPr>
          <a:xfrm>
            <a:off x="1011714" y="2634963"/>
            <a:ext cx="5628007" cy="3365525"/>
            <a:chOff x="0" y="0"/>
            <a:chExt cx="5516210" cy="3527477"/>
          </a:xfrm>
          <a:effectLst>
            <a:glow rad="304800">
              <a:srgbClr val="8E52F5">
                <a:alpha val="25000"/>
              </a:srgbClr>
            </a:glow>
          </a:effectLst>
        </p:grpSpPr>
        <p:sp>
          <p:nvSpPr>
            <p:cNvPr id="12" name="Freeform 8">
              <a:extLst>
                <a:ext uri="{FF2B5EF4-FFF2-40B4-BE49-F238E27FC236}">
                  <a16:creationId xmlns:a16="http://schemas.microsoft.com/office/drawing/2014/main" id="{1F71DB87-2EBB-49DC-5F33-A27CFE533887}"/>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31" name="TextBox 9">
              <a:extLst>
                <a:ext uri="{FF2B5EF4-FFF2-40B4-BE49-F238E27FC236}">
                  <a16:creationId xmlns:a16="http://schemas.microsoft.com/office/drawing/2014/main" id="{0F5A690A-8111-4C55-BAB2-FF0632169799}"/>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32" name="Text 11">
            <a:extLst>
              <a:ext uri="{FF2B5EF4-FFF2-40B4-BE49-F238E27FC236}">
                <a16:creationId xmlns:a16="http://schemas.microsoft.com/office/drawing/2014/main" id="{D6C2960A-72F0-99B2-2E9C-7D791A78B0B8}"/>
              </a:ext>
            </a:extLst>
          </p:cNvPr>
          <p:cNvSpPr/>
          <p:nvPr/>
        </p:nvSpPr>
        <p:spPr>
          <a:xfrm>
            <a:off x="1868059" y="2849670"/>
            <a:ext cx="5666329" cy="908795"/>
          </a:xfrm>
          <a:prstGeom prst="rect">
            <a:avLst/>
          </a:prstGeom>
          <a:noFill/>
          <a:ln/>
        </p:spPr>
        <p:txBody>
          <a:bodyPr wrap="square" rtlCol="0" anchor="ctr"/>
          <a:lstStyle/>
          <a:p>
            <a:r>
              <a:rPr lang="en-US" sz="48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RELEVANCE</a:t>
            </a:r>
            <a:endParaRPr lang="en-US" sz="48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ndParaRPr>
          </a:p>
        </p:txBody>
      </p:sp>
      <p:sp>
        <p:nvSpPr>
          <p:cNvPr id="33" name="TextBox 17">
            <a:extLst>
              <a:ext uri="{FF2B5EF4-FFF2-40B4-BE49-F238E27FC236}">
                <a16:creationId xmlns:a16="http://schemas.microsoft.com/office/drawing/2014/main" id="{B00A245B-817A-DC55-0559-DCD356083E47}"/>
              </a:ext>
            </a:extLst>
          </p:cNvPr>
          <p:cNvSpPr txBox="1"/>
          <p:nvPr/>
        </p:nvSpPr>
        <p:spPr>
          <a:xfrm>
            <a:off x="1765090" y="5003705"/>
            <a:ext cx="4080745" cy="458011"/>
          </a:xfrm>
          <a:prstGeom prst="rect">
            <a:avLst/>
          </a:prstGeom>
        </p:spPr>
        <p:txBody>
          <a:bodyPr wrap="square" lIns="0" tIns="0" rIns="0" bIns="0" rtlCol="0" anchor="t">
            <a:spAutoFit/>
          </a:bodyPr>
          <a:lstStyle/>
          <a:p>
            <a:pPr algn="ctr">
              <a:lnSpc>
                <a:spcPts val="1680"/>
              </a:lnSpc>
            </a:pPr>
            <a:r>
              <a:rPr lang="en-US" sz="2000" i="1" spc="-70" dirty="0">
                <a:solidFill>
                  <a:srgbClr val="FFFFFF"/>
                </a:solidFill>
                <a:latin typeface="Work Sans" pitchFamily="2" charset="0"/>
                <a:ea typeface="Telegraf"/>
                <a:cs typeface="Telegraf"/>
                <a:sym typeface="Telegraf"/>
              </a:rPr>
              <a:t>Sector · Technology · Geography · Business process</a:t>
            </a:r>
          </a:p>
        </p:txBody>
      </p:sp>
      <p:sp>
        <p:nvSpPr>
          <p:cNvPr id="34" name="TextBox 17">
            <a:extLst>
              <a:ext uri="{FF2B5EF4-FFF2-40B4-BE49-F238E27FC236}">
                <a16:creationId xmlns:a16="http://schemas.microsoft.com/office/drawing/2014/main" id="{5C566987-1A13-4AD2-5D36-61F57342C583}"/>
              </a:ext>
            </a:extLst>
          </p:cNvPr>
          <p:cNvSpPr txBox="1"/>
          <p:nvPr/>
        </p:nvSpPr>
        <p:spPr>
          <a:xfrm>
            <a:off x="1355877" y="4048885"/>
            <a:ext cx="4879739" cy="445250"/>
          </a:xfrm>
          <a:prstGeom prst="rect">
            <a:avLst/>
          </a:prstGeom>
        </p:spPr>
        <p:txBody>
          <a:bodyPr wrap="square" lIns="0" tIns="0" rIns="0" bIns="0" rtlCol="0" anchor="t">
            <a:spAutoFit/>
          </a:bodyPr>
          <a:lstStyle/>
          <a:p>
            <a:pPr algn="ctr">
              <a:lnSpc>
                <a:spcPts val="1680"/>
              </a:lnSpc>
            </a:pPr>
            <a:r>
              <a:rPr lang="en-US" sz="2000" i="1" spc="-70" dirty="0">
                <a:solidFill>
                  <a:srgbClr val="FFFFFF"/>
                </a:solidFill>
                <a:latin typeface="Work Sans" pitchFamily="2" charset="0"/>
                <a:ea typeface="Telegraf"/>
                <a:cs typeface="Telegraf"/>
                <a:sym typeface="Telegraf"/>
              </a:rPr>
              <a:t>Does it match our attack surface, sector, geography, and tech stack?</a:t>
            </a:r>
          </a:p>
        </p:txBody>
      </p:sp>
      <p:grpSp>
        <p:nvGrpSpPr>
          <p:cNvPr id="35" name="Group 7">
            <a:extLst>
              <a:ext uri="{FF2B5EF4-FFF2-40B4-BE49-F238E27FC236}">
                <a16:creationId xmlns:a16="http://schemas.microsoft.com/office/drawing/2014/main" id="{FDEA1B93-9A94-BE98-A4CE-8E5DC9702CFD}"/>
              </a:ext>
            </a:extLst>
          </p:cNvPr>
          <p:cNvGrpSpPr/>
          <p:nvPr/>
        </p:nvGrpSpPr>
        <p:grpSpPr>
          <a:xfrm>
            <a:off x="6361921" y="4345997"/>
            <a:ext cx="5764897" cy="3365525"/>
            <a:chOff x="0" y="0"/>
            <a:chExt cx="5516210" cy="3527477"/>
          </a:xfrm>
          <a:effectLst>
            <a:glow rad="304800">
              <a:srgbClr val="8E52F5">
                <a:alpha val="25000"/>
              </a:srgbClr>
            </a:glow>
          </a:effectLst>
        </p:grpSpPr>
        <p:sp>
          <p:nvSpPr>
            <p:cNvPr id="36" name="Freeform 8">
              <a:extLst>
                <a:ext uri="{FF2B5EF4-FFF2-40B4-BE49-F238E27FC236}">
                  <a16:creationId xmlns:a16="http://schemas.microsoft.com/office/drawing/2014/main" id="{5CB28466-44EA-C8B5-4215-DCC2EB873865}"/>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37" name="TextBox 9">
              <a:extLst>
                <a:ext uri="{FF2B5EF4-FFF2-40B4-BE49-F238E27FC236}">
                  <a16:creationId xmlns:a16="http://schemas.microsoft.com/office/drawing/2014/main" id="{B17AFEB2-25A3-9894-BB12-0CEE64BDF748}"/>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38" name="Text 11">
            <a:extLst>
              <a:ext uri="{FF2B5EF4-FFF2-40B4-BE49-F238E27FC236}">
                <a16:creationId xmlns:a16="http://schemas.microsoft.com/office/drawing/2014/main" id="{8E27C85E-A713-71DC-55B1-6BD5C636903A}"/>
              </a:ext>
            </a:extLst>
          </p:cNvPr>
          <p:cNvSpPr/>
          <p:nvPr/>
        </p:nvSpPr>
        <p:spPr>
          <a:xfrm>
            <a:off x="6515636" y="4577860"/>
            <a:ext cx="7400259" cy="908795"/>
          </a:xfrm>
          <a:prstGeom prst="rect">
            <a:avLst/>
          </a:prstGeom>
          <a:noFill/>
          <a:ln/>
        </p:spPr>
        <p:txBody>
          <a:bodyPr wrap="square" rtlCol="0" anchor="ctr"/>
          <a:lstStyle/>
          <a:p>
            <a:r>
              <a:rPr lang="en-US" sz="48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ACTIONABILITY</a:t>
            </a:r>
          </a:p>
        </p:txBody>
      </p:sp>
      <p:sp>
        <p:nvSpPr>
          <p:cNvPr id="39" name="TextBox 17">
            <a:extLst>
              <a:ext uri="{FF2B5EF4-FFF2-40B4-BE49-F238E27FC236}">
                <a16:creationId xmlns:a16="http://schemas.microsoft.com/office/drawing/2014/main" id="{EC43CD1B-B0B7-A095-2DD2-4BE91322C13D}"/>
              </a:ext>
            </a:extLst>
          </p:cNvPr>
          <p:cNvSpPr txBox="1"/>
          <p:nvPr/>
        </p:nvSpPr>
        <p:spPr>
          <a:xfrm>
            <a:off x="7115297" y="6714739"/>
            <a:ext cx="4180001" cy="458011"/>
          </a:xfrm>
          <a:prstGeom prst="rect">
            <a:avLst/>
          </a:prstGeom>
        </p:spPr>
        <p:txBody>
          <a:bodyPr wrap="square" lIns="0" tIns="0" rIns="0" bIns="0" rtlCol="0" anchor="t">
            <a:spAutoFit/>
          </a:bodyPr>
          <a:lstStyle/>
          <a:p>
            <a:pPr algn="ctr">
              <a:lnSpc>
                <a:spcPts val="1680"/>
              </a:lnSpc>
            </a:pPr>
            <a:r>
              <a:rPr lang="en-US" sz="2000" i="1" spc="-70" dirty="0">
                <a:solidFill>
                  <a:srgbClr val="FFFFFF"/>
                </a:solidFill>
                <a:latin typeface="Work Sans" pitchFamily="2" charset="0"/>
                <a:ea typeface="Telegraf"/>
                <a:cs typeface="Telegraf"/>
                <a:sym typeface="Telegraf"/>
              </a:rPr>
              <a:t>Detection method exists · Mitigation possible · Tool integration</a:t>
            </a:r>
          </a:p>
        </p:txBody>
      </p:sp>
      <p:sp>
        <p:nvSpPr>
          <p:cNvPr id="40" name="TextBox 17">
            <a:extLst>
              <a:ext uri="{FF2B5EF4-FFF2-40B4-BE49-F238E27FC236}">
                <a16:creationId xmlns:a16="http://schemas.microsoft.com/office/drawing/2014/main" id="{E9AAB35B-DC3C-89BC-994F-8CCE0F96F6BF}"/>
              </a:ext>
            </a:extLst>
          </p:cNvPr>
          <p:cNvSpPr txBox="1"/>
          <p:nvPr/>
        </p:nvSpPr>
        <p:spPr>
          <a:xfrm>
            <a:off x="6706084" y="5759919"/>
            <a:ext cx="4998429" cy="445250"/>
          </a:xfrm>
          <a:prstGeom prst="rect">
            <a:avLst/>
          </a:prstGeom>
        </p:spPr>
        <p:txBody>
          <a:bodyPr wrap="square" lIns="0" tIns="0" rIns="0" bIns="0" rtlCol="0" anchor="t">
            <a:spAutoFit/>
          </a:bodyPr>
          <a:lstStyle/>
          <a:p>
            <a:pPr algn="ctr">
              <a:lnSpc>
                <a:spcPts val="1680"/>
              </a:lnSpc>
            </a:pPr>
            <a:r>
              <a:rPr lang="en-US" sz="2000" i="1" spc="-70" dirty="0">
                <a:solidFill>
                  <a:srgbClr val="FFFFFF"/>
                </a:solidFill>
                <a:latin typeface="Work Sans" pitchFamily="2" charset="0"/>
                <a:ea typeface="Telegraf"/>
                <a:cs typeface="Telegraf"/>
                <a:sym typeface="Telegraf"/>
              </a:rPr>
              <a:t>Can we detect, block, or investigate this? Is there a detection method?</a:t>
            </a:r>
          </a:p>
        </p:txBody>
      </p:sp>
      <p:grpSp>
        <p:nvGrpSpPr>
          <p:cNvPr id="41" name="Group 7">
            <a:extLst>
              <a:ext uri="{FF2B5EF4-FFF2-40B4-BE49-F238E27FC236}">
                <a16:creationId xmlns:a16="http://schemas.microsoft.com/office/drawing/2014/main" id="{7A722BEE-3441-9B60-831D-952679F1B3E2}"/>
              </a:ext>
            </a:extLst>
          </p:cNvPr>
          <p:cNvGrpSpPr/>
          <p:nvPr/>
        </p:nvGrpSpPr>
        <p:grpSpPr>
          <a:xfrm>
            <a:off x="11570846" y="6358185"/>
            <a:ext cx="5764897" cy="3365525"/>
            <a:chOff x="0" y="0"/>
            <a:chExt cx="5516210" cy="3527477"/>
          </a:xfrm>
          <a:effectLst>
            <a:glow rad="304800">
              <a:srgbClr val="8E52F5">
                <a:alpha val="25000"/>
              </a:srgbClr>
            </a:glow>
          </a:effectLst>
        </p:grpSpPr>
        <p:sp>
          <p:nvSpPr>
            <p:cNvPr id="42" name="Freeform 8">
              <a:extLst>
                <a:ext uri="{FF2B5EF4-FFF2-40B4-BE49-F238E27FC236}">
                  <a16:creationId xmlns:a16="http://schemas.microsoft.com/office/drawing/2014/main" id="{A3343CC1-BCBE-785C-D147-0AD2A95B7241}"/>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cene3d>
              <a:camera prst="orthographicFront"/>
              <a:lightRig rig="threePt" dir="t"/>
            </a:scene3d>
            <a:sp3d/>
          </p:spPr>
          <p:txBody>
            <a:bodyPr/>
            <a:lstStyle/>
            <a:p>
              <a:endParaRPr lang="en-US" dirty="0"/>
            </a:p>
          </p:txBody>
        </p:sp>
        <p:sp>
          <p:nvSpPr>
            <p:cNvPr id="43" name="TextBox 9">
              <a:extLst>
                <a:ext uri="{FF2B5EF4-FFF2-40B4-BE49-F238E27FC236}">
                  <a16:creationId xmlns:a16="http://schemas.microsoft.com/office/drawing/2014/main" id="{8CF255DB-44FE-D5F6-E785-62C86CBDF798}"/>
                </a:ext>
              </a:extLst>
            </p:cNvPr>
            <p:cNvSpPr txBox="1"/>
            <p:nvPr/>
          </p:nvSpPr>
          <p:spPr>
            <a:xfrm>
              <a:off x="63500" y="6350"/>
              <a:ext cx="5389210" cy="3457627"/>
            </a:xfrm>
            <a:prstGeom prst="rect">
              <a:avLst/>
            </a:prstGeom>
            <a:ln>
              <a:solidFill>
                <a:srgbClr val="5E3587"/>
              </a:solidFill>
            </a:ln>
            <a:scene3d>
              <a:camera prst="orthographicFront"/>
              <a:lightRig rig="threePt" dir="t"/>
            </a:scene3d>
            <a:sp3d/>
          </p:spPr>
          <p:txBody>
            <a:bodyPr lIns="50800" tIns="50800" rIns="50800" bIns="50800" rtlCol="0" anchor="ctr"/>
            <a:lstStyle/>
            <a:p>
              <a:pPr algn="ctr">
                <a:lnSpc>
                  <a:spcPts val="1960"/>
                </a:lnSpc>
              </a:pPr>
              <a:endParaRPr/>
            </a:p>
          </p:txBody>
        </p:sp>
      </p:grpSp>
      <p:sp>
        <p:nvSpPr>
          <p:cNvPr id="44" name="Text 11">
            <a:extLst>
              <a:ext uri="{FF2B5EF4-FFF2-40B4-BE49-F238E27FC236}">
                <a16:creationId xmlns:a16="http://schemas.microsoft.com/office/drawing/2014/main" id="{989ADCBB-430A-F96C-4595-64D6B0407BD9}"/>
              </a:ext>
            </a:extLst>
          </p:cNvPr>
          <p:cNvSpPr/>
          <p:nvPr/>
        </p:nvSpPr>
        <p:spPr>
          <a:xfrm>
            <a:off x="12138447" y="6593808"/>
            <a:ext cx="7400259" cy="908795"/>
          </a:xfrm>
          <a:prstGeom prst="rect">
            <a:avLst/>
          </a:prstGeom>
          <a:noFill/>
          <a:ln/>
        </p:spPr>
        <p:txBody>
          <a:bodyPr wrap="square" rtlCol="0" anchor="ctr"/>
          <a:lstStyle/>
          <a:p>
            <a:r>
              <a:rPr lang="en-US" sz="4800" b="1"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Telegraf" panose="020B0604020202020204" charset="0"/>
                <a:ea typeface="Calibri" pitchFamily="34" charset="-122"/>
                <a:cs typeface="Calibri" pitchFamily="34" charset="-120"/>
              </a:rPr>
              <a:t>CRITICALITY</a:t>
            </a:r>
          </a:p>
        </p:txBody>
      </p:sp>
      <p:sp>
        <p:nvSpPr>
          <p:cNvPr id="45" name="TextBox 17">
            <a:extLst>
              <a:ext uri="{FF2B5EF4-FFF2-40B4-BE49-F238E27FC236}">
                <a16:creationId xmlns:a16="http://schemas.microsoft.com/office/drawing/2014/main" id="{8745A951-6129-6AB3-728E-C8993C075766}"/>
              </a:ext>
            </a:extLst>
          </p:cNvPr>
          <p:cNvSpPr txBox="1"/>
          <p:nvPr/>
        </p:nvSpPr>
        <p:spPr>
          <a:xfrm>
            <a:off x="12324222" y="8726927"/>
            <a:ext cx="4180001" cy="458011"/>
          </a:xfrm>
          <a:prstGeom prst="rect">
            <a:avLst/>
          </a:prstGeom>
        </p:spPr>
        <p:txBody>
          <a:bodyPr wrap="square" lIns="0" tIns="0" rIns="0" bIns="0" rtlCol="0" anchor="t">
            <a:spAutoFit/>
          </a:bodyPr>
          <a:lstStyle/>
          <a:p>
            <a:pPr algn="ctr">
              <a:lnSpc>
                <a:spcPts val="1680"/>
              </a:lnSpc>
            </a:pPr>
            <a:r>
              <a:rPr lang="en-US" sz="2000" i="1" spc="-70" dirty="0">
                <a:solidFill>
                  <a:srgbClr val="FFFFFF"/>
                </a:solidFill>
                <a:latin typeface="Work Sans" pitchFamily="2" charset="0"/>
                <a:ea typeface="Telegraf"/>
                <a:cs typeface="Telegraf"/>
                <a:sym typeface="Telegraf"/>
              </a:rPr>
              <a:t>Risk = Likelihood × Impact × Exposure</a:t>
            </a:r>
          </a:p>
        </p:txBody>
      </p:sp>
      <p:sp>
        <p:nvSpPr>
          <p:cNvPr id="46" name="TextBox 17">
            <a:extLst>
              <a:ext uri="{FF2B5EF4-FFF2-40B4-BE49-F238E27FC236}">
                <a16:creationId xmlns:a16="http://schemas.microsoft.com/office/drawing/2014/main" id="{6C8F6694-3CE2-F353-AB76-EBC3E7B1EF80}"/>
              </a:ext>
            </a:extLst>
          </p:cNvPr>
          <p:cNvSpPr txBox="1"/>
          <p:nvPr/>
        </p:nvSpPr>
        <p:spPr>
          <a:xfrm>
            <a:off x="11915009" y="7772107"/>
            <a:ext cx="4998429" cy="227242"/>
          </a:xfrm>
          <a:prstGeom prst="rect">
            <a:avLst/>
          </a:prstGeom>
        </p:spPr>
        <p:txBody>
          <a:bodyPr wrap="square" lIns="0" tIns="0" rIns="0" bIns="0" rtlCol="0" anchor="t">
            <a:spAutoFit/>
          </a:bodyPr>
          <a:lstStyle/>
          <a:p>
            <a:pPr algn="ctr">
              <a:lnSpc>
                <a:spcPts val="1680"/>
              </a:lnSpc>
            </a:pPr>
            <a:r>
              <a:rPr lang="en-US" sz="2000" i="1" spc="-70" dirty="0">
                <a:solidFill>
                  <a:srgbClr val="FFFFFF"/>
                </a:solidFill>
                <a:latin typeface="Work Sans" pitchFamily="2" charset="0"/>
                <a:ea typeface="Telegraf"/>
                <a:cs typeface="Telegraf"/>
                <a:sym typeface="Telegraf"/>
              </a:rPr>
              <a:t>If this threat materializes, how bad is it?</a:t>
            </a:r>
          </a:p>
        </p:txBody>
      </p:sp>
      <p:grpSp>
        <p:nvGrpSpPr>
          <p:cNvPr id="10" name="Group 4">
            <a:extLst>
              <a:ext uri="{FF2B5EF4-FFF2-40B4-BE49-F238E27FC236}">
                <a16:creationId xmlns:a16="http://schemas.microsoft.com/office/drawing/2014/main" id="{302C276E-FFA7-26DB-F85C-6626860644B3}"/>
              </a:ext>
            </a:extLst>
          </p:cNvPr>
          <p:cNvGrpSpPr/>
          <p:nvPr/>
        </p:nvGrpSpPr>
        <p:grpSpPr>
          <a:xfrm>
            <a:off x="8559761" y="912664"/>
            <a:ext cx="1324324" cy="273987"/>
            <a:chOff x="0" y="-57150"/>
            <a:chExt cx="348793" cy="72162"/>
          </a:xfrm>
        </p:grpSpPr>
        <p:sp>
          <p:nvSpPr>
            <p:cNvPr id="11" name="Freeform 5">
              <a:extLst>
                <a:ext uri="{FF2B5EF4-FFF2-40B4-BE49-F238E27FC236}">
                  <a16:creationId xmlns:a16="http://schemas.microsoft.com/office/drawing/2014/main" id="{3561BBDD-8B8C-EDAB-4566-1B68A06F1323}"/>
                </a:ext>
              </a:extLst>
            </p:cNvPr>
            <p:cNvSpPr/>
            <p:nvPr/>
          </p:nvSpPr>
          <p:spPr>
            <a:xfrm>
              <a:off x="283724"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TextBox 6">
              <a:extLst>
                <a:ext uri="{FF2B5EF4-FFF2-40B4-BE49-F238E27FC236}">
                  <a16:creationId xmlns:a16="http://schemas.microsoft.com/office/drawing/2014/main" id="{18F82346-F0CB-2456-7F98-09D12055E73F}"/>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3" name="TextBox 13">
            <a:extLst>
              <a:ext uri="{FF2B5EF4-FFF2-40B4-BE49-F238E27FC236}">
                <a16:creationId xmlns:a16="http://schemas.microsoft.com/office/drawing/2014/main" id="{BBB37228-188B-7938-DE73-F9F72312B6D3}"/>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24" name="TextBox 14">
            <a:extLst>
              <a:ext uri="{FF2B5EF4-FFF2-40B4-BE49-F238E27FC236}">
                <a16:creationId xmlns:a16="http://schemas.microsoft.com/office/drawing/2014/main" id="{D539ECBB-1444-5EAA-7687-F281404CB9D7}"/>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26" name="TextBox 14">
            <a:extLst>
              <a:ext uri="{FF2B5EF4-FFF2-40B4-BE49-F238E27FC236}">
                <a16:creationId xmlns:a16="http://schemas.microsoft.com/office/drawing/2014/main" id="{0B33ACAA-2BE8-9C7B-786C-BD6E6EEA04A7}"/>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27" name="TextBox 14">
            <a:extLst>
              <a:ext uri="{FF2B5EF4-FFF2-40B4-BE49-F238E27FC236}">
                <a16:creationId xmlns:a16="http://schemas.microsoft.com/office/drawing/2014/main" id="{B71FF8F1-3C5B-5D3C-B563-26B3B3147FD3}"/>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Solution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1000"/>
                                        <p:tgtEl>
                                          <p:spTgt spid="33"/>
                                        </p:tgtEl>
                                      </p:cBhvr>
                                    </p:animEffect>
                                    <p:anim calcmode="lin" valueType="num">
                                      <p:cBhvr>
                                        <p:cTn id="23" dur="1000" fill="hold"/>
                                        <p:tgtEl>
                                          <p:spTgt spid="33"/>
                                        </p:tgtEl>
                                        <p:attrNameLst>
                                          <p:attrName>ppt_x</p:attrName>
                                        </p:attrNameLst>
                                      </p:cBhvr>
                                      <p:tavLst>
                                        <p:tav tm="0">
                                          <p:val>
                                            <p:strVal val="#ppt_x"/>
                                          </p:val>
                                        </p:tav>
                                        <p:tav tm="100000">
                                          <p:val>
                                            <p:strVal val="#ppt_x"/>
                                          </p:val>
                                        </p:tav>
                                      </p:tavLst>
                                    </p:anim>
                                    <p:anim calcmode="lin" valueType="num">
                                      <p:cBhvr>
                                        <p:cTn id="24" dur="1000" fill="hold"/>
                                        <p:tgtEl>
                                          <p:spTgt spid="3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1000"/>
                                        <p:tgtEl>
                                          <p:spTgt spid="40"/>
                                        </p:tgtEl>
                                      </p:cBhvr>
                                    </p:animEffect>
                                    <p:anim calcmode="lin" valueType="num">
                                      <p:cBhvr>
                                        <p:cTn id="33" dur="1000" fill="hold"/>
                                        <p:tgtEl>
                                          <p:spTgt spid="40"/>
                                        </p:tgtEl>
                                        <p:attrNameLst>
                                          <p:attrName>ppt_x</p:attrName>
                                        </p:attrNameLst>
                                      </p:cBhvr>
                                      <p:tavLst>
                                        <p:tav tm="0">
                                          <p:val>
                                            <p:strVal val="#ppt_x"/>
                                          </p:val>
                                        </p:tav>
                                        <p:tav tm="100000">
                                          <p:val>
                                            <p:strVal val="#ppt_x"/>
                                          </p:val>
                                        </p:tav>
                                      </p:tavLst>
                                    </p:anim>
                                    <p:anim calcmode="lin" valueType="num">
                                      <p:cBhvr>
                                        <p:cTn id="34" dur="1000" fill="hold"/>
                                        <p:tgtEl>
                                          <p:spTgt spid="4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1000"/>
                                        <p:tgtEl>
                                          <p:spTgt spid="39"/>
                                        </p:tgtEl>
                                      </p:cBhvr>
                                    </p:animEffect>
                                    <p:anim calcmode="lin" valueType="num">
                                      <p:cBhvr>
                                        <p:cTn id="38" dur="1000" fill="hold"/>
                                        <p:tgtEl>
                                          <p:spTgt spid="39"/>
                                        </p:tgtEl>
                                        <p:attrNameLst>
                                          <p:attrName>ppt_x</p:attrName>
                                        </p:attrNameLst>
                                      </p:cBhvr>
                                      <p:tavLst>
                                        <p:tav tm="0">
                                          <p:val>
                                            <p:strVal val="#ppt_x"/>
                                          </p:val>
                                        </p:tav>
                                        <p:tav tm="100000">
                                          <p:val>
                                            <p:strVal val="#ppt_x"/>
                                          </p:val>
                                        </p:tav>
                                      </p:tavLst>
                                    </p:anim>
                                    <p:anim calcmode="lin" valueType="num">
                                      <p:cBhvr>
                                        <p:cTn id="39" dur="1000" fill="hold"/>
                                        <p:tgtEl>
                                          <p:spTgt spid="3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1000"/>
                                        <p:tgtEl>
                                          <p:spTgt spid="35"/>
                                        </p:tgtEl>
                                      </p:cBhvr>
                                    </p:animEffect>
                                    <p:anim calcmode="lin" valueType="num">
                                      <p:cBhvr>
                                        <p:cTn id="43" dur="1000" fill="hold"/>
                                        <p:tgtEl>
                                          <p:spTgt spid="35"/>
                                        </p:tgtEl>
                                        <p:attrNameLst>
                                          <p:attrName>ppt_x</p:attrName>
                                        </p:attrNameLst>
                                      </p:cBhvr>
                                      <p:tavLst>
                                        <p:tav tm="0">
                                          <p:val>
                                            <p:strVal val="#ppt_x"/>
                                          </p:val>
                                        </p:tav>
                                        <p:tav tm="100000">
                                          <p:val>
                                            <p:strVal val="#ppt_x"/>
                                          </p:val>
                                        </p:tav>
                                      </p:tavLst>
                                    </p:anim>
                                    <p:anim calcmode="lin" valueType="num">
                                      <p:cBhvr>
                                        <p:cTn id="44" dur="1000" fill="hold"/>
                                        <p:tgtEl>
                                          <p:spTgt spid="3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1000"/>
                                        <p:tgtEl>
                                          <p:spTgt spid="41"/>
                                        </p:tgtEl>
                                      </p:cBhvr>
                                    </p:animEffect>
                                    <p:anim calcmode="lin" valueType="num">
                                      <p:cBhvr>
                                        <p:cTn id="48" dur="1000" fill="hold"/>
                                        <p:tgtEl>
                                          <p:spTgt spid="41"/>
                                        </p:tgtEl>
                                        <p:attrNameLst>
                                          <p:attrName>ppt_x</p:attrName>
                                        </p:attrNameLst>
                                      </p:cBhvr>
                                      <p:tavLst>
                                        <p:tav tm="0">
                                          <p:val>
                                            <p:strVal val="#ppt_x"/>
                                          </p:val>
                                        </p:tav>
                                        <p:tav tm="100000">
                                          <p:val>
                                            <p:strVal val="#ppt_x"/>
                                          </p:val>
                                        </p:tav>
                                      </p:tavLst>
                                    </p:anim>
                                    <p:anim calcmode="lin" valueType="num">
                                      <p:cBhvr>
                                        <p:cTn id="49" dur="1000" fill="hold"/>
                                        <p:tgtEl>
                                          <p:spTgt spid="4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1000"/>
                                        <p:tgtEl>
                                          <p:spTgt spid="44"/>
                                        </p:tgtEl>
                                      </p:cBhvr>
                                    </p:animEffect>
                                    <p:anim calcmode="lin" valueType="num">
                                      <p:cBhvr>
                                        <p:cTn id="53" dur="1000" fill="hold"/>
                                        <p:tgtEl>
                                          <p:spTgt spid="44"/>
                                        </p:tgtEl>
                                        <p:attrNameLst>
                                          <p:attrName>ppt_x</p:attrName>
                                        </p:attrNameLst>
                                      </p:cBhvr>
                                      <p:tavLst>
                                        <p:tav tm="0">
                                          <p:val>
                                            <p:strVal val="#ppt_x"/>
                                          </p:val>
                                        </p:tav>
                                        <p:tav tm="100000">
                                          <p:val>
                                            <p:strVal val="#ppt_x"/>
                                          </p:val>
                                        </p:tav>
                                      </p:tavLst>
                                    </p:anim>
                                    <p:anim calcmode="lin" valueType="num">
                                      <p:cBhvr>
                                        <p:cTn id="54" dur="1000" fill="hold"/>
                                        <p:tgtEl>
                                          <p:spTgt spid="4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1000"/>
                                        <p:tgtEl>
                                          <p:spTgt spid="46"/>
                                        </p:tgtEl>
                                      </p:cBhvr>
                                    </p:animEffect>
                                    <p:anim calcmode="lin" valueType="num">
                                      <p:cBhvr>
                                        <p:cTn id="58" dur="1000" fill="hold"/>
                                        <p:tgtEl>
                                          <p:spTgt spid="46"/>
                                        </p:tgtEl>
                                        <p:attrNameLst>
                                          <p:attrName>ppt_x</p:attrName>
                                        </p:attrNameLst>
                                      </p:cBhvr>
                                      <p:tavLst>
                                        <p:tav tm="0">
                                          <p:val>
                                            <p:strVal val="#ppt_x"/>
                                          </p:val>
                                        </p:tav>
                                        <p:tav tm="100000">
                                          <p:val>
                                            <p:strVal val="#ppt_x"/>
                                          </p:val>
                                        </p:tav>
                                      </p:tavLst>
                                    </p:anim>
                                    <p:anim calcmode="lin" valueType="num">
                                      <p:cBhvr>
                                        <p:cTn id="59" dur="1000" fill="hold"/>
                                        <p:tgtEl>
                                          <p:spTgt spid="46"/>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1000"/>
                                        <p:tgtEl>
                                          <p:spTgt spid="45"/>
                                        </p:tgtEl>
                                      </p:cBhvr>
                                    </p:animEffect>
                                    <p:anim calcmode="lin" valueType="num">
                                      <p:cBhvr>
                                        <p:cTn id="63" dur="1000" fill="hold"/>
                                        <p:tgtEl>
                                          <p:spTgt spid="45"/>
                                        </p:tgtEl>
                                        <p:attrNameLst>
                                          <p:attrName>ppt_x</p:attrName>
                                        </p:attrNameLst>
                                      </p:cBhvr>
                                      <p:tavLst>
                                        <p:tav tm="0">
                                          <p:val>
                                            <p:strVal val="#ppt_x"/>
                                          </p:val>
                                        </p:tav>
                                        <p:tav tm="100000">
                                          <p:val>
                                            <p:strVal val="#ppt_x"/>
                                          </p:val>
                                        </p:tav>
                                      </p:tavLst>
                                    </p:anim>
                                    <p:anim calcmode="lin" valueType="num">
                                      <p:cBhvr>
                                        <p:cTn id="64"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8" grpId="0" animBg="1"/>
      <p:bldP spid="39" grpId="0"/>
      <p:bldP spid="40" grpId="0"/>
      <p:bldP spid="44" grpId="0" animBg="1"/>
      <p:bldP spid="45"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grpSp>
        <p:nvGrpSpPr>
          <p:cNvPr id="68" name="Group 7">
            <a:extLst>
              <a:ext uri="{FF2B5EF4-FFF2-40B4-BE49-F238E27FC236}">
                <a16:creationId xmlns:a16="http://schemas.microsoft.com/office/drawing/2014/main" id="{F180B772-694A-A0CE-A1D9-374F4B70E1E9}"/>
              </a:ext>
            </a:extLst>
          </p:cNvPr>
          <p:cNvGrpSpPr/>
          <p:nvPr/>
        </p:nvGrpSpPr>
        <p:grpSpPr>
          <a:xfrm>
            <a:off x="5178766" y="8615965"/>
            <a:ext cx="7954474" cy="1082763"/>
            <a:chOff x="0" y="0"/>
            <a:chExt cx="5516210" cy="3527477"/>
          </a:xfrm>
        </p:grpSpPr>
        <p:sp>
          <p:nvSpPr>
            <p:cNvPr id="69" name="Freeform 8">
              <a:extLst>
                <a:ext uri="{FF2B5EF4-FFF2-40B4-BE49-F238E27FC236}">
                  <a16:creationId xmlns:a16="http://schemas.microsoft.com/office/drawing/2014/main" id="{EB391567-E86C-4DD0-73B6-E587742835B3}"/>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70" name="TextBox 9">
              <a:extLst>
                <a:ext uri="{FF2B5EF4-FFF2-40B4-BE49-F238E27FC236}">
                  <a16:creationId xmlns:a16="http://schemas.microsoft.com/office/drawing/2014/main" id="{C8BC1E0C-E11A-970E-F05E-EF5C383BD349}"/>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grpSp>
        <p:nvGrpSpPr>
          <p:cNvPr id="9" name="Group 7">
            <a:extLst>
              <a:ext uri="{FF2B5EF4-FFF2-40B4-BE49-F238E27FC236}">
                <a16:creationId xmlns:a16="http://schemas.microsoft.com/office/drawing/2014/main" id="{223874BC-2204-6334-C877-0F3F49F4B213}"/>
              </a:ext>
            </a:extLst>
          </p:cNvPr>
          <p:cNvGrpSpPr/>
          <p:nvPr/>
        </p:nvGrpSpPr>
        <p:grpSpPr>
          <a:xfrm>
            <a:off x="310821" y="3797287"/>
            <a:ext cx="3940614" cy="4046540"/>
            <a:chOff x="0" y="0"/>
            <a:chExt cx="5516210" cy="3527477"/>
          </a:xfrm>
          <a:effectLst>
            <a:glow rad="304800">
              <a:srgbClr val="8E52F5">
                <a:alpha val="35000"/>
              </a:srgbClr>
            </a:glow>
          </a:effectLst>
          <a:scene3d>
            <a:camera prst="obliqueTopRight"/>
            <a:lightRig rig="threePt" dir="t"/>
          </a:scene3d>
        </p:grpSpPr>
        <p:sp>
          <p:nvSpPr>
            <p:cNvPr id="10" name="Freeform 8">
              <a:extLst>
                <a:ext uri="{FF2B5EF4-FFF2-40B4-BE49-F238E27FC236}">
                  <a16:creationId xmlns:a16="http://schemas.microsoft.com/office/drawing/2014/main" id="{65188DA6-BE3A-803D-F792-D2260D29DCF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endParaRPr lang="en-US" dirty="0"/>
            </a:p>
          </p:txBody>
        </p:sp>
        <p:sp>
          <p:nvSpPr>
            <p:cNvPr id="11" name="TextBox 9">
              <a:extLst>
                <a:ext uri="{FF2B5EF4-FFF2-40B4-BE49-F238E27FC236}">
                  <a16:creationId xmlns:a16="http://schemas.microsoft.com/office/drawing/2014/main" id="{DF256F90-F8F5-E181-FE97-F3648FA2355B}"/>
                </a:ext>
              </a:extLst>
            </p:cNvPr>
            <p:cNvSpPr txBox="1"/>
            <p:nvPr/>
          </p:nvSpPr>
          <p:spPr>
            <a:xfrm>
              <a:off x="63500" y="6350"/>
              <a:ext cx="5389210" cy="3457627"/>
            </a:xfrm>
            <a:prstGeom prst="rect">
              <a:avLst/>
            </a:prstGeom>
            <a:sp3d/>
          </p:spPr>
          <p:txBody>
            <a:bodyPr lIns="50800" tIns="50800" rIns="50800" bIns="50800" rtlCol="0" anchor="ctr"/>
            <a:lstStyle/>
            <a:p>
              <a:pPr algn="ctr">
                <a:lnSpc>
                  <a:spcPts val="1960"/>
                </a:lnSpc>
              </a:pPr>
              <a:endParaRPr/>
            </a:p>
          </p:txBody>
        </p:sp>
      </p:grpSp>
      <p:sp>
        <p:nvSpPr>
          <p:cNvPr id="3" name="Freeform 3"/>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6" name="TextBox 16"/>
          <p:cNvSpPr txBox="1"/>
          <p:nvPr/>
        </p:nvSpPr>
        <p:spPr>
          <a:xfrm>
            <a:off x="2866581" y="2228346"/>
            <a:ext cx="15122201" cy="525785"/>
          </a:xfrm>
          <a:prstGeom prst="rect">
            <a:avLst/>
          </a:prstGeom>
        </p:spPr>
        <p:txBody>
          <a:bodyPr wrap="square" lIns="0" tIns="0" rIns="0" bIns="0" rtlCol="0" anchor="t">
            <a:spAutoFit/>
          </a:bodyPr>
          <a:lstStyle/>
          <a:p>
            <a:pPr algn="l">
              <a:lnSpc>
                <a:spcPts val="4095"/>
              </a:lnSpc>
            </a:pPr>
            <a:r>
              <a:rPr lang="en-US" sz="4934"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What You Gain. What You Measure.</a:t>
            </a:r>
          </a:p>
        </p:txBody>
      </p:sp>
      <p:sp>
        <p:nvSpPr>
          <p:cNvPr id="17" name="TextBox 17"/>
          <p:cNvSpPr txBox="1"/>
          <p:nvPr/>
        </p:nvSpPr>
        <p:spPr>
          <a:xfrm>
            <a:off x="6239214" y="8963812"/>
            <a:ext cx="6672541" cy="466153"/>
          </a:xfrm>
          <a:prstGeom prst="rect">
            <a:avLst/>
          </a:prstGeom>
        </p:spPr>
        <p:txBody>
          <a:bodyPr wrap="square" lIns="0" tIns="0" rIns="0" bIns="0" rtlCol="0" anchor="t">
            <a:spAutoFit/>
          </a:bodyPr>
          <a:lstStyle/>
          <a:p>
            <a:pPr algn="l">
              <a:lnSpc>
                <a:spcPts val="1680"/>
              </a:lnSpc>
            </a:pPr>
            <a:r>
              <a:rPr lang="en-US" sz="2500" spc="-70" dirty="0">
                <a:solidFill>
                  <a:srgbClr val="FFFFFF"/>
                </a:solidFill>
                <a:latin typeface="Telegraf"/>
                <a:ea typeface="Telegraf"/>
                <a:cs typeface="Telegraf"/>
                <a:sym typeface="Telegraf"/>
              </a:rPr>
              <a:t>Intelligence value is not abstract. It shows up in operations, in metrics, and on the balance sheet</a:t>
            </a:r>
          </a:p>
        </p:txBody>
      </p:sp>
      <p:sp>
        <p:nvSpPr>
          <p:cNvPr id="18" name="TextBox 18"/>
          <p:cNvSpPr txBox="1"/>
          <p:nvPr/>
        </p:nvSpPr>
        <p:spPr>
          <a:xfrm>
            <a:off x="-558525" y="5800157"/>
            <a:ext cx="5632178" cy="400815"/>
          </a:xfrm>
          <a:prstGeom prst="rect">
            <a:avLst/>
          </a:prstGeom>
        </p:spPr>
        <p:txBody>
          <a:bodyPr wrap="square" lIns="0" tIns="0" rIns="0" bIns="0" rtlCol="0" anchor="t">
            <a:spAutoFit/>
          </a:bodyPr>
          <a:lstStyle/>
          <a:p>
            <a:pPr algn="ctr">
              <a:lnSpc>
                <a:spcPts val="2879"/>
              </a:lnSpc>
            </a:pPr>
            <a:r>
              <a:rPr lang="en-US" sz="3600" spc="-120" dirty="0">
                <a:solidFill>
                  <a:srgbClr val="FFFFFF"/>
                </a:solidFill>
                <a:effectLst>
                  <a:glow rad="139700">
                    <a:schemeClr val="accent4">
                      <a:satMod val="175000"/>
                      <a:alpha val="40000"/>
                    </a:schemeClr>
                  </a:glow>
                </a:effectLst>
                <a:latin typeface="Telegraf"/>
                <a:ea typeface="Telegraf"/>
                <a:cs typeface="Telegraf"/>
                <a:sym typeface="Telegraf"/>
              </a:rPr>
              <a:t>Faster Detection</a:t>
            </a:r>
          </a:p>
        </p:txBody>
      </p:sp>
      <p:pic>
        <p:nvPicPr>
          <p:cNvPr id="23" name="Image 0" descr="/home/claude/cygnus_logo.png">
            <a:extLst>
              <a:ext uri="{FF2B5EF4-FFF2-40B4-BE49-F238E27FC236}">
                <a16:creationId xmlns:a16="http://schemas.microsoft.com/office/drawing/2014/main" id="{DB174606-CBBB-4E36-D45A-F31AF14FDBC4}"/>
              </a:ext>
            </a:extLst>
          </p:cNvPr>
          <p:cNvPicPr>
            <a:picLocks noChangeAspect="1"/>
          </p:cNvPicPr>
          <p:nvPr/>
        </p:nvPicPr>
        <p:blipFill>
          <a:blip r:embed="rId3"/>
          <a:stretch>
            <a:fillRect/>
          </a:stretch>
        </p:blipFill>
        <p:spPr>
          <a:xfrm>
            <a:off x="651199" y="502921"/>
            <a:ext cx="1330002" cy="266000"/>
          </a:xfrm>
          <a:prstGeom prst="rect">
            <a:avLst/>
          </a:prstGeom>
        </p:spPr>
      </p:pic>
      <p:grpSp>
        <p:nvGrpSpPr>
          <p:cNvPr id="27" name="Group 4">
            <a:extLst>
              <a:ext uri="{FF2B5EF4-FFF2-40B4-BE49-F238E27FC236}">
                <a16:creationId xmlns:a16="http://schemas.microsoft.com/office/drawing/2014/main" id="{E7D73703-4CA3-4BF8-A52E-B63C99AEB1BE}"/>
              </a:ext>
            </a:extLst>
          </p:cNvPr>
          <p:cNvGrpSpPr/>
          <p:nvPr/>
        </p:nvGrpSpPr>
        <p:grpSpPr>
          <a:xfrm>
            <a:off x="9646720" y="912664"/>
            <a:ext cx="247059" cy="273987"/>
            <a:chOff x="0" y="-57150"/>
            <a:chExt cx="65069" cy="72162"/>
          </a:xfrm>
        </p:grpSpPr>
        <p:sp>
          <p:nvSpPr>
            <p:cNvPr id="28" name="Freeform 5">
              <a:extLst>
                <a:ext uri="{FF2B5EF4-FFF2-40B4-BE49-F238E27FC236}">
                  <a16:creationId xmlns:a16="http://schemas.microsoft.com/office/drawing/2014/main" id="{4CE3E804-B079-6004-67E4-DA1E138F86C5}"/>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TextBox 6">
              <a:extLst>
                <a:ext uri="{FF2B5EF4-FFF2-40B4-BE49-F238E27FC236}">
                  <a16:creationId xmlns:a16="http://schemas.microsoft.com/office/drawing/2014/main" id="{99F6B181-178E-4CC5-4A37-0F553A4BF94A}"/>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0" name="TextBox 13">
            <a:extLst>
              <a:ext uri="{FF2B5EF4-FFF2-40B4-BE49-F238E27FC236}">
                <a16:creationId xmlns:a16="http://schemas.microsoft.com/office/drawing/2014/main" id="{24249D5E-A3A1-8CBC-270F-6F8074892ED0}"/>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32" name="TextBox 14">
            <a:extLst>
              <a:ext uri="{FF2B5EF4-FFF2-40B4-BE49-F238E27FC236}">
                <a16:creationId xmlns:a16="http://schemas.microsoft.com/office/drawing/2014/main" id="{F61082E2-D1D7-1BC5-350A-84B8BB377866}"/>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34" name="TextBox 14">
            <a:extLst>
              <a:ext uri="{FF2B5EF4-FFF2-40B4-BE49-F238E27FC236}">
                <a16:creationId xmlns:a16="http://schemas.microsoft.com/office/drawing/2014/main" id="{CF57A898-11A9-28A8-74EB-BE54FB94CDF8}"/>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35" name="TextBox 14">
            <a:extLst>
              <a:ext uri="{FF2B5EF4-FFF2-40B4-BE49-F238E27FC236}">
                <a16:creationId xmlns:a16="http://schemas.microsoft.com/office/drawing/2014/main" id="{1DC6E9EB-D372-9A3A-2641-B68FE680684B}"/>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Solution</a:t>
            </a:r>
          </a:p>
        </p:txBody>
      </p:sp>
      <p:sp>
        <p:nvSpPr>
          <p:cNvPr id="36" name="TextBox 18">
            <a:extLst>
              <a:ext uri="{FF2B5EF4-FFF2-40B4-BE49-F238E27FC236}">
                <a16:creationId xmlns:a16="http://schemas.microsoft.com/office/drawing/2014/main" id="{22D0D00C-7BB9-1121-4E54-14EBE5AA4BBE}"/>
              </a:ext>
            </a:extLst>
          </p:cNvPr>
          <p:cNvSpPr txBox="1"/>
          <p:nvPr/>
        </p:nvSpPr>
        <p:spPr>
          <a:xfrm>
            <a:off x="952599" y="4911590"/>
            <a:ext cx="5632178" cy="603948"/>
          </a:xfrm>
          <a:prstGeom prst="rect">
            <a:avLst/>
          </a:prstGeom>
        </p:spPr>
        <p:txBody>
          <a:bodyPr wrap="square" lIns="0" tIns="0" rIns="0" bIns="0" rtlCol="0" anchor="t">
            <a:spAutoFit/>
          </a:bodyPr>
          <a:lstStyle/>
          <a:p>
            <a:pPr algn="l">
              <a:lnSpc>
                <a:spcPts val="2879"/>
              </a:lnSpc>
            </a:pPr>
            <a:r>
              <a:rPr lang="en-US" sz="9600" spc="-120" dirty="0">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effectLst>
                  <a:glow rad="228600">
                    <a:schemeClr val="accent4">
                      <a:satMod val="175000"/>
                      <a:alpha val="40000"/>
                    </a:schemeClr>
                  </a:glow>
                </a:effectLst>
                <a:latin typeface="Telegraf"/>
                <a:ea typeface="Telegraf"/>
                <a:cs typeface="Telegraf"/>
                <a:sym typeface="Telegraf"/>
              </a:rPr>
              <a:t>60%</a:t>
            </a:r>
          </a:p>
        </p:txBody>
      </p:sp>
      <p:sp>
        <p:nvSpPr>
          <p:cNvPr id="37" name="TextBox 18">
            <a:extLst>
              <a:ext uri="{FF2B5EF4-FFF2-40B4-BE49-F238E27FC236}">
                <a16:creationId xmlns:a16="http://schemas.microsoft.com/office/drawing/2014/main" id="{72E7DDDA-FF47-205D-549A-D117D04C06D6}"/>
              </a:ext>
            </a:extLst>
          </p:cNvPr>
          <p:cNvSpPr txBox="1"/>
          <p:nvPr/>
        </p:nvSpPr>
        <p:spPr>
          <a:xfrm>
            <a:off x="-453412" y="6548839"/>
            <a:ext cx="5632178" cy="732060"/>
          </a:xfrm>
          <a:prstGeom prst="rect">
            <a:avLst/>
          </a:prstGeom>
        </p:spPr>
        <p:txBody>
          <a:bodyPr wrap="square" lIns="0" tIns="0" rIns="0" bIns="0" rtlCol="0" anchor="t">
            <a:spAutoFit/>
          </a:bodyPr>
          <a:lstStyle/>
          <a:p>
            <a:pPr algn="ctr">
              <a:lnSpc>
                <a:spcPts val="2879"/>
              </a:lnSpc>
            </a:pPr>
            <a:r>
              <a:rPr lang="en-US" sz="2400" spc="-120" dirty="0">
                <a:solidFill>
                  <a:srgbClr val="FFFFFF"/>
                </a:solidFill>
                <a:latin typeface="Telegraf"/>
                <a:ea typeface="Telegraf"/>
                <a:cs typeface="Telegraf"/>
                <a:sym typeface="Telegraf"/>
              </a:rPr>
              <a:t>Average MTTD reduction.</a:t>
            </a:r>
          </a:p>
          <a:p>
            <a:pPr algn="ctr">
              <a:lnSpc>
                <a:spcPts val="2879"/>
              </a:lnSpc>
            </a:pPr>
            <a:r>
              <a:rPr lang="en-US" sz="2400" spc="-120" dirty="0">
                <a:solidFill>
                  <a:srgbClr val="FFFFFF"/>
                </a:solidFill>
                <a:latin typeface="Telegraf"/>
                <a:ea typeface="Telegraf"/>
                <a:cs typeface="Telegraf"/>
                <a:sym typeface="Telegraf"/>
              </a:rPr>
              <a:t>Every hour saved = real cost.</a:t>
            </a:r>
          </a:p>
        </p:txBody>
      </p:sp>
      <p:grpSp>
        <p:nvGrpSpPr>
          <p:cNvPr id="50" name="Group 7">
            <a:extLst>
              <a:ext uri="{FF2B5EF4-FFF2-40B4-BE49-F238E27FC236}">
                <a16:creationId xmlns:a16="http://schemas.microsoft.com/office/drawing/2014/main" id="{37819C16-B640-4E7A-D943-1888A95326DE}"/>
              </a:ext>
            </a:extLst>
          </p:cNvPr>
          <p:cNvGrpSpPr/>
          <p:nvPr/>
        </p:nvGrpSpPr>
        <p:grpSpPr>
          <a:xfrm>
            <a:off x="4944659" y="3797484"/>
            <a:ext cx="3940614" cy="4046540"/>
            <a:chOff x="0" y="0"/>
            <a:chExt cx="5516210" cy="3527477"/>
          </a:xfrm>
          <a:effectLst>
            <a:glow rad="304800">
              <a:srgbClr val="8E52F5">
                <a:alpha val="35000"/>
              </a:srgbClr>
            </a:glow>
          </a:effectLst>
          <a:scene3d>
            <a:camera prst="obliqueTopRight"/>
            <a:lightRig rig="threePt" dir="t"/>
          </a:scene3d>
        </p:grpSpPr>
        <p:sp>
          <p:nvSpPr>
            <p:cNvPr id="51" name="Freeform 8">
              <a:extLst>
                <a:ext uri="{FF2B5EF4-FFF2-40B4-BE49-F238E27FC236}">
                  <a16:creationId xmlns:a16="http://schemas.microsoft.com/office/drawing/2014/main" id="{111E88C9-902E-13B4-32FE-1E8EDDE8B56B}"/>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endParaRPr lang="en-US" dirty="0"/>
            </a:p>
          </p:txBody>
        </p:sp>
        <p:sp>
          <p:nvSpPr>
            <p:cNvPr id="52" name="TextBox 9">
              <a:extLst>
                <a:ext uri="{FF2B5EF4-FFF2-40B4-BE49-F238E27FC236}">
                  <a16:creationId xmlns:a16="http://schemas.microsoft.com/office/drawing/2014/main" id="{DED33ED8-E913-2177-7C8A-53667D0730E6}"/>
                </a:ext>
              </a:extLst>
            </p:cNvPr>
            <p:cNvSpPr txBox="1"/>
            <p:nvPr/>
          </p:nvSpPr>
          <p:spPr>
            <a:xfrm>
              <a:off x="63500" y="6350"/>
              <a:ext cx="5389210" cy="3457627"/>
            </a:xfrm>
            <a:prstGeom prst="rect">
              <a:avLst/>
            </a:prstGeom>
            <a:sp3d/>
          </p:spPr>
          <p:txBody>
            <a:bodyPr lIns="50800" tIns="50800" rIns="50800" bIns="50800" rtlCol="0" anchor="ctr"/>
            <a:lstStyle/>
            <a:p>
              <a:pPr algn="ctr">
                <a:lnSpc>
                  <a:spcPts val="1960"/>
                </a:lnSpc>
              </a:pPr>
              <a:endParaRPr/>
            </a:p>
          </p:txBody>
        </p:sp>
      </p:grpSp>
      <p:sp>
        <p:nvSpPr>
          <p:cNvPr id="53" name="TextBox 18">
            <a:extLst>
              <a:ext uri="{FF2B5EF4-FFF2-40B4-BE49-F238E27FC236}">
                <a16:creationId xmlns:a16="http://schemas.microsoft.com/office/drawing/2014/main" id="{16AC1AA6-EF7D-E983-9D08-9582E2339849}"/>
              </a:ext>
            </a:extLst>
          </p:cNvPr>
          <p:cNvSpPr txBox="1"/>
          <p:nvPr/>
        </p:nvSpPr>
        <p:spPr>
          <a:xfrm>
            <a:off x="5067032" y="5643587"/>
            <a:ext cx="3615805" cy="772712"/>
          </a:xfrm>
          <a:prstGeom prst="rect">
            <a:avLst/>
          </a:prstGeom>
        </p:spPr>
        <p:txBody>
          <a:bodyPr wrap="square" lIns="0" tIns="0" rIns="0" bIns="0" rtlCol="0" anchor="t">
            <a:spAutoFit/>
          </a:bodyPr>
          <a:lstStyle/>
          <a:p>
            <a:pPr algn="ctr">
              <a:lnSpc>
                <a:spcPts val="2879"/>
              </a:lnSpc>
            </a:pPr>
            <a:r>
              <a:rPr lang="en-US" sz="3600" spc="-120" dirty="0">
                <a:solidFill>
                  <a:srgbClr val="FFFFFF"/>
                </a:solidFill>
                <a:effectLst>
                  <a:glow rad="139700">
                    <a:schemeClr val="accent4">
                      <a:satMod val="175000"/>
                      <a:alpha val="40000"/>
                    </a:schemeClr>
                  </a:glow>
                </a:effectLst>
                <a:latin typeface="Telegraf"/>
                <a:ea typeface="Telegraf"/>
                <a:cs typeface="Telegraf"/>
                <a:sym typeface="Telegraf"/>
              </a:rPr>
              <a:t>Fewer False Positives</a:t>
            </a:r>
          </a:p>
        </p:txBody>
      </p:sp>
      <p:sp>
        <p:nvSpPr>
          <p:cNvPr id="54" name="TextBox 18">
            <a:extLst>
              <a:ext uri="{FF2B5EF4-FFF2-40B4-BE49-F238E27FC236}">
                <a16:creationId xmlns:a16="http://schemas.microsoft.com/office/drawing/2014/main" id="{D099D9B1-432F-2059-5A69-1C0B35E51E00}"/>
              </a:ext>
            </a:extLst>
          </p:cNvPr>
          <p:cNvSpPr txBox="1"/>
          <p:nvPr/>
        </p:nvSpPr>
        <p:spPr>
          <a:xfrm>
            <a:off x="5586437" y="4911787"/>
            <a:ext cx="5632178" cy="603948"/>
          </a:xfrm>
          <a:prstGeom prst="rect">
            <a:avLst/>
          </a:prstGeom>
        </p:spPr>
        <p:txBody>
          <a:bodyPr wrap="square" lIns="0" tIns="0" rIns="0" bIns="0" rtlCol="0" anchor="t">
            <a:spAutoFit/>
          </a:bodyPr>
          <a:lstStyle/>
          <a:p>
            <a:pPr algn="l">
              <a:lnSpc>
                <a:spcPts val="2879"/>
              </a:lnSpc>
            </a:pPr>
            <a:r>
              <a:rPr lang="en-US" sz="9600" spc="-120" dirty="0">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effectLst>
                  <a:glow rad="228600">
                    <a:schemeClr val="accent4">
                      <a:satMod val="175000"/>
                      <a:alpha val="40000"/>
                    </a:schemeClr>
                  </a:glow>
                </a:effectLst>
                <a:latin typeface="Telegraf"/>
                <a:ea typeface="Telegraf"/>
                <a:cs typeface="Telegraf"/>
                <a:sym typeface="Telegraf"/>
              </a:rPr>
              <a:t>40%</a:t>
            </a:r>
          </a:p>
        </p:txBody>
      </p:sp>
      <p:sp>
        <p:nvSpPr>
          <p:cNvPr id="55" name="TextBox 18">
            <a:extLst>
              <a:ext uri="{FF2B5EF4-FFF2-40B4-BE49-F238E27FC236}">
                <a16:creationId xmlns:a16="http://schemas.microsoft.com/office/drawing/2014/main" id="{1330CBBD-337C-C67E-4D2A-951694FE3957}"/>
              </a:ext>
            </a:extLst>
          </p:cNvPr>
          <p:cNvSpPr txBox="1"/>
          <p:nvPr/>
        </p:nvSpPr>
        <p:spPr>
          <a:xfrm>
            <a:off x="4125171" y="6560124"/>
            <a:ext cx="5632178" cy="732060"/>
          </a:xfrm>
          <a:prstGeom prst="rect">
            <a:avLst/>
          </a:prstGeom>
        </p:spPr>
        <p:txBody>
          <a:bodyPr wrap="square" lIns="0" tIns="0" rIns="0" bIns="0" rtlCol="0" anchor="t">
            <a:spAutoFit/>
          </a:bodyPr>
          <a:lstStyle/>
          <a:p>
            <a:pPr algn="ctr">
              <a:lnSpc>
                <a:spcPts val="2879"/>
              </a:lnSpc>
            </a:pPr>
            <a:r>
              <a:rPr lang="en-US" sz="2400" spc="-120" dirty="0">
                <a:solidFill>
                  <a:srgbClr val="FFFFFF"/>
                </a:solidFill>
                <a:latin typeface="Telegraf"/>
                <a:ea typeface="Telegraf"/>
                <a:cs typeface="Telegraf"/>
                <a:sym typeface="Telegraf"/>
              </a:rPr>
              <a:t>Context-aware rules vs</a:t>
            </a:r>
          </a:p>
          <a:p>
            <a:pPr algn="ctr">
              <a:lnSpc>
                <a:spcPts val="2879"/>
              </a:lnSpc>
            </a:pPr>
            <a:r>
              <a:rPr lang="en-US" sz="2400" spc="-120" dirty="0">
                <a:solidFill>
                  <a:srgbClr val="FFFFFF"/>
                </a:solidFill>
                <a:latin typeface="Telegraf"/>
                <a:ea typeface="Telegraf"/>
                <a:cs typeface="Telegraf"/>
                <a:sym typeface="Telegraf"/>
              </a:rPr>
              <a:t>indicator-only detection.</a:t>
            </a:r>
          </a:p>
        </p:txBody>
      </p:sp>
      <p:grpSp>
        <p:nvGrpSpPr>
          <p:cNvPr id="56" name="Group 7">
            <a:extLst>
              <a:ext uri="{FF2B5EF4-FFF2-40B4-BE49-F238E27FC236}">
                <a16:creationId xmlns:a16="http://schemas.microsoft.com/office/drawing/2014/main" id="{8E56CA03-A434-58B4-F2AB-713F71801CAD}"/>
              </a:ext>
            </a:extLst>
          </p:cNvPr>
          <p:cNvGrpSpPr/>
          <p:nvPr/>
        </p:nvGrpSpPr>
        <p:grpSpPr>
          <a:xfrm>
            <a:off x="9459693" y="3795827"/>
            <a:ext cx="3940614" cy="4046540"/>
            <a:chOff x="0" y="0"/>
            <a:chExt cx="5516210" cy="3527477"/>
          </a:xfrm>
          <a:effectLst>
            <a:glow rad="304800">
              <a:srgbClr val="8E52F5">
                <a:alpha val="35000"/>
              </a:srgbClr>
            </a:glow>
          </a:effectLst>
          <a:scene3d>
            <a:camera prst="obliqueTopRight"/>
            <a:lightRig rig="threePt" dir="t"/>
          </a:scene3d>
        </p:grpSpPr>
        <p:sp>
          <p:nvSpPr>
            <p:cNvPr id="57" name="Freeform 8">
              <a:extLst>
                <a:ext uri="{FF2B5EF4-FFF2-40B4-BE49-F238E27FC236}">
                  <a16:creationId xmlns:a16="http://schemas.microsoft.com/office/drawing/2014/main" id="{2EEABC0D-575E-DDC2-6179-271EB17CD9D9}"/>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endParaRPr lang="en-US" dirty="0"/>
            </a:p>
          </p:txBody>
        </p:sp>
        <p:sp>
          <p:nvSpPr>
            <p:cNvPr id="58" name="TextBox 9">
              <a:extLst>
                <a:ext uri="{FF2B5EF4-FFF2-40B4-BE49-F238E27FC236}">
                  <a16:creationId xmlns:a16="http://schemas.microsoft.com/office/drawing/2014/main" id="{24164C24-9B64-3E4D-D688-A1ED728EA2CD}"/>
                </a:ext>
              </a:extLst>
            </p:cNvPr>
            <p:cNvSpPr txBox="1"/>
            <p:nvPr/>
          </p:nvSpPr>
          <p:spPr>
            <a:xfrm>
              <a:off x="63500" y="6350"/>
              <a:ext cx="5389210" cy="3457627"/>
            </a:xfrm>
            <a:prstGeom prst="rect">
              <a:avLst/>
            </a:prstGeom>
            <a:sp3d/>
          </p:spPr>
          <p:txBody>
            <a:bodyPr lIns="50800" tIns="50800" rIns="50800" bIns="50800" rtlCol="0" anchor="ctr"/>
            <a:lstStyle/>
            <a:p>
              <a:pPr algn="ctr">
                <a:lnSpc>
                  <a:spcPts val="1960"/>
                </a:lnSpc>
              </a:pPr>
              <a:endParaRPr/>
            </a:p>
          </p:txBody>
        </p:sp>
      </p:grpSp>
      <p:sp>
        <p:nvSpPr>
          <p:cNvPr id="59" name="TextBox 18">
            <a:extLst>
              <a:ext uri="{FF2B5EF4-FFF2-40B4-BE49-F238E27FC236}">
                <a16:creationId xmlns:a16="http://schemas.microsoft.com/office/drawing/2014/main" id="{9FA3A8C8-7F09-140B-0CA7-4E010D9CA66F}"/>
              </a:ext>
            </a:extLst>
          </p:cNvPr>
          <p:cNvSpPr txBox="1"/>
          <p:nvPr/>
        </p:nvSpPr>
        <p:spPr>
          <a:xfrm>
            <a:off x="8590347" y="5798697"/>
            <a:ext cx="5632178" cy="400815"/>
          </a:xfrm>
          <a:prstGeom prst="rect">
            <a:avLst/>
          </a:prstGeom>
        </p:spPr>
        <p:txBody>
          <a:bodyPr wrap="square" lIns="0" tIns="0" rIns="0" bIns="0" rtlCol="0" anchor="t">
            <a:spAutoFit/>
          </a:bodyPr>
          <a:lstStyle/>
          <a:p>
            <a:pPr algn="ctr">
              <a:lnSpc>
                <a:spcPts val="2879"/>
              </a:lnSpc>
            </a:pPr>
            <a:r>
              <a:rPr lang="en-US" sz="3600" spc="-120" dirty="0">
                <a:solidFill>
                  <a:srgbClr val="FFFFFF"/>
                </a:solidFill>
                <a:effectLst>
                  <a:glow rad="139700">
                    <a:schemeClr val="accent4">
                      <a:satMod val="175000"/>
                      <a:alpha val="40000"/>
                    </a:schemeClr>
                  </a:glow>
                </a:effectLst>
                <a:latin typeface="Telegraf"/>
                <a:ea typeface="Telegraf"/>
                <a:cs typeface="Telegraf"/>
                <a:sym typeface="Telegraf"/>
              </a:rPr>
              <a:t>Hunt Conversion</a:t>
            </a:r>
          </a:p>
        </p:txBody>
      </p:sp>
      <p:sp>
        <p:nvSpPr>
          <p:cNvPr id="60" name="TextBox 18">
            <a:extLst>
              <a:ext uri="{FF2B5EF4-FFF2-40B4-BE49-F238E27FC236}">
                <a16:creationId xmlns:a16="http://schemas.microsoft.com/office/drawing/2014/main" id="{12A204EE-FD36-F0B6-F2DD-62E890B9DB54}"/>
              </a:ext>
            </a:extLst>
          </p:cNvPr>
          <p:cNvSpPr txBox="1"/>
          <p:nvPr/>
        </p:nvSpPr>
        <p:spPr>
          <a:xfrm>
            <a:off x="10728842" y="4903559"/>
            <a:ext cx="5632178" cy="603948"/>
          </a:xfrm>
          <a:prstGeom prst="rect">
            <a:avLst/>
          </a:prstGeom>
        </p:spPr>
        <p:txBody>
          <a:bodyPr wrap="square" lIns="0" tIns="0" rIns="0" bIns="0" rtlCol="0" anchor="t">
            <a:spAutoFit/>
          </a:bodyPr>
          <a:lstStyle/>
          <a:p>
            <a:pPr>
              <a:lnSpc>
                <a:spcPts val="2879"/>
              </a:lnSpc>
            </a:pPr>
            <a:r>
              <a:rPr lang="en-US" sz="9600" spc="-120" dirty="0">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effectLst>
                  <a:glow rad="228600">
                    <a:schemeClr val="accent4">
                      <a:satMod val="175000"/>
                      <a:alpha val="40000"/>
                    </a:schemeClr>
                  </a:glow>
                </a:effectLst>
                <a:latin typeface="Telegraf"/>
                <a:ea typeface="Telegraf"/>
                <a:cs typeface="Telegraf"/>
                <a:sym typeface="Telegraf"/>
              </a:rPr>
              <a:t>3x</a:t>
            </a:r>
          </a:p>
        </p:txBody>
      </p:sp>
      <p:sp>
        <p:nvSpPr>
          <p:cNvPr id="61" name="TextBox 18">
            <a:extLst>
              <a:ext uri="{FF2B5EF4-FFF2-40B4-BE49-F238E27FC236}">
                <a16:creationId xmlns:a16="http://schemas.microsoft.com/office/drawing/2014/main" id="{68BBBF88-A8B6-5203-EB88-4769D5634F8C}"/>
              </a:ext>
            </a:extLst>
          </p:cNvPr>
          <p:cNvSpPr txBox="1"/>
          <p:nvPr/>
        </p:nvSpPr>
        <p:spPr>
          <a:xfrm>
            <a:off x="8677250" y="6571409"/>
            <a:ext cx="5632178" cy="732060"/>
          </a:xfrm>
          <a:prstGeom prst="rect">
            <a:avLst/>
          </a:prstGeom>
        </p:spPr>
        <p:txBody>
          <a:bodyPr wrap="square" lIns="0" tIns="0" rIns="0" bIns="0" rtlCol="0" anchor="t">
            <a:spAutoFit/>
          </a:bodyPr>
          <a:lstStyle/>
          <a:p>
            <a:pPr algn="ctr">
              <a:lnSpc>
                <a:spcPts val="2879"/>
              </a:lnSpc>
            </a:pPr>
            <a:r>
              <a:rPr lang="en-US" sz="2400" spc="-120" dirty="0">
                <a:solidFill>
                  <a:srgbClr val="FFFFFF"/>
                </a:solidFill>
                <a:latin typeface="Telegraf"/>
                <a:ea typeface="Telegraf"/>
                <a:cs typeface="Telegraf"/>
                <a:sym typeface="Telegraf"/>
              </a:rPr>
              <a:t>Hunt findings that become</a:t>
            </a:r>
          </a:p>
          <a:p>
            <a:pPr algn="ctr">
              <a:lnSpc>
                <a:spcPts val="2879"/>
              </a:lnSpc>
            </a:pPr>
            <a:r>
              <a:rPr lang="en-US" sz="2400" spc="-120" dirty="0">
                <a:solidFill>
                  <a:srgbClr val="FFFFFF"/>
                </a:solidFill>
                <a:latin typeface="Telegraf"/>
                <a:ea typeface="Telegraf"/>
                <a:cs typeface="Telegraf"/>
                <a:sym typeface="Telegraf"/>
              </a:rPr>
              <a:t>permanent detection rules.</a:t>
            </a:r>
          </a:p>
        </p:txBody>
      </p:sp>
      <p:grpSp>
        <p:nvGrpSpPr>
          <p:cNvPr id="62" name="Group 7">
            <a:extLst>
              <a:ext uri="{FF2B5EF4-FFF2-40B4-BE49-F238E27FC236}">
                <a16:creationId xmlns:a16="http://schemas.microsoft.com/office/drawing/2014/main" id="{697FD543-6A97-0AF9-7789-135413F825D9}"/>
              </a:ext>
            </a:extLst>
          </p:cNvPr>
          <p:cNvGrpSpPr/>
          <p:nvPr/>
        </p:nvGrpSpPr>
        <p:grpSpPr>
          <a:xfrm>
            <a:off x="14048168" y="3795827"/>
            <a:ext cx="3940614" cy="4046540"/>
            <a:chOff x="0" y="0"/>
            <a:chExt cx="5516210" cy="3527477"/>
          </a:xfrm>
          <a:effectLst>
            <a:glow rad="304800">
              <a:srgbClr val="8E52F5">
                <a:alpha val="35000"/>
              </a:srgbClr>
            </a:glow>
          </a:effectLst>
          <a:scene3d>
            <a:camera prst="obliqueTopRight"/>
            <a:lightRig rig="threePt" dir="t"/>
          </a:scene3d>
        </p:grpSpPr>
        <p:sp>
          <p:nvSpPr>
            <p:cNvPr id="63" name="Freeform 8">
              <a:extLst>
                <a:ext uri="{FF2B5EF4-FFF2-40B4-BE49-F238E27FC236}">
                  <a16:creationId xmlns:a16="http://schemas.microsoft.com/office/drawing/2014/main" id="{FB106ACB-F274-A1A4-127A-032D7EFCCAAD}"/>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a:sp3d/>
          </p:spPr>
          <p:txBody>
            <a:bodyPr/>
            <a:lstStyle/>
            <a:p>
              <a:endParaRPr lang="en-US" dirty="0"/>
            </a:p>
          </p:txBody>
        </p:sp>
        <p:sp>
          <p:nvSpPr>
            <p:cNvPr id="64" name="TextBox 9">
              <a:extLst>
                <a:ext uri="{FF2B5EF4-FFF2-40B4-BE49-F238E27FC236}">
                  <a16:creationId xmlns:a16="http://schemas.microsoft.com/office/drawing/2014/main" id="{3B85677B-B7C1-014A-D4D4-DDB40E7EE181}"/>
                </a:ext>
              </a:extLst>
            </p:cNvPr>
            <p:cNvSpPr txBox="1"/>
            <p:nvPr/>
          </p:nvSpPr>
          <p:spPr>
            <a:xfrm>
              <a:off x="63500" y="6350"/>
              <a:ext cx="5389210" cy="3457627"/>
            </a:xfrm>
            <a:prstGeom prst="rect">
              <a:avLst/>
            </a:prstGeom>
            <a:sp3d/>
          </p:spPr>
          <p:txBody>
            <a:bodyPr lIns="50800" tIns="50800" rIns="50800" bIns="50800" rtlCol="0" anchor="ctr"/>
            <a:lstStyle/>
            <a:p>
              <a:pPr algn="ctr">
                <a:lnSpc>
                  <a:spcPts val="1960"/>
                </a:lnSpc>
              </a:pPr>
              <a:endParaRPr/>
            </a:p>
          </p:txBody>
        </p:sp>
      </p:grpSp>
      <p:sp>
        <p:nvSpPr>
          <p:cNvPr id="65" name="TextBox 18">
            <a:extLst>
              <a:ext uri="{FF2B5EF4-FFF2-40B4-BE49-F238E27FC236}">
                <a16:creationId xmlns:a16="http://schemas.microsoft.com/office/drawing/2014/main" id="{02C095E0-5031-96B7-7393-D93522F9A600}"/>
              </a:ext>
            </a:extLst>
          </p:cNvPr>
          <p:cNvSpPr txBox="1"/>
          <p:nvPr/>
        </p:nvSpPr>
        <p:spPr>
          <a:xfrm>
            <a:off x="13178822" y="5798697"/>
            <a:ext cx="5632178" cy="400815"/>
          </a:xfrm>
          <a:prstGeom prst="rect">
            <a:avLst/>
          </a:prstGeom>
        </p:spPr>
        <p:txBody>
          <a:bodyPr wrap="square" lIns="0" tIns="0" rIns="0" bIns="0" rtlCol="0" anchor="t">
            <a:spAutoFit/>
          </a:bodyPr>
          <a:lstStyle/>
          <a:p>
            <a:pPr algn="ctr">
              <a:lnSpc>
                <a:spcPts val="2879"/>
              </a:lnSpc>
            </a:pPr>
            <a:r>
              <a:rPr lang="en-US" sz="3600" spc="-120" dirty="0">
                <a:solidFill>
                  <a:srgbClr val="FFFFFF"/>
                </a:solidFill>
                <a:effectLst>
                  <a:glow rad="139700">
                    <a:schemeClr val="accent4">
                      <a:satMod val="175000"/>
                      <a:alpha val="40000"/>
                    </a:schemeClr>
                  </a:glow>
                </a:effectLst>
                <a:latin typeface="Telegraf"/>
                <a:ea typeface="Telegraf"/>
                <a:cs typeface="Telegraf"/>
                <a:sym typeface="Telegraf"/>
              </a:rPr>
              <a:t>Days Reduced</a:t>
            </a:r>
          </a:p>
        </p:txBody>
      </p:sp>
      <p:sp>
        <p:nvSpPr>
          <p:cNvPr id="66" name="TextBox 18">
            <a:extLst>
              <a:ext uri="{FF2B5EF4-FFF2-40B4-BE49-F238E27FC236}">
                <a16:creationId xmlns:a16="http://schemas.microsoft.com/office/drawing/2014/main" id="{933F232A-226E-BC8D-5BDA-188A7350B720}"/>
              </a:ext>
            </a:extLst>
          </p:cNvPr>
          <p:cNvSpPr txBox="1"/>
          <p:nvPr/>
        </p:nvSpPr>
        <p:spPr>
          <a:xfrm>
            <a:off x="14689946" y="4910130"/>
            <a:ext cx="5632178" cy="603948"/>
          </a:xfrm>
          <a:prstGeom prst="rect">
            <a:avLst/>
          </a:prstGeom>
        </p:spPr>
        <p:txBody>
          <a:bodyPr wrap="square" lIns="0" tIns="0" rIns="0" bIns="0" rtlCol="0" anchor="t">
            <a:spAutoFit/>
          </a:bodyPr>
          <a:lstStyle/>
          <a:p>
            <a:pPr algn="l">
              <a:lnSpc>
                <a:spcPts val="2879"/>
              </a:lnSpc>
            </a:pPr>
            <a:r>
              <a:rPr lang="en-US" sz="9600" spc="-120" dirty="0">
                <a:gradFill flip="none" rotWithShape="1">
                  <a:gsLst>
                    <a:gs pos="0">
                      <a:schemeClr val="accent4">
                        <a:lumMod val="40000"/>
                        <a:lumOff val="60000"/>
                      </a:schemeClr>
                    </a:gs>
                    <a:gs pos="46000">
                      <a:schemeClr val="bg1"/>
                    </a:gs>
                    <a:gs pos="100000">
                      <a:srgbClr val="5E3587"/>
                    </a:gs>
                  </a:gsLst>
                  <a:path path="circle">
                    <a:fillToRect l="50000" t="130000" r="50000" b="-30000"/>
                  </a:path>
                  <a:tileRect/>
                </a:gradFill>
                <a:effectLst>
                  <a:glow rad="228600">
                    <a:schemeClr val="accent4">
                      <a:satMod val="175000"/>
                      <a:alpha val="40000"/>
                    </a:schemeClr>
                  </a:glow>
                </a:effectLst>
                <a:latin typeface="Telegraf"/>
                <a:ea typeface="Telegraf"/>
                <a:cs typeface="Telegraf"/>
                <a:sym typeface="Telegraf"/>
              </a:rPr>
              <a:t>197→</a:t>
            </a:r>
          </a:p>
        </p:txBody>
      </p:sp>
      <p:sp>
        <p:nvSpPr>
          <p:cNvPr id="67" name="TextBox 18">
            <a:extLst>
              <a:ext uri="{FF2B5EF4-FFF2-40B4-BE49-F238E27FC236}">
                <a16:creationId xmlns:a16="http://schemas.microsoft.com/office/drawing/2014/main" id="{EA9C8BC2-3947-7EC4-E55B-7000C879D6C8}"/>
              </a:ext>
            </a:extLst>
          </p:cNvPr>
          <p:cNvSpPr txBox="1"/>
          <p:nvPr/>
        </p:nvSpPr>
        <p:spPr>
          <a:xfrm>
            <a:off x="13178822" y="6571409"/>
            <a:ext cx="5632178" cy="732060"/>
          </a:xfrm>
          <a:prstGeom prst="rect">
            <a:avLst/>
          </a:prstGeom>
        </p:spPr>
        <p:txBody>
          <a:bodyPr wrap="square" lIns="0" tIns="0" rIns="0" bIns="0" rtlCol="0" anchor="t">
            <a:spAutoFit/>
          </a:bodyPr>
          <a:lstStyle/>
          <a:p>
            <a:pPr algn="ctr">
              <a:lnSpc>
                <a:spcPts val="2879"/>
              </a:lnSpc>
            </a:pPr>
            <a:r>
              <a:rPr lang="en-US" sz="2400" spc="-120" dirty="0">
                <a:solidFill>
                  <a:srgbClr val="FFFFFF"/>
                </a:solidFill>
                <a:latin typeface="Telegraf"/>
                <a:ea typeface="Telegraf"/>
                <a:cs typeface="Telegraf"/>
                <a:sym typeface="Telegraf"/>
              </a:rPr>
              <a:t>From average dwell time</a:t>
            </a:r>
          </a:p>
          <a:p>
            <a:pPr algn="ctr">
              <a:lnSpc>
                <a:spcPts val="2879"/>
              </a:lnSpc>
            </a:pPr>
            <a:r>
              <a:rPr lang="en-US" sz="2400" spc="-120" dirty="0">
                <a:solidFill>
                  <a:srgbClr val="FFFFFF"/>
                </a:solidFill>
                <a:latin typeface="Telegraf"/>
                <a:ea typeface="Telegraf"/>
                <a:cs typeface="Telegraf"/>
                <a:sym typeface="Telegraf"/>
              </a:rPr>
              <a:t>to detection in hours.</a:t>
            </a:r>
          </a:p>
        </p:txBody>
      </p:sp>
      <p:sp>
        <p:nvSpPr>
          <p:cNvPr id="71" name="Freeform 20">
            <a:extLst>
              <a:ext uri="{FF2B5EF4-FFF2-40B4-BE49-F238E27FC236}">
                <a16:creationId xmlns:a16="http://schemas.microsoft.com/office/drawing/2014/main" id="{4B58356A-0A4C-5FDD-0E33-049E8EF21F7F}"/>
              </a:ext>
            </a:extLst>
          </p:cNvPr>
          <p:cNvSpPr/>
          <p:nvPr/>
        </p:nvSpPr>
        <p:spPr>
          <a:xfrm flipH="1">
            <a:off x="5443179" y="8963812"/>
            <a:ext cx="630884"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1000"/>
                                        <p:tgtEl>
                                          <p:spTgt spid="37"/>
                                        </p:tgtEl>
                                      </p:cBhvr>
                                    </p:animEffect>
                                    <p:anim calcmode="lin" valueType="num">
                                      <p:cBhvr>
                                        <p:cTn id="23" dur="1000" fill="hold"/>
                                        <p:tgtEl>
                                          <p:spTgt spid="37"/>
                                        </p:tgtEl>
                                        <p:attrNameLst>
                                          <p:attrName>ppt_x</p:attrName>
                                        </p:attrNameLst>
                                      </p:cBhvr>
                                      <p:tavLst>
                                        <p:tav tm="0">
                                          <p:val>
                                            <p:strVal val="#ppt_x"/>
                                          </p:val>
                                        </p:tav>
                                        <p:tav tm="100000">
                                          <p:val>
                                            <p:strVal val="#ppt_x"/>
                                          </p:val>
                                        </p:tav>
                                      </p:tavLst>
                                    </p:anim>
                                    <p:anim calcmode="lin" valueType="num">
                                      <p:cBhvr>
                                        <p:cTn id="24" dur="1000" fill="hold"/>
                                        <p:tgtEl>
                                          <p:spTgt spid="3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1000"/>
                                        <p:tgtEl>
                                          <p:spTgt spid="53"/>
                                        </p:tgtEl>
                                      </p:cBhvr>
                                    </p:animEffect>
                                    <p:anim calcmode="lin" valueType="num">
                                      <p:cBhvr>
                                        <p:cTn id="28" dur="1000" fill="hold"/>
                                        <p:tgtEl>
                                          <p:spTgt spid="53"/>
                                        </p:tgtEl>
                                        <p:attrNameLst>
                                          <p:attrName>ppt_x</p:attrName>
                                        </p:attrNameLst>
                                      </p:cBhvr>
                                      <p:tavLst>
                                        <p:tav tm="0">
                                          <p:val>
                                            <p:strVal val="#ppt_x"/>
                                          </p:val>
                                        </p:tav>
                                        <p:tav tm="100000">
                                          <p:val>
                                            <p:strVal val="#ppt_x"/>
                                          </p:val>
                                        </p:tav>
                                      </p:tavLst>
                                    </p:anim>
                                    <p:anim calcmode="lin" valueType="num">
                                      <p:cBhvr>
                                        <p:cTn id="29" dur="1000" fill="hold"/>
                                        <p:tgtEl>
                                          <p:spTgt spid="5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1000"/>
                                        <p:tgtEl>
                                          <p:spTgt spid="55"/>
                                        </p:tgtEl>
                                      </p:cBhvr>
                                    </p:animEffect>
                                    <p:anim calcmode="lin" valueType="num">
                                      <p:cBhvr>
                                        <p:cTn id="33" dur="1000" fill="hold"/>
                                        <p:tgtEl>
                                          <p:spTgt spid="55"/>
                                        </p:tgtEl>
                                        <p:attrNameLst>
                                          <p:attrName>ppt_x</p:attrName>
                                        </p:attrNameLst>
                                      </p:cBhvr>
                                      <p:tavLst>
                                        <p:tav tm="0">
                                          <p:val>
                                            <p:strVal val="#ppt_x"/>
                                          </p:val>
                                        </p:tav>
                                        <p:tav tm="100000">
                                          <p:val>
                                            <p:strVal val="#ppt_x"/>
                                          </p:val>
                                        </p:tav>
                                      </p:tavLst>
                                    </p:anim>
                                    <p:anim calcmode="lin" valueType="num">
                                      <p:cBhvr>
                                        <p:cTn id="34" dur="1000" fill="hold"/>
                                        <p:tgtEl>
                                          <p:spTgt spid="5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1000"/>
                                        <p:tgtEl>
                                          <p:spTgt spid="50"/>
                                        </p:tgtEl>
                                      </p:cBhvr>
                                    </p:animEffect>
                                    <p:anim calcmode="lin" valueType="num">
                                      <p:cBhvr>
                                        <p:cTn id="38" dur="1000" fill="hold"/>
                                        <p:tgtEl>
                                          <p:spTgt spid="50"/>
                                        </p:tgtEl>
                                        <p:attrNameLst>
                                          <p:attrName>ppt_x</p:attrName>
                                        </p:attrNameLst>
                                      </p:cBhvr>
                                      <p:tavLst>
                                        <p:tav tm="0">
                                          <p:val>
                                            <p:strVal val="#ppt_x"/>
                                          </p:val>
                                        </p:tav>
                                        <p:tav tm="100000">
                                          <p:val>
                                            <p:strVal val="#ppt_x"/>
                                          </p:val>
                                        </p:tav>
                                      </p:tavLst>
                                    </p:anim>
                                    <p:anim calcmode="lin" valueType="num">
                                      <p:cBhvr>
                                        <p:cTn id="39" dur="1000" fill="hold"/>
                                        <p:tgtEl>
                                          <p:spTgt spid="5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1000"/>
                                        <p:tgtEl>
                                          <p:spTgt spid="54"/>
                                        </p:tgtEl>
                                      </p:cBhvr>
                                    </p:animEffect>
                                    <p:anim calcmode="lin" valueType="num">
                                      <p:cBhvr>
                                        <p:cTn id="43" dur="1000" fill="hold"/>
                                        <p:tgtEl>
                                          <p:spTgt spid="54"/>
                                        </p:tgtEl>
                                        <p:attrNameLst>
                                          <p:attrName>ppt_x</p:attrName>
                                        </p:attrNameLst>
                                      </p:cBhvr>
                                      <p:tavLst>
                                        <p:tav tm="0">
                                          <p:val>
                                            <p:strVal val="#ppt_x"/>
                                          </p:val>
                                        </p:tav>
                                        <p:tav tm="100000">
                                          <p:val>
                                            <p:strVal val="#ppt_x"/>
                                          </p:val>
                                        </p:tav>
                                      </p:tavLst>
                                    </p:anim>
                                    <p:anim calcmode="lin" valueType="num">
                                      <p:cBhvr>
                                        <p:cTn id="44" dur="1000" fill="hold"/>
                                        <p:tgtEl>
                                          <p:spTgt spid="5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1000"/>
                                        <p:tgtEl>
                                          <p:spTgt spid="60"/>
                                        </p:tgtEl>
                                      </p:cBhvr>
                                    </p:animEffect>
                                    <p:anim calcmode="lin" valueType="num">
                                      <p:cBhvr>
                                        <p:cTn id="53" dur="1000" fill="hold"/>
                                        <p:tgtEl>
                                          <p:spTgt spid="60"/>
                                        </p:tgtEl>
                                        <p:attrNameLst>
                                          <p:attrName>ppt_x</p:attrName>
                                        </p:attrNameLst>
                                      </p:cBhvr>
                                      <p:tavLst>
                                        <p:tav tm="0">
                                          <p:val>
                                            <p:strVal val="#ppt_x"/>
                                          </p:val>
                                        </p:tav>
                                        <p:tav tm="100000">
                                          <p:val>
                                            <p:strVal val="#ppt_x"/>
                                          </p:val>
                                        </p:tav>
                                      </p:tavLst>
                                    </p:anim>
                                    <p:anim calcmode="lin" valueType="num">
                                      <p:cBhvr>
                                        <p:cTn id="54" dur="1000" fill="hold"/>
                                        <p:tgtEl>
                                          <p:spTgt spid="60"/>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1000"/>
                                        <p:tgtEl>
                                          <p:spTgt spid="59"/>
                                        </p:tgtEl>
                                      </p:cBhvr>
                                    </p:animEffect>
                                    <p:anim calcmode="lin" valueType="num">
                                      <p:cBhvr>
                                        <p:cTn id="58" dur="1000" fill="hold"/>
                                        <p:tgtEl>
                                          <p:spTgt spid="59"/>
                                        </p:tgtEl>
                                        <p:attrNameLst>
                                          <p:attrName>ppt_x</p:attrName>
                                        </p:attrNameLst>
                                      </p:cBhvr>
                                      <p:tavLst>
                                        <p:tav tm="0">
                                          <p:val>
                                            <p:strVal val="#ppt_x"/>
                                          </p:val>
                                        </p:tav>
                                        <p:tav tm="100000">
                                          <p:val>
                                            <p:strVal val="#ppt_x"/>
                                          </p:val>
                                        </p:tav>
                                      </p:tavLst>
                                    </p:anim>
                                    <p:anim calcmode="lin" valueType="num">
                                      <p:cBhvr>
                                        <p:cTn id="59" dur="1000" fill="hold"/>
                                        <p:tgtEl>
                                          <p:spTgt spid="5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1000"/>
                                        <p:tgtEl>
                                          <p:spTgt spid="61"/>
                                        </p:tgtEl>
                                      </p:cBhvr>
                                    </p:animEffect>
                                    <p:anim calcmode="lin" valueType="num">
                                      <p:cBhvr>
                                        <p:cTn id="63" dur="1000" fill="hold"/>
                                        <p:tgtEl>
                                          <p:spTgt spid="61"/>
                                        </p:tgtEl>
                                        <p:attrNameLst>
                                          <p:attrName>ppt_x</p:attrName>
                                        </p:attrNameLst>
                                      </p:cBhvr>
                                      <p:tavLst>
                                        <p:tav tm="0">
                                          <p:val>
                                            <p:strVal val="#ppt_x"/>
                                          </p:val>
                                        </p:tav>
                                        <p:tav tm="100000">
                                          <p:val>
                                            <p:strVal val="#ppt_x"/>
                                          </p:val>
                                        </p:tav>
                                      </p:tavLst>
                                    </p:anim>
                                    <p:anim calcmode="lin" valueType="num">
                                      <p:cBhvr>
                                        <p:cTn id="64" dur="1000" fill="hold"/>
                                        <p:tgtEl>
                                          <p:spTgt spid="6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1000"/>
                                        <p:tgtEl>
                                          <p:spTgt spid="66"/>
                                        </p:tgtEl>
                                      </p:cBhvr>
                                    </p:animEffect>
                                    <p:anim calcmode="lin" valueType="num">
                                      <p:cBhvr>
                                        <p:cTn id="68" dur="1000" fill="hold"/>
                                        <p:tgtEl>
                                          <p:spTgt spid="66"/>
                                        </p:tgtEl>
                                        <p:attrNameLst>
                                          <p:attrName>ppt_x</p:attrName>
                                        </p:attrNameLst>
                                      </p:cBhvr>
                                      <p:tavLst>
                                        <p:tav tm="0">
                                          <p:val>
                                            <p:strVal val="#ppt_x"/>
                                          </p:val>
                                        </p:tav>
                                        <p:tav tm="100000">
                                          <p:val>
                                            <p:strVal val="#ppt_x"/>
                                          </p:val>
                                        </p:tav>
                                      </p:tavLst>
                                    </p:anim>
                                    <p:anim calcmode="lin" valueType="num">
                                      <p:cBhvr>
                                        <p:cTn id="69" dur="1000" fill="hold"/>
                                        <p:tgtEl>
                                          <p:spTgt spid="66"/>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65"/>
                                        </p:tgtEl>
                                        <p:attrNameLst>
                                          <p:attrName>style.visibility</p:attrName>
                                        </p:attrNameLst>
                                      </p:cBhvr>
                                      <p:to>
                                        <p:strVal val="visible"/>
                                      </p:to>
                                    </p:set>
                                    <p:animEffect transition="in" filter="fade">
                                      <p:cBhvr>
                                        <p:cTn id="72" dur="1000"/>
                                        <p:tgtEl>
                                          <p:spTgt spid="65"/>
                                        </p:tgtEl>
                                      </p:cBhvr>
                                    </p:animEffect>
                                    <p:anim calcmode="lin" valueType="num">
                                      <p:cBhvr>
                                        <p:cTn id="73" dur="1000" fill="hold"/>
                                        <p:tgtEl>
                                          <p:spTgt spid="65"/>
                                        </p:tgtEl>
                                        <p:attrNameLst>
                                          <p:attrName>ppt_x</p:attrName>
                                        </p:attrNameLst>
                                      </p:cBhvr>
                                      <p:tavLst>
                                        <p:tav tm="0">
                                          <p:val>
                                            <p:strVal val="#ppt_x"/>
                                          </p:val>
                                        </p:tav>
                                        <p:tav tm="100000">
                                          <p:val>
                                            <p:strVal val="#ppt_x"/>
                                          </p:val>
                                        </p:tav>
                                      </p:tavLst>
                                    </p:anim>
                                    <p:anim calcmode="lin" valueType="num">
                                      <p:cBhvr>
                                        <p:cTn id="74" dur="1000" fill="hold"/>
                                        <p:tgtEl>
                                          <p:spTgt spid="6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animEffect transition="in" filter="fade">
                                      <p:cBhvr>
                                        <p:cTn id="77" dur="1000"/>
                                        <p:tgtEl>
                                          <p:spTgt spid="67"/>
                                        </p:tgtEl>
                                      </p:cBhvr>
                                    </p:animEffect>
                                    <p:anim calcmode="lin" valueType="num">
                                      <p:cBhvr>
                                        <p:cTn id="78" dur="1000" fill="hold"/>
                                        <p:tgtEl>
                                          <p:spTgt spid="67"/>
                                        </p:tgtEl>
                                        <p:attrNameLst>
                                          <p:attrName>ppt_x</p:attrName>
                                        </p:attrNameLst>
                                      </p:cBhvr>
                                      <p:tavLst>
                                        <p:tav tm="0">
                                          <p:val>
                                            <p:strVal val="#ppt_x"/>
                                          </p:val>
                                        </p:tav>
                                        <p:tav tm="100000">
                                          <p:val>
                                            <p:strVal val="#ppt_x"/>
                                          </p:val>
                                        </p:tav>
                                      </p:tavLst>
                                    </p:anim>
                                    <p:anim calcmode="lin" valueType="num">
                                      <p:cBhvr>
                                        <p:cTn id="79" dur="1000" fill="hold"/>
                                        <p:tgtEl>
                                          <p:spTgt spid="6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fade">
                                      <p:cBhvr>
                                        <p:cTn id="82" dur="1000"/>
                                        <p:tgtEl>
                                          <p:spTgt spid="62"/>
                                        </p:tgtEl>
                                      </p:cBhvr>
                                    </p:animEffect>
                                    <p:anim calcmode="lin" valueType="num">
                                      <p:cBhvr>
                                        <p:cTn id="83" dur="1000" fill="hold"/>
                                        <p:tgtEl>
                                          <p:spTgt spid="62"/>
                                        </p:tgtEl>
                                        <p:attrNameLst>
                                          <p:attrName>ppt_x</p:attrName>
                                        </p:attrNameLst>
                                      </p:cBhvr>
                                      <p:tavLst>
                                        <p:tav tm="0">
                                          <p:val>
                                            <p:strVal val="#ppt_x"/>
                                          </p:val>
                                        </p:tav>
                                        <p:tav tm="100000">
                                          <p:val>
                                            <p:strVal val="#ppt_x"/>
                                          </p:val>
                                        </p:tav>
                                      </p:tavLst>
                                    </p:anim>
                                    <p:anim calcmode="lin" valueType="num">
                                      <p:cBhvr>
                                        <p:cTn id="84"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6" grpId="0"/>
      <p:bldP spid="37" grpId="0"/>
      <p:bldP spid="53" grpId="0"/>
      <p:bldP spid="54" grpId="0"/>
      <p:bldP spid="55" grpId="0"/>
      <p:bldP spid="59" grpId="0"/>
      <p:bldP spid="60" grpId="0"/>
      <p:bldP spid="61" grpId="0"/>
      <p:bldP spid="65" grpId="0"/>
      <p:bldP spid="66" grpId="0"/>
      <p:bldP spid="6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a:extLst>
            <a:ext uri="{FF2B5EF4-FFF2-40B4-BE49-F238E27FC236}">
              <a16:creationId xmlns:a16="http://schemas.microsoft.com/office/drawing/2014/main" id="{0860EBB9-F74D-D8F8-961A-6FD7E6C313A3}"/>
            </a:ext>
          </a:extLst>
        </p:cNvPr>
        <p:cNvGrpSpPr/>
        <p:nvPr/>
      </p:nvGrpSpPr>
      <p:grpSpPr>
        <a:xfrm>
          <a:off x="0" y="0"/>
          <a:ext cx="0" cy="0"/>
          <a:chOff x="0" y="0"/>
          <a:chExt cx="0" cy="0"/>
        </a:xfrm>
      </p:grpSpPr>
      <p:grpSp>
        <p:nvGrpSpPr>
          <p:cNvPr id="68" name="Group 7">
            <a:extLst>
              <a:ext uri="{FF2B5EF4-FFF2-40B4-BE49-F238E27FC236}">
                <a16:creationId xmlns:a16="http://schemas.microsoft.com/office/drawing/2014/main" id="{4F4019F0-BA4B-A971-E029-D8A57485458F}"/>
              </a:ext>
            </a:extLst>
          </p:cNvPr>
          <p:cNvGrpSpPr/>
          <p:nvPr/>
        </p:nvGrpSpPr>
        <p:grpSpPr>
          <a:xfrm>
            <a:off x="1296832" y="7807293"/>
            <a:ext cx="15694335" cy="1447800"/>
            <a:chOff x="0" y="0"/>
            <a:chExt cx="5516210" cy="3527477"/>
          </a:xfrm>
        </p:grpSpPr>
        <p:sp>
          <p:nvSpPr>
            <p:cNvPr id="69" name="Freeform 8">
              <a:extLst>
                <a:ext uri="{FF2B5EF4-FFF2-40B4-BE49-F238E27FC236}">
                  <a16:creationId xmlns:a16="http://schemas.microsoft.com/office/drawing/2014/main" id="{84621979-ACC9-C4C6-54C7-CD976FCD0C1F}"/>
                </a:ext>
              </a:extLst>
            </p:cNvPr>
            <p:cNvSpPr/>
            <p:nvPr/>
          </p:nvSpPr>
          <p:spPr>
            <a:xfrm>
              <a:off x="0" y="0"/>
              <a:ext cx="5516210" cy="3527477"/>
            </a:xfrm>
            <a:custGeom>
              <a:avLst/>
              <a:gdLst/>
              <a:ahLst/>
              <a:cxnLst/>
              <a:rect l="l" t="t" r="r" b="b"/>
              <a:pathLst>
                <a:path w="5516210" h="3527477">
                  <a:moveTo>
                    <a:pt x="5356190" y="0"/>
                  </a:moveTo>
                  <a:lnTo>
                    <a:pt x="160020" y="0"/>
                  </a:lnTo>
                  <a:lnTo>
                    <a:pt x="0" y="160020"/>
                  </a:lnTo>
                  <a:lnTo>
                    <a:pt x="0" y="3367457"/>
                  </a:lnTo>
                  <a:lnTo>
                    <a:pt x="160020" y="3527477"/>
                  </a:lnTo>
                  <a:lnTo>
                    <a:pt x="5356190" y="3527477"/>
                  </a:lnTo>
                  <a:lnTo>
                    <a:pt x="5516210" y="3367457"/>
                  </a:lnTo>
                  <a:lnTo>
                    <a:pt x="5516210" y="160020"/>
                  </a:lnTo>
                  <a:lnTo>
                    <a:pt x="5356190" y="0"/>
                  </a:lnTo>
                  <a:close/>
                </a:path>
              </a:pathLst>
            </a:custGeom>
            <a:solidFill>
              <a:srgbClr val="242425"/>
            </a:solidFill>
            <a:ln w="9525" cap="sq">
              <a:solidFill>
                <a:srgbClr val="5E3587"/>
              </a:solidFill>
              <a:prstDash val="solid"/>
              <a:miter/>
            </a:ln>
          </p:spPr>
          <p:txBody>
            <a:bodyPr/>
            <a:lstStyle/>
            <a:p>
              <a:endParaRPr lang="en-US" dirty="0"/>
            </a:p>
          </p:txBody>
        </p:sp>
        <p:sp>
          <p:nvSpPr>
            <p:cNvPr id="70" name="TextBox 9">
              <a:extLst>
                <a:ext uri="{FF2B5EF4-FFF2-40B4-BE49-F238E27FC236}">
                  <a16:creationId xmlns:a16="http://schemas.microsoft.com/office/drawing/2014/main" id="{1B2FC16F-9281-6378-55FF-3E36B279AE36}"/>
                </a:ext>
              </a:extLst>
            </p:cNvPr>
            <p:cNvSpPr txBox="1"/>
            <p:nvPr/>
          </p:nvSpPr>
          <p:spPr>
            <a:xfrm>
              <a:off x="63500" y="6350"/>
              <a:ext cx="5389210" cy="3457627"/>
            </a:xfrm>
            <a:prstGeom prst="rect">
              <a:avLst/>
            </a:prstGeom>
          </p:spPr>
          <p:txBody>
            <a:bodyPr lIns="50800" tIns="50800" rIns="50800" bIns="50800" rtlCol="0" anchor="ctr"/>
            <a:lstStyle/>
            <a:p>
              <a:pPr algn="ctr">
                <a:lnSpc>
                  <a:spcPts val="1960"/>
                </a:lnSpc>
              </a:pPr>
              <a:endParaRPr/>
            </a:p>
          </p:txBody>
        </p:sp>
      </p:grpSp>
      <p:sp>
        <p:nvSpPr>
          <p:cNvPr id="3" name="Freeform 3">
            <a:extLst>
              <a:ext uri="{FF2B5EF4-FFF2-40B4-BE49-F238E27FC236}">
                <a16:creationId xmlns:a16="http://schemas.microsoft.com/office/drawing/2014/main" id="{1C924558-8B90-3A45-D492-6EBD364BD952}"/>
              </a:ext>
            </a:extLst>
          </p:cNvPr>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6" name="TextBox 16">
            <a:extLst>
              <a:ext uri="{FF2B5EF4-FFF2-40B4-BE49-F238E27FC236}">
                <a16:creationId xmlns:a16="http://schemas.microsoft.com/office/drawing/2014/main" id="{3A7B6D50-A7E3-48B5-6370-0024CDF6BF30}"/>
              </a:ext>
            </a:extLst>
          </p:cNvPr>
          <p:cNvSpPr txBox="1"/>
          <p:nvPr/>
        </p:nvSpPr>
        <p:spPr>
          <a:xfrm>
            <a:off x="312106" y="1920038"/>
            <a:ext cx="9581673" cy="1051570"/>
          </a:xfrm>
          <a:prstGeom prst="rect">
            <a:avLst/>
          </a:prstGeom>
        </p:spPr>
        <p:txBody>
          <a:bodyPr wrap="square" lIns="0" tIns="0" rIns="0" bIns="0" rtlCol="0" anchor="t">
            <a:spAutoFit/>
          </a:bodyPr>
          <a:lstStyle/>
          <a:p>
            <a:pPr algn="l">
              <a:lnSpc>
                <a:spcPts val="4095"/>
              </a:lnSpc>
            </a:pPr>
            <a:r>
              <a:rPr lang="en-US" sz="4934"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Intelligence Is a Decision, NOT A DASHBOARD </a:t>
            </a:r>
          </a:p>
        </p:txBody>
      </p:sp>
      <p:pic>
        <p:nvPicPr>
          <p:cNvPr id="23" name="Image 0" descr="/home/claude/cygnus_logo.png">
            <a:extLst>
              <a:ext uri="{FF2B5EF4-FFF2-40B4-BE49-F238E27FC236}">
                <a16:creationId xmlns:a16="http://schemas.microsoft.com/office/drawing/2014/main" id="{1C5AC6A3-E5C3-1B58-A89B-208702704E6A}"/>
              </a:ext>
            </a:extLst>
          </p:cNvPr>
          <p:cNvPicPr>
            <a:picLocks noChangeAspect="1"/>
          </p:cNvPicPr>
          <p:nvPr/>
        </p:nvPicPr>
        <p:blipFill>
          <a:blip r:embed="rId3"/>
          <a:stretch>
            <a:fillRect/>
          </a:stretch>
        </p:blipFill>
        <p:spPr>
          <a:xfrm>
            <a:off x="651199" y="502921"/>
            <a:ext cx="1330002" cy="266000"/>
          </a:xfrm>
          <a:prstGeom prst="rect">
            <a:avLst/>
          </a:prstGeom>
        </p:spPr>
      </p:pic>
      <p:grpSp>
        <p:nvGrpSpPr>
          <p:cNvPr id="27" name="Group 4">
            <a:extLst>
              <a:ext uri="{FF2B5EF4-FFF2-40B4-BE49-F238E27FC236}">
                <a16:creationId xmlns:a16="http://schemas.microsoft.com/office/drawing/2014/main" id="{4E419BD0-FC4D-F47C-78BC-6FF22FD20D86}"/>
              </a:ext>
            </a:extLst>
          </p:cNvPr>
          <p:cNvGrpSpPr/>
          <p:nvPr/>
        </p:nvGrpSpPr>
        <p:grpSpPr>
          <a:xfrm>
            <a:off x="9646720" y="912664"/>
            <a:ext cx="247059" cy="273987"/>
            <a:chOff x="0" y="-57150"/>
            <a:chExt cx="65069" cy="72162"/>
          </a:xfrm>
        </p:grpSpPr>
        <p:sp>
          <p:nvSpPr>
            <p:cNvPr id="28" name="Freeform 5">
              <a:extLst>
                <a:ext uri="{FF2B5EF4-FFF2-40B4-BE49-F238E27FC236}">
                  <a16:creationId xmlns:a16="http://schemas.microsoft.com/office/drawing/2014/main" id="{BAB56135-7466-E5C9-4CFF-B22D96235787}"/>
                </a:ext>
              </a:extLst>
            </p:cNvPr>
            <p:cNvSpPr/>
            <p:nvPr/>
          </p:nvSpPr>
          <p:spPr>
            <a:xfrm>
              <a:off x="0" y="0"/>
              <a:ext cx="65069" cy="15012"/>
            </a:xfrm>
            <a:custGeom>
              <a:avLst/>
              <a:gdLst/>
              <a:ahLst/>
              <a:cxnLst/>
              <a:rect l="l" t="t" r="r" b="b"/>
              <a:pathLst>
                <a:path w="65069" h="15012">
                  <a:moveTo>
                    <a:pt x="7506" y="0"/>
                  </a:moveTo>
                  <a:lnTo>
                    <a:pt x="57563" y="0"/>
                  </a:lnTo>
                  <a:cubicBezTo>
                    <a:pt x="59554" y="0"/>
                    <a:pt x="61463" y="791"/>
                    <a:pt x="62871" y="2198"/>
                  </a:cubicBezTo>
                  <a:cubicBezTo>
                    <a:pt x="64278" y="3606"/>
                    <a:pt x="65069" y="5515"/>
                    <a:pt x="65069" y="7506"/>
                  </a:cubicBezTo>
                  <a:lnTo>
                    <a:pt x="65069" y="7506"/>
                  </a:lnTo>
                  <a:cubicBezTo>
                    <a:pt x="65069" y="11651"/>
                    <a:pt x="61709" y="15012"/>
                    <a:pt x="57563" y="15012"/>
                  </a:cubicBezTo>
                  <a:lnTo>
                    <a:pt x="7506" y="15012"/>
                  </a:lnTo>
                  <a:cubicBezTo>
                    <a:pt x="3361" y="15012"/>
                    <a:pt x="0" y="11651"/>
                    <a:pt x="0" y="7506"/>
                  </a:cubicBezTo>
                  <a:lnTo>
                    <a:pt x="0" y="7506"/>
                  </a:lnTo>
                  <a:cubicBezTo>
                    <a:pt x="0" y="3361"/>
                    <a:pt x="3361" y="0"/>
                    <a:pt x="7506" y="0"/>
                  </a:cubicBezTo>
                  <a:close/>
                </a:path>
              </a:pathLst>
            </a:custGeom>
            <a:gradFill>
              <a:gsLst>
                <a:gs pos="0">
                  <a:schemeClr val="accent4">
                    <a:lumMod val="40000"/>
                    <a:lumOff val="60000"/>
                  </a:schemeClr>
                </a:gs>
                <a:gs pos="36000">
                  <a:schemeClr val="bg1">
                    <a:lumMod val="0"/>
                    <a:lumOff val="100000"/>
                  </a:schemeClr>
                </a:gs>
                <a:gs pos="100000">
                  <a:schemeClr val="accent4">
                    <a:lumMod val="60000"/>
                  </a:schemeClr>
                </a:gs>
              </a:gsLst>
              <a:path path="circle">
                <a:fillToRect l="50000" t="130000" r="50000" b="-3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TextBox 6">
              <a:extLst>
                <a:ext uri="{FF2B5EF4-FFF2-40B4-BE49-F238E27FC236}">
                  <a16:creationId xmlns:a16="http://schemas.microsoft.com/office/drawing/2014/main" id="{8C3BC206-75BB-B21A-6EB3-D5E1266F87DE}"/>
                </a:ext>
              </a:extLst>
            </p:cNvPr>
            <p:cNvSpPr txBox="1"/>
            <p:nvPr/>
          </p:nvSpPr>
          <p:spPr>
            <a:xfrm>
              <a:off x="0" y="-57150"/>
              <a:ext cx="65069" cy="72162"/>
            </a:xfrm>
            <a:prstGeom prst="rect">
              <a:avLst/>
            </a:prstGeom>
          </p:spPr>
          <p:txBody>
            <a:bodyPr lIns="50800" tIns="50800" rIns="50800" bIns="50800" rtlCol="0" anchor="ctr"/>
            <a:lstStyle/>
            <a:p>
              <a:pPr marL="0" marR="0" lvl="0" indent="0" algn="ctr" defTabSz="914400" rtl="0" eaLnBrk="1" fontAlgn="auto" latinLnBrk="0" hangingPunct="1">
                <a:lnSpc>
                  <a:spcPts val="196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30" name="TextBox 13">
            <a:extLst>
              <a:ext uri="{FF2B5EF4-FFF2-40B4-BE49-F238E27FC236}">
                <a16:creationId xmlns:a16="http://schemas.microsoft.com/office/drawing/2014/main" id="{85959A0B-5225-9D32-4373-C420BF62025C}"/>
              </a:ext>
            </a:extLst>
          </p:cNvPr>
          <p:cNvSpPr txBox="1"/>
          <p:nvPr/>
        </p:nvSpPr>
        <p:spPr>
          <a:xfrm>
            <a:off x="6122456" y="782845"/>
            <a:ext cx="735245" cy="239746"/>
          </a:xfrm>
          <a:prstGeom prst="rect">
            <a:avLst/>
          </a:prstGeom>
        </p:spPr>
        <p:txBody>
          <a:bodyPr lIns="0" tIns="0" rIns="0" bIns="0" rtlCol="0" anchor="t">
            <a:spAutoFit/>
          </a:bodyPr>
          <a:lstStyle/>
          <a:p>
            <a:pPr algn="ctr">
              <a:lnSpc>
                <a:spcPts val="1960"/>
              </a:lnSpc>
              <a:spcBef>
                <a:spcPct val="0"/>
              </a:spcBef>
            </a:pPr>
            <a:r>
              <a:rPr lang="en-US" sz="1400" spc="-70" dirty="0">
                <a:solidFill>
                  <a:srgbClr val="FFFFFF"/>
                </a:solidFill>
                <a:latin typeface="Telegraf Medium"/>
                <a:ea typeface="Telegraf Medium"/>
                <a:cs typeface="Telegraf Medium"/>
                <a:sym typeface="Telegraf Medium"/>
              </a:rPr>
              <a:t>Home</a:t>
            </a:r>
          </a:p>
        </p:txBody>
      </p:sp>
      <p:sp>
        <p:nvSpPr>
          <p:cNvPr id="32" name="TextBox 14">
            <a:extLst>
              <a:ext uri="{FF2B5EF4-FFF2-40B4-BE49-F238E27FC236}">
                <a16:creationId xmlns:a16="http://schemas.microsoft.com/office/drawing/2014/main" id="{D5233D85-994C-2BF9-5E01-0106374E71ED}"/>
              </a:ext>
            </a:extLst>
          </p:cNvPr>
          <p:cNvSpPr txBox="1"/>
          <p:nvPr/>
        </p:nvSpPr>
        <p:spPr>
          <a:xfrm>
            <a:off x="6930050"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34" name="TextBox 14">
            <a:extLst>
              <a:ext uri="{FF2B5EF4-FFF2-40B4-BE49-F238E27FC236}">
                <a16:creationId xmlns:a16="http://schemas.microsoft.com/office/drawing/2014/main" id="{33C081D9-7B7E-D987-382C-723076E96243}"/>
              </a:ext>
            </a:extLst>
          </p:cNvPr>
          <p:cNvSpPr txBox="1"/>
          <p:nvPr/>
        </p:nvSpPr>
        <p:spPr>
          <a:xfrm>
            <a:off x="8011435" y="797565"/>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CTI</a:t>
            </a:r>
          </a:p>
        </p:txBody>
      </p:sp>
      <p:sp>
        <p:nvSpPr>
          <p:cNvPr id="35" name="TextBox 14">
            <a:extLst>
              <a:ext uri="{FF2B5EF4-FFF2-40B4-BE49-F238E27FC236}">
                <a16:creationId xmlns:a16="http://schemas.microsoft.com/office/drawing/2014/main" id="{54CF6480-6CA0-A87F-A65D-80824B15B83A}"/>
              </a:ext>
            </a:extLst>
          </p:cNvPr>
          <p:cNvSpPr txBox="1"/>
          <p:nvPr/>
        </p:nvSpPr>
        <p:spPr>
          <a:xfrm>
            <a:off x="9088699" y="797566"/>
            <a:ext cx="1343713" cy="239746"/>
          </a:xfrm>
          <a:prstGeom prst="rect">
            <a:avLst/>
          </a:prstGeom>
        </p:spPr>
        <p:txBody>
          <a:bodyPr wrap="square" lIns="0" tIns="0" rIns="0" bIns="0" rtlCol="0" anchor="t">
            <a:spAutoFit/>
          </a:bodyPr>
          <a:lstStyle/>
          <a:p>
            <a:pPr algn="ctr">
              <a:lnSpc>
                <a:spcPts val="1960"/>
              </a:lnSpc>
              <a:spcBef>
                <a:spcPct val="0"/>
              </a:spcBef>
            </a:pPr>
            <a:r>
              <a:rPr lang="en-US" sz="1400" b="1" spc="-70" dirty="0">
                <a:solidFill>
                  <a:srgbClr val="FFFFFF"/>
                </a:solidFill>
                <a:latin typeface="Telegraf"/>
                <a:ea typeface="Telegraf"/>
                <a:cs typeface="Telegraf"/>
                <a:sym typeface="Telegraf"/>
              </a:rPr>
              <a:t>The Solution</a:t>
            </a:r>
          </a:p>
        </p:txBody>
      </p:sp>
      <p:sp>
        <p:nvSpPr>
          <p:cNvPr id="71" name="Freeform 20">
            <a:extLst>
              <a:ext uri="{FF2B5EF4-FFF2-40B4-BE49-F238E27FC236}">
                <a16:creationId xmlns:a16="http://schemas.microsoft.com/office/drawing/2014/main" id="{809C0150-2410-FD14-31C0-48B7E5E29C2C}"/>
              </a:ext>
            </a:extLst>
          </p:cNvPr>
          <p:cNvSpPr/>
          <p:nvPr/>
        </p:nvSpPr>
        <p:spPr>
          <a:xfrm>
            <a:off x="6705600" y="2479707"/>
            <a:ext cx="618996" cy="480305"/>
          </a:xfrm>
          <a:custGeom>
            <a:avLst/>
            <a:gdLst/>
            <a:ahLst/>
            <a:cxnLst/>
            <a:rect l="l" t="t" r="r" b="b"/>
            <a:pathLst>
              <a:path w="545801" h="480305">
                <a:moveTo>
                  <a:pt x="0" y="0"/>
                </a:moveTo>
                <a:lnTo>
                  <a:pt x="545801" y="0"/>
                </a:lnTo>
                <a:lnTo>
                  <a:pt x="545801" y="480305"/>
                </a:lnTo>
                <a:lnTo>
                  <a:pt x="0" y="480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TextBox 1">
            <a:extLst>
              <a:ext uri="{FF2B5EF4-FFF2-40B4-BE49-F238E27FC236}">
                <a16:creationId xmlns:a16="http://schemas.microsoft.com/office/drawing/2014/main" id="{AAC74E9B-40F0-85CC-474C-563DAA0B0DA0}"/>
              </a:ext>
            </a:extLst>
          </p:cNvPr>
          <p:cNvSpPr txBox="1"/>
          <p:nvPr/>
        </p:nvSpPr>
        <p:spPr>
          <a:xfrm>
            <a:off x="1104227" y="8068206"/>
            <a:ext cx="16082411" cy="1015663"/>
          </a:xfrm>
          <a:prstGeom prst="rect">
            <a:avLst/>
          </a:prstGeom>
          <a:noFill/>
        </p:spPr>
        <p:txBody>
          <a:bodyPr wrap="square">
            <a:spAutoFit/>
          </a:bodyPr>
          <a:lstStyle/>
          <a:p>
            <a:pPr marL="0" indent="0" algn="ctr">
              <a:buNone/>
            </a:pPr>
            <a:r>
              <a:rPr lang="en-US" sz="2000" dirty="0">
                <a:solidFill>
                  <a:schemeClr val="bg1"/>
                </a:solidFill>
                <a:effectLst>
                  <a:glow rad="139700">
                    <a:srgbClr val="5E3587">
                      <a:alpha val="40000"/>
                    </a:srgbClr>
                  </a:glow>
                </a:effectLst>
                <a:latin typeface="Telegraf" panose="020B0604020202020204" charset="0"/>
                <a:ea typeface="Calibri" pitchFamily="34" charset="-122"/>
                <a:cs typeface="Calibri" pitchFamily="34" charset="-120"/>
              </a:rPr>
              <a:t>The organizations that win are not the ones with the most tools.</a:t>
            </a:r>
          </a:p>
          <a:p>
            <a:pPr marL="0" indent="0" algn="ctr">
              <a:buNone/>
            </a:pPr>
            <a:r>
              <a:rPr lang="en-US" sz="2000" dirty="0">
                <a:solidFill>
                  <a:schemeClr val="bg1"/>
                </a:solidFill>
                <a:effectLst>
                  <a:glow rad="139700">
                    <a:srgbClr val="5E3587">
                      <a:alpha val="40000"/>
                    </a:srgbClr>
                  </a:glow>
                </a:effectLst>
                <a:latin typeface="Telegraf" panose="020B0604020202020204" charset="0"/>
                <a:ea typeface="Calibri" pitchFamily="34" charset="-122"/>
                <a:cs typeface="Calibri" pitchFamily="34" charset="-120"/>
              </a:rPr>
              <a:t>They are the ones whose analysts know exactly what to look for, exactly why it matters, and exactly what to do when they find it.</a:t>
            </a:r>
          </a:p>
          <a:p>
            <a:pPr marL="0" indent="0" algn="ctr">
              <a:buNone/>
            </a:pPr>
            <a:r>
              <a:rPr lang="en-US" sz="2000" dirty="0">
                <a:solidFill>
                  <a:schemeClr val="bg1"/>
                </a:solidFill>
                <a:effectLst>
                  <a:glow rad="139700">
                    <a:srgbClr val="5E3587">
                      <a:alpha val="40000"/>
                    </a:srgbClr>
                  </a:glow>
                </a:effectLst>
                <a:latin typeface="Telegraf" panose="020B0604020202020204" charset="0"/>
                <a:ea typeface="Calibri" pitchFamily="34" charset="-122"/>
                <a:cs typeface="Calibri" pitchFamily="34" charset="-120"/>
              </a:rPr>
              <a:t>That clarity does not come from technology. It comes from intelligence.</a:t>
            </a:r>
          </a:p>
        </p:txBody>
      </p:sp>
      <p:graphicFrame>
        <p:nvGraphicFramePr>
          <p:cNvPr id="7" name="Diagram 6">
            <a:extLst>
              <a:ext uri="{FF2B5EF4-FFF2-40B4-BE49-F238E27FC236}">
                <a16:creationId xmlns:a16="http://schemas.microsoft.com/office/drawing/2014/main" id="{56134ABC-FC5F-119B-09B9-0AACD6E152B9}"/>
              </a:ext>
            </a:extLst>
          </p:cNvPr>
          <p:cNvGraphicFramePr/>
          <p:nvPr>
            <p:extLst>
              <p:ext uri="{D42A27DB-BD31-4B8C-83A1-F6EECF244321}">
                <p14:modId xmlns:p14="http://schemas.microsoft.com/office/powerpoint/2010/main" val="4000406575"/>
              </p:ext>
            </p:extLst>
          </p:nvPr>
        </p:nvGraphicFramePr>
        <p:xfrm>
          <a:off x="1302948" y="2163598"/>
          <a:ext cx="15694335" cy="6693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897708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8"/>
                                        </p:tgtEl>
                                        <p:attrNameLst>
                                          <p:attrName>style.visibility</p:attrName>
                                        </p:attrNameLst>
                                      </p:cBhvr>
                                      <p:to>
                                        <p:strVal val="visible"/>
                                      </p:to>
                                    </p:set>
                                    <p:animEffect transition="in" filter="fade">
                                      <p:cBhvr>
                                        <p:cTn id="14" dur="1000"/>
                                        <p:tgtEl>
                                          <p:spTgt spid="68"/>
                                        </p:tgtEl>
                                      </p:cBhvr>
                                    </p:animEffect>
                                    <p:anim calcmode="lin" valueType="num">
                                      <p:cBhvr>
                                        <p:cTn id="15" dur="1000" fill="hold"/>
                                        <p:tgtEl>
                                          <p:spTgt spid="68"/>
                                        </p:tgtEl>
                                        <p:attrNameLst>
                                          <p:attrName>ppt_x</p:attrName>
                                        </p:attrNameLst>
                                      </p:cBhvr>
                                      <p:tavLst>
                                        <p:tav tm="0">
                                          <p:val>
                                            <p:strVal val="#ppt_x"/>
                                          </p:val>
                                        </p:tav>
                                        <p:tav tm="100000">
                                          <p:val>
                                            <p:strVal val="#ppt_x"/>
                                          </p:val>
                                        </p:tav>
                                      </p:tavLst>
                                    </p:anim>
                                    <p:anim calcmode="lin" valueType="num">
                                      <p:cBhvr>
                                        <p:cTn id="16" dur="1000" fill="hold"/>
                                        <p:tgtEl>
                                          <p:spTgt spid="6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7"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7A90-AC77-02FE-87CD-48A61D900E17}"/>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B2B9636B-C07F-67F5-1EE1-E7DAD968FCEF}"/>
              </a:ext>
            </a:extLst>
          </p:cNvPr>
          <p:cNvPicPr>
            <a:picLocks noChangeAspect="1"/>
          </p:cNvPicPr>
          <p:nvPr/>
        </p:nvPicPr>
        <p:blipFill>
          <a:blip r:embed="rId2">
            <a:alphaModFix amt="95000"/>
            <a:extLst>
              <a:ext uri="{28A0092B-C50C-407E-A947-70E740481C1C}">
                <a14:useLocalDpi xmlns:a14="http://schemas.microsoft.com/office/drawing/2010/main" val="0"/>
              </a:ext>
            </a:extLst>
          </a:blip>
          <a:stretch>
            <a:fillRect/>
          </a:stretch>
        </p:blipFill>
        <p:spPr>
          <a:xfrm>
            <a:off x="-1" y="0"/>
            <a:ext cx="18535780" cy="10287000"/>
          </a:xfrm>
          <a:prstGeom prst="rect">
            <a:avLst/>
          </a:prstGeom>
        </p:spPr>
      </p:pic>
      <p:grpSp>
        <p:nvGrpSpPr>
          <p:cNvPr id="3" name="Group 3">
            <a:extLst>
              <a:ext uri="{FF2B5EF4-FFF2-40B4-BE49-F238E27FC236}">
                <a16:creationId xmlns:a16="http://schemas.microsoft.com/office/drawing/2014/main" id="{0675565C-F8DF-C819-7C21-04BE04643B03}"/>
              </a:ext>
            </a:extLst>
          </p:cNvPr>
          <p:cNvGrpSpPr/>
          <p:nvPr/>
        </p:nvGrpSpPr>
        <p:grpSpPr>
          <a:xfrm rot="5400000">
            <a:off x="7595878" y="-8190453"/>
            <a:ext cx="3303502" cy="18640211"/>
            <a:chOff x="0" y="0"/>
            <a:chExt cx="870058" cy="4909356"/>
          </a:xfrm>
        </p:grpSpPr>
        <p:sp>
          <p:nvSpPr>
            <p:cNvPr id="4" name="Freeform 4">
              <a:extLst>
                <a:ext uri="{FF2B5EF4-FFF2-40B4-BE49-F238E27FC236}">
                  <a16:creationId xmlns:a16="http://schemas.microsoft.com/office/drawing/2014/main" id="{EF4EAD66-CE85-0461-BA66-860482F360ED}"/>
                </a:ext>
              </a:extLst>
            </p:cNvPr>
            <p:cNvSpPr/>
            <p:nvPr/>
          </p:nvSpPr>
          <p:spPr>
            <a:xfrm>
              <a:off x="0" y="0"/>
              <a:ext cx="870058" cy="4909356"/>
            </a:xfrm>
            <a:custGeom>
              <a:avLst/>
              <a:gdLst/>
              <a:ahLst/>
              <a:cxnLst/>
              <a:rect l="l" t="t" r="r" b="b"/>
              <a:pathLst>
                <a:path w="870058" h="4909356">
                  <a:moveTo>
                    <a:pt x="0" y="0"/>
                  </a:moveTo>
                  <a:lnTo>
                    <a:pt x="870058" y="0"/>
                  </a:lnTo>
                  <a:lnTo>
                    <a:pt x="870058" y="4909356"/>
                  </a:lnTo>
                  <a:lnTo>
                    <a:pt x="0" y="4909356"/>
                  </a:lnTo>
                  <a:close/>
                </a:path>
              </a:pathLst>
            </a:custGeom>
            <a:gradFill rotWithShape="1">
              <a:gsLst>
                <a:gs pos="0">
                  <a:srgbClr val="222222">
                    <a:alpha val="100000"/>
                  </a:srgbClr>
                </a:gs>
                <a:gs pos="100000">
                  <a:srgbClr val="222222">
                    <a:alpha val="0"/>
                  </a:srgbClr>
                </a:gs>
              </a:gsLst>
              <a:lin ang="0"/>
            </a:gradFill>
          </p:spPr>
          <p:txBody>
            <a:bodyPr/>
            <a:lstStyle/>
            <a:p>
              <a:endParaRPr lang="en-US"/>
            </a:p>
          </p:txBody>
        </p:sp>
        <p:sp>
          <p:nvSpPr>
            <p:cNvPr id="5" name="TextBox 5">
              <a:extLst>
                <a:ext uri="{FF2B5EF4-FFF2-40B4-BE49-F238E27FC236}">
                  <a16:creationId xmlns:a16="http://schemas.microsoft.com/office/drawing/2014/main" id="{F7599B61-8234-3044-D6CC-6521CE0DE7A7}"/>
                </a:ext>
              </a:extLst>
            </p:cNvPr>
            <p:cNvSpPr txBox="1"/>
            <p:nvPr/>
          </p:nvSpPr>
          <p:spPr>
            <a:xfrm>
              <a:off x="0" y="-57150"/>
              <a:ext cx="870058" cy="4966506"/>
            </a:xfrm>
            <a:prstGeom prst="rect">
              <a:avLst/>
            </a:prstGeom>
          </p:spPr>
          <p:txBody>
            <a:bodyPr lIns="50800" tIns="50800" rIns="50800" bIns="50800" rtlCol="0" anchor="ctr"/>
            <a:lstStyle/>
            <a:p>
              <a:pPr algn="ctr">
                <a:lnSpc>
                  <a:spcPts val="1960"/>
                </a:lnSpc>
              </a:pPr>
              <a:endParaRPr/>
            </a:p>
          </p:txBody>
        </p:sp>
      </p:grpSp>
      <p:sp>
        <p:nvSpPr>
          <p:cNvPr id="7" name="Freeform 7">
            <a:extLst>
              <a:ext uri="{FF2B5EF4-FFF2-40B4-BE49-F238E27FC236}">
                <a16:creationId xmlns:a16="http://schemas.microsoft.com/office/drawing/2014/main" id="{B2709617-4098-D02A-873A-B327740A8C22}"/>
              </a:ext>
            </a:extLst>
          </p:cNvPr>
          <p:cNvSpPr/>
          <p:nvPr/>
        </p:nvSpPr>
        <p:spPr>
          <a:xfrm>
            <a:off x="16989734" y="832883"/>
            <a:ext cx="269566" cy="179598"/>
          </a:xfrm>
          <a:custGeom>
            <a:avLst/>
            <a:gdLst/>
            <a:ahLst/>
            <a:cxnLst/>
            <a:rect l="l" t="t" r="r" b="b"/>
            <a:pathLst>
              <a:path w="269566" h="179598">
                <a:moveTo>
                  <a:pt x="0" y="0"/>
                </a:moveTo>
                <a:lnTo>
                  <a:pt x="269566" y="0"/>
                </a:lnTo>
                <a:lnTo>
                  <a:pt x="269566" y="179598"/>
                </a:lnTo>
                <a:lnTo>
                  <a:pt x="0" y="1795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a:extLst>
              <a:ext uri="{FF2B5EF4-FFF2-40B4-BE49-F238E27FC236}">
                <a16:creationId xmlns:a16="http://schemas.microsoft.com/office/drawing/2014/main" id="{5C179A68-1ED7-C57D-9412-FF754F8488EF}"/>
              </a:ext>
            </a:extLst>
          </p:cNvPr>
          <p:cNvSpPr txBox="1"/>
          <p:nvPr/>
        </p:nvSpPr>
        <p:spPr>
          <a:xfrm>
            <a:off x="2903794" y="2975012"/>
            <a:ext cx="12480412" cy="2240998"/>
          </a:xfrm>
          <a:prstGeom prst="rect">
            <a:avLst/>
          </a:prstGeom>
        </p:spPr>
        <p:txBody>
          <a:bodyPr lIns="0" tIns="0" rIns="0" bIns="0" rtlCol="0" anchor="t">
            <a:spAutoFit/>
          </a:bodyPr>
          <a:lstStyle/>
          <a:p>
            <a:pPr algn="ctr">
              <a:lnSpc>
                <a:spcPts val="21667"/>
              </a:lnSpc>
              <a:spcBef>
                <a:spcPct val="0"/>
              </a:spcBef>
            </a:pPr>
            <a:r>
              <a:rPr lang="en-US" sz="6000" dirty="0">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atin typeface="RQND Pro Wide"/>
                <a:ea typeface="RQND Pro Wide"/>
                <a:cs typeface="RQND Pro Wide"/>
                <a:sym typeface="RQND Pro Wide"/>
              </a:rPr>
              <a:t>THANK YOU</a:t>
            </a:r>
          </a:p>
        </p:txBody>
      </p:sp>
      <p:sp>
        <p:nvSpPr>
          <p:cNvPr id="13" name="TextBox 13">
            <a:extLst>
              <a:ext uri="{FF2B5EF4-FFF2-40B4-BE49-F238E27FC236}">
                <a16:creationId xmlns:a16="http://schemas.microsoft.com/office/drawing/2014/main" id="{C0387564-81F4-2D66-9F47-D0BF3C831E66}"/>
              </a:ext>
            </a:extLst>
          </p:cNvPr>
          <p:cNvSpPr txBox="1"/>
          <p:nvPr/>
        </p:nvSpPr>
        <p:spPr>
          <a:xfrm>
            <a:off x="6484843" y="758014"/>
            <a:ext cx="735245" cy="269186"/>
          </a:xfrm>
          <a:prstGeom prst="rect">
            <a:avLst/>
          </a:prstGeom>
        </p:spPr>
        <p:txBody>
          <a:bodyPr lIns="0" tIns="0" rIns="0" bIns="0" rtlCol="0" anchor="t">
            <a:spAutoFit/>
          </a:bodyPr>
          <a:lstStyle/>
          <a:p>
            <a:pPr algn="ctr">
              <a:lnSpc>
                <a:spcPts val="1960"/>
              </a:lnSpc>
              <a:spcBef>
                <a:spcPct val="0"/>
              </a:spcBef>
            </a:pPr>
            <a:r>
              <a:rPr lang="en-US" sz="1400" b="1" spc="-70" dirty="0">
                <a:solidFill>
                  <a:srgbClr val="FFFFFF"/>
                </a:solidFill>
                <a:latin typeface="Telegraf Medium"/>
                <a:ea typeface="Telegraf Medium"/>
                <a:cs typeface="Telegraf Medium"/>
                <a:sym typeface="Telegraf Medium"/>
              </a:rPr>
              <a:t>Home</a:t>
            </a:r>
          </a:p>
        </p:txBody>
      </p:sp>
      <p:sp>
        <p:nvSpPr>
          <p:cNvPr id="14" name="TextBox 14">
            <a:extLst>
              <a:ext uri="{FF2B5EF4-FFF2-40B4-BE49-F238E27FC236}">
                <a16:creationId xmlns:a16="http://schemas.microsoft.com/office/drawing/2014/main" id="{498BB361-1DE3-3B5F-E2EA-CD8CF3846C8A}"/>
              </a:ext>
            </a:extLst>
          </p:cNvPr>
          <p:cNvSpPr txBox="1"/>
          <p:nvPr/>
        </p:nvSpPr>
        <p:spPr>
          <a:xfrm>
            <a:off x="7292437" y="772734"/>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Problem</a:t>
            </a:r>
          </a:p>
        </p:txBody>
      </p:sp>
      <p:sp>
        <p:nvSpPr>
          <p:cNvPr id="20" name="TextBox 14">
            <a:extLst>
              <a:ext uri="{FF2B5EF4-FFF2-40B4-BE49-F238E27FC236}">
                <a16:creationId xmlns:a16="http://schemas.microsoft.com/office/drawing/2014/main" id="{8699D7F7-FB25-5061-280D-BE7405B14721}"/>
              </a:ext>
            </a:extLst>
          </p:cNvPr>
          <p:cNvSpPr txBox="1"/>
          <p:nvPr/>
        </p:nvSpPr>
        <p:spPr>
          <a:xfrm>
            <a:off x="8622898" y="5216010"/>
            <a:ext cx="920431" cy="260071"/>
          </a:xfrm>
          <a:prstGeom prst="rect">
            <a:avLst/>
          </a:prstGeom>
        </p:spPr>
        <p:txBody>
          <a:bodyPr lIns="0" tIns="0" rIns="0" bIns="0" rtlCol="0" anchor="t">
            <a:spAutoFit/>
          </a:bodyPr>
          <a:lstStyle/>
          <a:p>
            <a:pPr algn="ctr">
              <a:lnSpc>
                <a:spcPts val="1960"/>
              </a:lnSpc>
              <a:spcBef>
                <a:spcPct val="0"/>
              </a:spcBef>
            </a:pPr>
            <a:r>
              <a:rPr lang="en-US" sz="2000" u="sng" spc="-70" dirty="0">
                <a:solidFill>
                  <a:schemeClr val="bg1"/>
                </a:solidFill>
                <a:latin typeface="Telegraf"/>
                <a:ea typeface="Telegraf"/>
                <a:cs typeface="Telegraf"/>
                <a:sym typeface="Telegraf"/>
              </a:rPr>
              <a:t>EXIT</a:t>
            </a:r>
          </a:p>
        </p:txBody>
      </p:sp>
      <p:sp>
        <p:nvSpPr>
          <p:cNvPr id="2" name="TextBox 14">
            <a:extLst>
              <a:ext uri="{FF2B5EF4-FFF2-40B4-BE49-F238E27FC236}">
                <a16:creationId xmlns:a16="http://schemas.microsoft.com/office/drawing/2014/main" id="{8C736DDB-764B-0D01-DF1F-C40E7B01560F}"/>
              </a:ext>
            </a:extLst>
          </p:cNvPr>
          <p:cNvSpPr txBox="1"/>
          <p:nvPr/>
        </p:nvSpPr>
        <p:spPr>
          <a:xfrm>
            <a:off x="8373822" y="772734"/>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CTI</a:t>
            </a:r>
          </a:p>
        </p:txBody>
      </p:sp>
      <p:sp>
        <p:nvSpPr>
          <p:cNvPr id="6" name="TextBox 14">
            <a:extLst>
              <a:ext uri="{FF2B5EF4-FFF2-40B4-BE49-F238E27FC236}">
                <a16:creationId xmlns:a16="http://schemas.microsoft.com/office/drawing/2014/main" id="{A3CD9808-3468-4FE8-DC22-EBB103B9644B}"/>
              </a:ext>
            </a:extLst>
          </p:cNvPr>
          <p:cNvSpPr txBox="1"/>
          <p:nvPr/>
        </p:nvSpPr>
        <p:spPr>
          <a:xfrm>
            <a:off x="9451086" y="772735"/>
            <a:ext cx="1343713" cy="239746"/>
          </a:xfrm>
          <a:prstGeom prst="rect">
            <a:avLst/>
          </a:prstGeom>
        </p:spPr>
        <p:txBody>
          <a:bodyPr wrap="square" lIns="0" tIns="0" rIns="0" bIns="0" rtlCol="0" anchor="t">
            <a:spAutoFit/>
          </a:bodyPr>
          <a:lstStyle/>
          <a:p>
            <a:pPr algn="ctr">
              <a:lnSpc>
                <a:spcPts val="1960"/>
              </a:lnSpc>
              <a:spcBef>
                <a:spcPct val="0"/>
              </a:spcBef>
            </a:pPr>
            <a:r>
              <a:rPr lang="en-US" sz="1400" spc="-70" dirty="0">
                <a:solidFill>
                  <a:srgbClr val="FFFFFF"/>
                </a:solidFill>
                <a:latin typeface="Telegraf"/>
                <a:ea typeface="Telegraf"/>
                <a:cs typeface="Telegraf"/>
                <a:sym typeface="Telegraf"/>
              </a:rPr>
              <a:t>The Solution</a:t>
            </a:r>
          </a:p>
        </p:txBody>
      </p:sp>
    </p:spTree>
    <p:extLst>
      <p:ext uri="{BB962C8B-B14F-4D97-AF65-F5344CB8AC3E}">
        <p14:creationId xmlns:p14="http://schemas.microsoft.com/office/powerpoint/2010/main" val="860842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TotalTime>
  <Words>1291</Words>
  <Application>Microsoft Office PowerPoint</Application>
  <PresentationFormat>Custom</PresentationFormat>
  <Paragraphs>255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RQND Pro Wide</vt:lpstr>
      <vt:lpstr>Work Sans</vt:lpstr>
      <vt:lpstr>Arial</vt:lpstr>
      <vt:lpstr>Calibri</vt:lpstr>
      <vt:lpstr>Telegraf</vt:lpstr>
      <vt:lpstr>Telegraf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Blue Futuristic Universe Presentation</dc:title>
  <cp:lastModifiedBy>Crystallie .</cp:lastModifiedBy>
  <cp:revision>51</cp:revision>
  <dcterms:created xsi:type="dcterms:W3CDTF">2006-08-16T00:00:00Z</dcterms:created>
  <dcterms:modified xsi:type="dcterms:W3CDTF">2026-09-16T08:48:46Z</dcterms:modified>
  <dc:identifier>DAHJd8ZBUS4</dc:identifier>
</cp:coreProperties>
</file>